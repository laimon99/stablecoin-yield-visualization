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23742c9afa4365" /><Relationship Type="http://schemas.openxmlformats.org/officeDocument/2006/relationships/extended-properties" Target="/docProps/app.xml" Id="Rcef1d7302bcf4cc4" /><Relationship Type="http://schemas.openxmlformats.org/officeDocument/2006/relationships/officeDocument" Target="/ppt/presentation.xml" Id="Rf55bb542647f47dc" /></Relationships>
</file>

<file path=ppt/presentation.xml><?xml version="1.0" encoding="utf-8"?>
<p:presentation xmlns:p="http://schemas.openxmlformats.org/presentationml/2006/main">
  <p:sldMasterIdLst>
    <p:sldMasterId xmlns:r="http://schemas.openxmlformats.org/officeDocument/2006/relationships" id="2147483648" r:id="Redf4c4ec46f849b8"/>
  </p:sldMasterIdLst>
  <p:notesMasterIdLst>
    <p:notesMasterId xmlns:r="http://schemas.openxmlformats.org/officeDocument/2006/relationships" r:id="R6ee6f32ebbb24e16"/>
  </p:notesMasterIdLst>
  <p:sldIdLst>
    <p:sldId xmlns:r="http://schemas.openxmlformats.org/officeDocument/2006/relationships" id="256" r:id="R1af9166239f2440f"/>
    <p:sldId xmlns:r="http://schemas.openxmlformats.org/officeDocument/2006/relationships" id="257" r:id="R1d27d63ad16841ae"/>
    <p:sldId xmlns:r="http://schemas.openxmlformats.org/officeDocument/2006/relationships" id="258" r:id="R3d74ab45b132485f"/>
    <p:sldId xmlns:r="http://schemas.openxmlformats.org/officeDocument/2006/relationships" id="259" r:id="R7d3d5254be83421f"/>
    <p:sldId xmlns:r="http://schemas.openxmlformats.org/officeDocument/2006/relationships" id="260" r:id="R7c295bd6bd4948fb"/>
    <p:sldId xmlns:r="http://schemas.openxmlformats.org/officeDocument/2006/relationships" id="261" r:id="R86d9af62675c4d91"/>
    <p:sldId xmlns:r="http://schemas.openxmlformats.org/officeDocument/2006/relationships" id="262" r:id="R6a05b4497e1f4930"/>
    <p:sldId xmlns:r="http://schemas.openxmlformats.org/officeDocument/2006/relationships" id="263" r:id="Rbdc7cc6a49874832"/>
    <p:sldId xmlns:r="http://schemas.openxmlformats.org/officeDocument/2006/relationships" id="264" r:id="Rd0c0c047548c45e2"/>
    <p:sldId xmlns:r="http://schemas.openxmlformats.org/officeDocument/2006/relationships" id="265" r:id="Rf5e84a83d9854bb2"/>
    <p:sldId xmlns:r="http://schemas.openxmlformats.org/officeDocument/2006/relationships" id="266" r:id="Rf1bf7d00632f4051"/>
    <p:sldId xmlns:r="http://schemas.openxmlformats.org/officeDocument/2006/relationships" id="267" r:id="R4a68da4d863b4f11"/>
    <p:sldId xmlns:r="http://schemas.openxmlformats.org/officeDocument/2006/relationships" id="268" r:id="R251e579fb0834e38"/>
    <p:sldId xmlns:r="http://schemas.openxmlformats.org/officeDocument/2006/relationships" id="269" r:id="R0c61b110d3df4a5a"/>
    <p:sldId xmlns:r="http://schemas.openxmlformats.org/officeDocument/2006/relationships" id="270" r:id="Re2ebd8cac10a43de"/>
    <p:sldId xmlns:r="http://schemas.openxmlformats.org/officeDocument/2006/relationships" id="271" r:id="R122fc819f9b248dc"/>
    <p:sldId xmlns:r="http://schemas.openxmlformats.org/officeDocument/2006/relationships" id="272" r:id="Re653e1d4124047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fe764eedbd4433" /><Relationship Type="http://schemas.openxmlformats.org/officeDocument/2006/relationships/slideMaster" Target="/ppt/slideMasters/slideMaster1.xml" Id="Redf4c4ec46f849b8" /><Relationship Type="http://schemas.openxmlformats.org/officeDocument/2006/relationships/notesMaster" Target="/ppt/notesMasters/notesMaster1.xml" Id="R6ee6f32ebbb24e16" /><Relationship Type="http://schemas.openxmlformats.org/officeDocument/2006/relationships/presProps" Target="/ppt/presProps.xml" Id="R833c8428cb204ec9" /><Relationship Type="http://schemas.openxmlformats.org/officeDocument/2006/relationships/tableStyles" Target="/ppt/tableStyles.xml" Id="R7e55cf1462d4427d" /><Relationship Type="http://schemas.openxmlformats.org/officeDocument/2006/relationships/slide" Target="/ppt/slides/slide1.xml" Id="R1af9166239f2440f" /><Relationship Type="http://schemas.openxmlformats.org/officeDocument/2006/relationships/slide" Target="/ppt/slides/slide2.xml" Id="R1d27d63ad16841ae" /><Relationship Type="http://schemas.openxmlformats.org/officeDocument/2006/relationships/slide" Target="/ppt/slides/slide3.xml" Id="R3d74ab45b132485f" /><Relationship Type="http://schemas.openxmlformats.org/officeDocument/2006/relationships/slide" Target="/ppt/slides/slide4.xml" Id="R7d3d5254be83421f" /><Relationship Type="http://schemas.openxmlformats.org/officeDocument/2006/relationships/slide" Target="/ppt/slides/slide5.xml" Id="R7c295bd6bd4948fb" /><Relationship Type="http://schemas.openxmlformats.org/officeDocument/2006/relationships/slide" Target="/ppt/slides/slide6.xml" Id="R86d9af62675c4d91" /><Relationship Type="http://schemas.openxmlformats.org/officeDocument/2006/relationships/slide" Target="/ppt/slides/slide7.xml" Id="R6a05b4497e1f4930" /><Relationship Type="http://schemas.openxmlformats.org/officeDocument/2006/relationships/slide" Target="/ppt/slides/slide8.xml" Id="Rbdc7cc6a49874832" /><Relationship Type="http://schemas.openxmlformats.org/officeDocument/2006/relationships/slide" Target="/ppt/slides/slide9.xml" Id="Rd0c0c047548c45e2" /><Relationship Type="http://schemas.openxmlformats.org/officeDocument/2006/relationships/slide" Target="/ppt/slides/slide10.xml" Id="Rf5e84a83d9854bb2" /><Relationship Type="http://schemas.openxmlformats.org/officeDocument/2006/relationships/slide" Target="/ppt/slides/slide11.xml" Id="Rf1bf7d00632f4051" /><Relationship Type="http://schemas.openxmlformats.org/officeDocument/2006/relationships/slide" Target="/ppt/slides/slide12.xml" Id="R4a68da4d863b4f11" /><Relationship Type="http://schemas.openxmlformats.org/officeDocument/2006/relationships/slide" Target="/ppt/slides/slide13.xml" Id="R251e579fb0834e38" /><Relationship Type="http://schemas.openxmlformats.org/officeDocument/2006/relationships/slide" Target="/ppt/slides/slide14.xml" Id="R0c61b110d3df4a5a" /><Relationship Type="http://schemas.openxmlformats.org/officeDocument/2006/relationships/slide" Target="/ppt/slides/slide15.xml" Id="Re2ebd8cac10a43de" /><Relationship Type="http://schemas.openxmlformats.org/officeDocument/2006/relationships/slide" Target="/ppt/slides/slide16.xml" Id="R122fc819f9b248dc" /><Relationship Type="http://schemas.openxmlformats.org/officeDocument/2006/relationships/slide" Target="/ppt/slides/slide17.xml" Id="Re653e1d4124047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1c8d57454b642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c3678abee44188" /><Relationship Type="http://schemas.openxmlformats.org/officeDocument/2006/relationships/notesMaster" Target="/ppt/notesMasters/notesMaster1.xml" Id="R2d6bd4e018b740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84ca5fa44a491a" /><Relationship Type="http://schemas.openxmlformats.org/officeDocument/2006/relationships/notesMaster" Target="/ppt/notesMasters/notesMaster1.xml" Id="R66c570b2161b4d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68bd1354234557" /><Relationship Type="http://schemas.openxmlformats.org/officeDocument/2006/relationships/notesMaster" Target="/ppt/notesMasters/notesMaster1.xml" Id="R67819997f2534e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e1455809b74778" /><Relationship Type="http://schemas.openxmlformats.org/officeDocument/2006/relationships/notesMaster" Target="/ppt/notesMasters/notesMaster1.xml" Id="R900f2e0545be46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228419c912452a" /><Relationship Type="http://schemas.openxmlformats.org/officeDocument/2006/relationships/notesMaster" Target="/ppt/notesMasters/notesMaster1.xml" Id="R66676e1ce1fa45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33585bd12f749b4" /><Relationship Type="http://schemas.openxmlformats.org/officeDocument/2006/relationships/notesMaster" Target="/ppt/notesMasters/notesMaster1.xml" Id="R13ee0ff5edd847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2e33db4e6d24bc5" /><Relationship Type="http://schemas.openxmlformats.org/officeDocument/2006/relationships/notesMaster" Target="/ppt/notesMasters/notesMaster1.xml" Id="Reaac9d9299e54c6e"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6f6944b7064509" /><Relationship Type="http://schemas.openxmlformats.org/officeDocument/2006/relationships/notesMaster" Target="/ppt/notesMasters/notesMaster1.xml" Id="R27dbc1b19aab4c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e016087d2347a0" /><Relationship Type="http://schemas.openxmlformats.org/officeDocument/2006/relationships/notesMaster" Target="/ppt/notesMasters/notesMaster1.xml" Id="R48a4f318258b41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3ef0955b82d4214" /><Relationship Type="http://schemas.openxmlformats.org/officeDocument/2006/relationships/notesMaster" Target="/ppt/notesMasters/notesMaster1.xml" Id="Rb0b5d4a5237c482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d58d33ecf3741d7" /><Relationship Type="http://schemas.openxmlformats.org/officeDocument/2006/relationships/notesMaster" Target="/ppt/notesMasters/notesMaster1.xml" Id="R79316a3c3eb34a2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f4a17fb6cf40aa" /><Relationship Type="http://schemas.openxmlformats.org/officeDocument/2006/relationships/notesMaster" Target="/ppt/notesMasters/notesMaster1.xml" Id="R710a897a94b64d6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55b4007d6604454" /><Relationship Type="http://schemas.openxmlformats.org/officeDocument/2006/relationships/notesMaster" Target="/ppt/notesMasters/notesMaster1.xml" Id="R6ce0a4a10cd0484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3a1deb110b74d27" /><Relationship Type="http://schemas.openxmlformats.org/officeDocument/2006/relationships/notesMaster" Target="/ppt/notesMasters/notesMaster1.xml" Id="R32e19402ef844c2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1b3b08da1ea4bce" /><Relationship Type="http://schemas.openxmlformats.org/officeDocument/2006/relationships/notesMaster" Target="/ppt/notesMasters/notesMaster1.xml" Id="R4fef488bbe1b4d7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5e3695591d44ace" /><Relationship Type="http://schemas.openxmlformats.org/officeDocument/2006/relationships/notesMaster" Target="/ppt/notesMasters/notesMaster1.xml" Id="Re9ac642e765f4d8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a6cdc3e74484fe0" /><Relationship Type="http://schemas.openxmlformats.org/officeDocument/2006/relationships/notesMaster" Target="/ppt/notesMasters/notesMaster1.xml" Id="R3c66e2385a6944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precise scope: persistence, mechanisms and observed TVL response. State that this is not a protocol-risk model or a recommendation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five research questions and the decision to use pool-day as the analytical grain.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eligibility rules: stablecoin flag, at least USD 1 million TVL and 180 history observations. The 250-pool cap combines 70 percent highest TVL with the remaining capacity highest APY.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High-yield and ranking definitions are unchanged. APY jumps require consecutive calendar dates, APY change &gt;= 5 percentage points and APY &gt;= 10%. Select the first three qualifying dates per pool. 450 corrected events from 174 pools. Joint-screen comparisons are inclusive (&gt;=) on unrounded pool metrics. Source: scripts/refine_submission.py, outputs/refinement/report_summary.json.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p99 display cap and preserved extreme-value flags to justify robust summaries without deleting source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Kaplan-Meier survival and right censoring. Report 2,668 episodes, median 2 days, p90 16 days and 1.2 percent censored.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churn as one minus top-k retention. The heatmap cells are separate top-10 and top-20 date means. The text summary pools all valid observed-date/top-k comparisons, so it is weighted by their counts: 2,669 at 1 day, 2,657 at 7 days and 2,612 at 30 days.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Component medians exclude nulls and use available pool-days within each analytical type. Zero reward medians are observed values, not imputation. Coverage and counts by category: outputs/refinement/mechanism_coverage.csv. Separate component medians do not sum to total-APY median. Category composition is descriptive.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Corrected consecutive-calendar-day trigger. 450 events at day 0, 439 at day 30. The first three valid events per pool can overlap. Endpoint sensitivity retains 439 identical events with valid APY and TVL at days 0 and 30: 17.96% to 8.24%, median TVL ratio 1.692. No causal interpretation or independent-event inference. Sources: outputs/refinement/apy_tvl_event_response.csv, refinement_audit.json and scripts/refine_submission.py. Original historical deck used successive-observation changes and 453 events; 10 nonconsecutive selections are excluded, and later valid events can enter under the cap.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 the selected reviewed event, the 10-pool exposure window and the descriptive APY change. Do not generalize one event into a causal risk estimate.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thresholds are inclusive. TVL threshold is USD 17,736,233. Bubble areas are proportional to median TVL up to the sample 95th percentile, with identical size mapping in both color groups. Numerical bubble key uses USD millions. Sources: outputs/refinement/report_summary.json, joint_screen section.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that episode counts change with the threshold but the median duration does not. Mention all five robustness families materialized by the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 the unmeasured dimensions: smart-contract, counterparty, bridge, chain, oracle, liquidity and collateral quality. This boundary is why the project avoids recommendations.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lifelines 95% log-log pointwise CI assumes independent episodes. Additional 95% percentile bootstrap resamples all 250 pools with replacement, preserving each selected pool's entire episode set. 2,000 replicates, numpy default_rng seed 945119. S(30)=6.2247%, pool-bootstrap CI 4.7611%-7.8564%. This conditions on the observed sample and episode definition. 70 episodes start at the pool's panel entry, and 56 end before gaps exceeding two calendar days. These bounds are descriptive, not an estimator of latent economic duration. Code and aggregate audit: scripts/refine_submission.py and outputs/refinement/refinement_audit.json.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PDF includes the actual Plotly heatmap on page 7 and Matplotlib plots on pages 6, 9 and 10. No live demonstration is needed. The two distinct visualization libraries are Matplotlib and Plotly; Seaborn is documented as supporting Matplotlib, not counted as an independent rendering system. Matplotlib code: src/stablecoin_yield/visualization/figures.py. Plotly code: scripts/reproduce_published.py. Presentation charts are assembled separately by @oai/artifact-tool. Versions are locked in uv.lock and recorded in outputs/revision/published_evidence_audit.json. Repository: https://github.com/Laimon99/stablecoin-yield-visualization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repository: https://github.com/Laimon99/stablecoin-yield-visualization . The refined static charts and event headline checks use scripts/refine_submission.py and outputs/refinement aggregates. --refresh-local recomputes the corrected event selection, paired endpoint sensitivity and whole-pool bootstrap from the private historical panel. Plain offline reconstruction does not independently reproduce raw-to-aggregate computations or the bootstrap. uv.lock pins dependencies. Optional layout requires Artifact Tool and PowerPoint export. Code: MIT. Original presentation: CC BY 4.0. Provider data excluded; see NOTICE.md.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one-sentence defense, reproducibility and the no-financial-advice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b9856272444b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84fed1d9c14617" /><Relationship Type="http://schemas.openxmlformats.org/officeDocument/2006/relationships/slideLayout" Target="/ppt/slideLayouts/slideLayout1.xml" Id="R4c8118daad854b5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8118daad854b5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ae9caec7f640dc" /><Relationship Type="http://schemas.openxmlformats.org/officeDocument/2006/relationships/notesSlide" Target="/ppt/notesSlides/notesSlide1.xml" Id="R1e7143e410704a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f38508d085d4e6c" /><Relationship Type="http://schemas.openxmlformats.org/officeDocument/2006/relationships/notesSlide" Target="/ppt/notesSlides/notesSlide2.xml" Id="Rdc0013e586ce43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737ab448e7475e" /><Relationship Type="http://schemas.openxmlformats.org/officeDocument/2006/relationships/image" Target="/ppt/media/image.png" Id="Re8ec708b29664aa2" /><Relationship Type="http://schemas.openxmlformats.org/officeDocument/2006/relationships/notesSlide" Target="/ppt/notesSlides/notesSlide3.xml" Id="Ree17bba3ca7e494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0815d4796184dd8" /><Relationship Type="http://schemas.openxmlformats.org/officeDocument/2006/relationships/notesSlide" Target="/ppt/notesSlides/notesSlide4.xml" Id="Reaa439c3876d4a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7e3ea2e5f2749be" /><Relationship Type="http://schemas.openxmlformats.org/officeDocument/2006/relationships/image" Target="/ppt/media/image2.png" Id="R59b2d4c7076640b0" /><Relationship Type="http://schemas.openxmlformats.org/officeDocument/2006/relationships/notesSlide" Target="/ppt/notesSlides/notesSlide5.xml" Id="R2ff0664d43934c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6d44f344e1f42b7" /><Relationship Type="http://schemas.openxmlformats.org/officeDocument/2006/relationships/image" Target="/ppt/media/image3.png" Id="Rd6eed69663be4e99" /><Relationship Type="http://schemas.openxmlformats.org/officeDocument/2006/relationships/notesSlide" Target="/ppt/notesSlides/notesSlide6.xml" Id="Re9b07aae5d55462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bb05cae76254ede" /><Relationship Type="http://schemas.openxmlformats.org/officeDocument/2006/relationships/image" Target="/ppt/media/image4.png" Id="Rfc289a1836da44a3" /><Relationship Type="http://schemas.openxmlformats.org/officeDocument/2006/relationships/notesSlide" Target="/ppt/notesSlides/notesSlide7.xml" Id="Rb875d5e66c3049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e7c6e4dd8294a32" /><Relationship Type="http://schemas.openxmlformats.org/officeDocument/2006/relationships/image" Target="/ppt/media/image5.png" Id="R9ce63e85a7c3421c" /><Relationship Type="http://schemas.openxmlformats.org/officeDocument/2006/relationships/notesSlide" Target="/ppt/notesSlides/notesSlide8.xml" Id="Rc54ff389c26940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ef6859a13834301" /><Relationship Type="http://schemas.openxmlformats.org/officeDocument/2006/relationships/image" Target="/ppt/media/image6.png" Id="R4ea410f4956a49bc" /><Relationship Type="http://schemas.openxmlformats.org/officeDocument/2006/relationships/image" Target="/ppt/media/image7.png" Id="Re2a49f7ec98d452d" /><Relationship Type="http://schemas.openxmlformats.org/officeDocument/2006/relationships/notesSlide" Target="/ppt/notesSlides/notesSlide9.xml" Id="R7e0216725a474f1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de3ff85585b401f" /><Relationship Type="http://schemas.openxmlformats.org/officeDocument/2006/relationships/image" Target="/ppt/media/image8.png" Id="Rce78693807524eb5" /><Relationship Type="http://schemas.openxmlformats.org/officeDocument/2006/relationships/image" Target="/ppt/media/image9.png" Id="Re605f476776e40f5" /><Relationship Type="http://schemas.openxmlformats.org/officeDocument/2006/relationships/notesSlide" Target="/ppt/notesSlides/notesSlide10.xml" Id="Rb8227bd68cad4ee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b4881f1925c4201" /><Relationship Type="http://schemas.openxmlformats.org/officeDocument/2006/relationships/image" Target="/ppt/media/image10.png" Id="R2b23bbc7bfd244dc" /><Relationship Type="http://schemas.openxmlformats.org/officeDocument/2006/relationships/notesSlide" Target="/ppt/notesSlides/notesSlide11.xml" Id="R878b395fd9da48a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039e215002d4103" /><Relationship Type="http://schemas.openxmlformats.org/officeDocument/2006/relationships/image" Target="/ppt/media/image11.png" Id="R38f2d00b65204192" /><Relationship Type="http://schemas.openxmlformats.org/officeDocument/2006/relationships/notesSlide" Target="/ppt/notesSlides/notesSlide12.xml" Id="R1adebec0b5604bd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d9463a34d404bb6" /><Relationship Type="http://schemas.openxmlformats.org/officeDocument/2006/relationships/notesSlide" Target="/ppt/notesSlides/notesSlide13.xml" Id="Ra76e116f36d04e1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5feffcc9c774381" /><Relationship Type="http://schemas.openxmlformats.org/officeDocument/2006/relationships/notesSlide" Target="/ppt/notesSlides/notesSlide14.xml" Id="R5bf5021b4482497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c8f5d25dc6b4671" /><Relationship Type="http://schemas.openxmlformats.org/officeDocument/2006/relationships/notesSlide" Target="/ppt/notesSlides/notesSlide15.xml" Id="R024747e0be224aa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e5e9e08c95e4612" /><Relationship Type="http://schemas.openxmlformats.org/officeDocument/2006/relationships/hyperlink" Target="https://github.com/Laimon99/stablecoin-yield-visualization" TargetMode="External" Id="R394171e4855243fe" /><Relationship Type="http://schemas.openxmlformats.org/officeDocument/2006/relationships/notesSlide" Target="/ppt/notesSlides/notesSlide16.xml" Id="Rd0abd5fe65a547f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100cf89cddb4e97" /><Relationship Type="http://schemas.openxmlformats.org/officeDocument/2006/relationships/notesSlide" Target="/ppt/notesSlides/notesSlide17.xml" Id="R1c77faf09367497a" /></Relationships>
</file>

<file path=ppt/slides/slide1.xml><?xml version="1.0" encoding="utf-8"?>
<p:sld xmlns:p="http://schemas.openxmlformats.org/presentationml/2006/main">
  <p:cSld>
    <p:bg>
      <p:bgPr>
        <a:gradFill xmlns:a="http://schemas.openxmlformats.org/drawingml/2006/main">
          <a:gsLst>
            <a:gs pos="0">
              <a:srgbClr val="091127"/>
            </a:gs>
            <a:gs pos="58000">
              <a:srgbClr val="172B66"/>
            </a:gs>
            <a:gs pos="100000">
              <a:srgbClr val="5B3CC4"/>
            </a:gs>
          </a:gsLst>
          <a:lin ang="8100000"/>
        </a:gra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0204F36-9DD8-415D-9D27-46B2CCB1714D}"/>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oundRect">
            <a:avLst>
              <a:gd name="adj" fmla="val 0"/>
            </a:avLst>
          </a:prstGeom>
          <a:gradFill xmlns:a="http://schemas.openxmlformats.org/drawingml/2006/main">
            <a:gsLst>
              <a:gs pos="0">
                <a:srgbClr val="23C9D8"/>
              </a:gs>
              <a:gs pos="48000">
                <a:srgbClr val="4F7CFF"/>
              </a:gs>
              <a:gs pos="100000">
                <a:srgbClr val="FF6B9D"/>
              </a:gs>
            </a:gsLst>
            <a:lin ang="0"/>
          </a:gradFill>
          <a:ln xmlns:a="http://schemas.openxmlformats.org/drawingml/2006/main" w="0">
            <a:gradFill>
              <a:gsLst>
                <a:gs pos="0">
                  <a:srgbClr val="23C9D8"/>
                </a:gs>
                <a:gs pos="48000">
                  <a:srgbClr val="4F7CFF"/>
                </a:gs>
                <a:gs pos="100000">
                  <a:srgbClr val="FF6B9D"/>
                </a:gs>
              </a:gsLst>
              <a:lin ang="0"/>
            </a:gradFill>
            <a:prstDash val="solid"/>
          </a:ln>
        </p:spPr>
      </p:sp>
      <p:sp>
        <p:nvSpPr>
          <p:cNvPr id="2" name="">
            <a:extLst xmlns:a="http://schemas.openxmlformats.org/drawingml/2006/main">
              <a:ext uri="{FF2B5EF4-FFF2-40B4-BE49-F238E27FC236}">
                <a16:creationId xmlns:a16="http://schemas.microsoft.com/office/drawing/2014/main" id="{659F6684-1563-4E46-A047-6A424ED9FD3A}"/>
              </a:ext>
            </a:extLst>
          </p:cNvPr>
          <p:cNvSpPr>
            <a:spLocks xmlns:a="http://schemas.openxmlformats.org/drawingml/2006/main" noGrp="1"/>
          </p:cNvSpPr>
          <p:nvPr/>
        </p:nvSpPr>
        <p:spPr>
          <a:xfrm xmlns:a="http://schemas.openxmlformats.org/drawingml/2006/main">
            <a:off x="514350" y="457200"/>
            <a:ext cx="2800350" cy="361950"/>
          </a:xfrm>
          <a:prstGeom xmlns:a="http://schemas.openxmlformats.org/drawingml/2006/main" prst="roundRect">
            <a:avLst>
              <a:gd name="adj" fmla="val 50000"/>
            </a:avLst>
          </a:prstGeom>
          <a:solidFill xmlns:a="http://schemas.openxmlformats.org/drawingml/2006/main">
            <a:srgbClr val="FFFFFF">
              <a:alpha val="12000"/>
            </a:srgbClr>
          </a:solidFill>
          <a:ln xmlns:a="http://schemas.openxmlformats.org/drawingml/2006/main" w="9525">
            <a:solidFill>
              <a:srgbClr val="23C9D8">
                <a:alpha val="22000"/>
              </a:srgbClr>
            </a:solidFill>
            <a:prstDash val="solid"/>
          </a:ln>
        </p:spPr>
      </p:sp>
      <p:sp>
        <p:nvSpPr>
          <p:cNvPr id="3" name="">
            <a:extLst xmlns:a="http://schemas.openxmlformats.org/drawingml/2006/main">
              <a:ext uri="{FF2B5EF4-FFF2-40B4-BE49-F238E27FC236}">
                <a16:creationId xmlns:a16="http://schemas.microsoft.com/office/drawing/2014/main" id="{7569776F-4210-4195-8049-3070A147E2E5}"/>
              </a:ext>
            </a:extLst>
          </p:cNvPr>
          <p:cNvSpPr>
            <a:spLocks xmlns:a="http://schemas.openxmlformats.org/drawingml/2006/main" noGrp="1"/>
          </p:cNvSpPr>
          <p:nvPr/>
        </p:nvSpPr>
        <p:spPr>
          <a:xfrm xmlns:a="http://schemas.openxmlformats.org/drawingml/2006/main">
            <a:off x="628650" y="46672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DATA VISUALIZATION / DEFI</a:t>
            </a:r>
          </a:p>
        </p:txBody>
      </p:sp>
      <p:sp>
        <p:nvSpPr>
          <p:cNvPr id="4" name="cover-title">
            <a:extLst xmlns:a="http://schemas.openxmlformats.org/drawingml/2006/main">
              <a:ext uri="{FF2B5EF4-FFF2-40B4-BE49-F238E27FC236}">
                <a16:creationId xmlns:a16="http://schemas.microsoft.com/office/drawing/2014/main" id="{A5E78BD1-154B-4A33-9F62-9816F1C22397}"/>
              </a:ext>
            </a:extLst>
          </p:cNvPr>
          <p:cNvSpPr>
            <a:spLocks xmlns:a="http://schemas.openxmlformats.org/drawingml/2006/main" noGrp="1"/>
          </p:cNvSpPr>
          <p:nvPr/>
        </p:nvSpPr>
        <p:spPr>
          <a:xfrm xmlns:a="http://schemas.openxmlformats.org/drawingml/2006/main">
            <a:off x="514350" y="1200150"/>
            <a:ext cx="6286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5400" b="1">
                <a:solidFill>
                  <a:srgbClr val="FFFFFF"/>
                </a:solidFill>
                <a:latin typeface="Aptos"/>
                <a:ea typeface="Aptos"/>
                <a:cs typeface="Aptos"/>
              </a:defRPr>
            </a:pPr>
            <a:r>
              <a:rPr sz="5400" b="1">
                <a:solidFill>
                  <a:srgbClr val="FFFFFF"/>
                </a:solidFill>
                <a:latin typeface="Aptos"/>
                <a:ea typeface="Aptos"/>
                <a:cs typeface="Aptos"/>
              </a:rPr>
              <a:t>Stablecoin Yield</a:t>
            </a:r>
          </a:p>
        </p:txBody>
      </p:sp>
      <p:sp>
        <p:nvSpPr>
          <p:cNvPr id="5" name="">
            <a:extLst xmlns:a="http://schemas.openxmlformats.org/drawingml/2006/main">
              <a:ext uri="{FF2B5EF4-FFF2-40B4-BE49-F238E27FC236}">
                <a16:creationId xmlns:a16="http://schemas.microsoft.com/office/drawing/2014/main" id="{5D9795E8-F62C-4192-BD3B-EF212FC074AF}"/>
              </a:ext>
            </a:extLst>
          </p:cNvPr>
          <p:cNvSpPr>
            <a:spLocks xmlns:a="http://schemas.openxmlformats.org/drawingml/2006/main" noGrp="1"/>
          </p:cNvSpPr>
          <p:nvPr/>
        </p:nvSpPr>
        <p:spPr>
          <a:xfrm xmlns:a="http://schemas.openxmlformats.org/drawingml/2006/main">
            <a:off x="533400" y="2190750"/>
            <a:ext cx="60483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0">
                <a:solidFill>
                  <a:srgbClr val="DDE6FF"/>
                </a:solidFill>
                <a:latin typeface="Aptos"/>
                <a:ea typeface="Aptos"/>
                <a:cs typeface="Aptos"/>
              </a:defRPr>
            </a:pPr>
            <a:r>
              <a:rPr sz="2100" b="0">
                <a:solidFill>
                  <a:srgbClr val="DDE6FF"/>
                </a:solidFill>
                <a:latin typeface="Aptos"/>
                <a:ea typeface="Aptos"/>
                <a:cs typeface="Aptos"/>
              </a:rPr>
              <a:t>The price of yield: persistence, mechanisms and TVL response in stablecoin DeFi</a:t>
            </a:r>
          </a:p>
        </p:txBody>
      </p:sp>
      <p:sp>
        <p:nvSpPr>
          <p:cNvPr id="6" name="">
            <a:extLst xmlns:a="http://schemas.openxmlformats.org/drawingml/2006/main">
              <a:ext uri="{FF2B5EF4-FFF2-40B4-BE49-F238E27FC236}">
                <a16:creationId xmlns:a16="http://schemas.microsoft.com/office/drawing/2014/main" id="{169F604C-F331-4C6D-808C-9E4059D98B25}"/>
              </a:ext>
            </a:extLst>
          </p:cNvPr>
          <p:cNvSpPr>
            <a:spLocks xmlns:a="http://schemas.openxmlformats.org/drawingml/2006/main" noGrp="1"/>
          </p:cNvSpPr>
          <p:nvPr/>
        </p:nvSpPr>
        <p:spPr>
          <a:xfrm xmlns:a="http://schemas.openxmlformats.org/drawingml/2006/main">
            <a:off x="514350" y="3257550"/>
            <a:ext cx="5905500" cy="1104900"/>
          </a:xfrm>
          <a:prstGeom xmlns:a="http://schemas.openxmlformats.org/drawingml/2006/main" prst="roundRect">
            <a:avLst>
              <a:gd name="adj" fmla="val 22414"/>
            </a:avLst>
          </a:prstGeom>
          <a:solidFill xmlns:a="http://schemas.openxmlformats.org/drawingml/2006/main">
            <a:srgbClr val="FFFFFF">
              <a:alpha val="10000"/>
            </a:srgbClr>
          </a:solidFill>
          <a:ln xmlns:a="http://schemas.openxmlformats.org/drawingml/2006/main" w="9525">
            <a:solidFill>
              <a:srgbClr val="FFFFFF">
                <a:alpha val="16000"/>
              </a:srgbClr>
            </a:solidFill>
            <a:prstDash val="solid"/>
          </a:ln>
        </p:spPr>
      </p:sp>
      <p:sp>
        <p:nvSpPr>
          <p:cNvPr id="7" name="">
            <a:extLst xmlns:a="http://schemas.openxmlformats.org/drawingml/2006/main">
              <a:ext uri="{FF2B5EF4-FFF2-40B4-BE49-F238E27FC236}">
                <a16:creationId xmlns:a16="http://schemas.microsoft.com/office/drawing/2014/main" id="{B83FCB39-A4E0-43CC-A27B-DD27ACBF2943}"/>
              </a:ext>
            </a:extLst>
          </p:cNvPr>
          <p:cNvSpPr>
            <a:spLocks xmlns:a="http://schemas.openxmlformats.org/drawingml/2006/main" noGrp="1"/>
          </p:cNvSpPr>
          <p:nvPr/>
        </p:nvSpPr>
        <p:spPr>
          <a:xfrm xmlns:a="http://schemas.openxmlformats.org/drawingml/2006/main">
            <a:off x="781050" y="34861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3C9D8"/>
                </a:solidFill>
                <a:latin typeface="Aptos"/>
                <a:ea typeface="Aptos"/>
                <a:cs typeface="Aptos"/>
              </a:defRPr>
            </a:pPr>
            <a:r>
              <a:rPr sz="1050" b="1">
                <a:solidFill>
                  <a:srgbClr val="23C9D8"/>
                </a:solidFill>
                <a:latin typeface="Aptos"/>
                <a:ea typeface="Aptos"/>
                <a:cs typeface="Aptos"/>
              </a:rPr>
              <a:t>CENTRAL CLAIM</a:t>
            </a:r>
          </a:p>
        </p:txBody>
      </p:sp>
      <p:sp>
        <p:nvSpPr>
          <p:cNvPr id="8" name="">
            <a:extLst xmlns:a="http://schemas.openxmlformats.org/drawingml/2006/main">
              <a:ext uri="{FF2B5EF4-FFF2-40B4-BE49-F238E27FC236}">
                <a16:creationId xmlns:a16="http://schemas.microsoft.com/office/drawing/2014/main" id="{5A933319-6ABF-47AF-9E0C-C0200EF41A69}"/>
              </a:ext>
            </a:extLst>
          </p:cNvPr>
          <p:cNvSpPr>
            <a:spLocks xmlns:a="http://schemas.openxmlformats.org/drawingml/2006/main" noGrp="1"/>
          </p:cNvSpPr>
          <p:nvPr/>
        </p:nvSpPr>
        <p:spPr>
          <a:xfrm xmlns:a="http://schemas.openxmlformats.org/drawingml/2006/main">
            <a:off x="781050" y="3800475"/>
            <a:ext cx="5276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485"/>
          </a:bodyPr>
          <a:lstStyle xmlns:a="http://schemas.openxmlformats.org/drawingml/2006/main"/>
          <a:p xmlns:a="http://schemas.openxmlformats.org/drawingml/2006/main">
            <a:pPr algn="l">
              <a:defRPr sz="1650" b="0">
                <a:solidFill>
                  <a:srgbClr val="FFFFFF"/>
                </a:solidFill>
                <a:latin typeface="Aptos"/>
                <a:ea typeface="Aptos"/>
                <a:cs typeface="Aptos"/>
              </a:defRPr>
            </a:pPr>
            <a:r>
              <a:rPr sz="1650" b="0">
                <a:solidFill>
                  <a:srgbClr val="FFFFFF"/>
                </a:solidFill>
                <a:latin typeface="Aptos"/>
                <a:ea typeface="Aptos"/>
                <a:cs typeface="Aptos"/>
              </a:rPr>
              <a:t>Stablecoin APY becomes interpretable only when duration, TVL, mechanism and peg context are shown together.</a:t>
            </a:r>
          </a:p>
        </p:txBody>
      </p:sp>
      <p:sp>
        <p:nvSpPr>
          <p:cNvPr id="9" name="">
            <a:extLst xmlns:a="http://schemas.openxmlformats.org/drawingml/2006/main">
              <a:ext uri="{FF2B5EF4-FFF2-40B4-BE49-F238E27FC236}">
                <a16:creationId xmlns:a16="http://schemas.microsoft.com/office/drawing/2014/main" id="{63346FFC-8916-422A-AFFA-518A497D6FA3}"/>
              </a:ext>
            </a:extLst>
          </p:cNvPr>
          <p:cNvSpPr>
            <a:spLocks xmlns:a="http://schemas.openxmlformats.org/drawingml/2006/main" noGrp="1"/>
          </p:cNvSpPr>
          <p:nvPr/>
        </p:nvSpPr>
        <p:spPr>
          <a:xfrm xmlns:a="http://schemas.openxmlformats.org/drawingml/2006/main">
            <a:off x="7105650" y="723900"/>
            <a:ext cx="4495800" cy="4762500"/>
          </a:xfrm>
          <a:prstGeom xmlns:a="http://schemas.openxmlformats.org/drawingml/2006/main" prst="roundRect">
            <a:avLst>
              <a:gd name="adj" fmla="val 7203"/>
            </a:avLst>
          </a:prstGeom>
          <a:solidFill xmlns:a="http://schemas.openxmlformats.org/drawingml/2006/main">
            <a:srgbClr val="FFFFFF">
              <a:alpha val="11000"/>
            </a:srgbClr>
          </a:solidFill>
          <a:ln xmlns:a="http://schemas.openxmlformats.org/drawingml/2006/main" w="9525">
            <a:solidFill>
              <a:srgbClr val="FFFFFF">
                <a:alpha val="18000"/>
              </a:srgbClr>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7BBF3D76-6999-4332-A8D2-4F143BEFCCDE}"/>
              </a:ext>
            </a:extLst>
          </p:cNvPr>
          <p:cNvSpPr>
            <a:spLocks xmlns:a="http://schemas.openxmlformats.org/drawingml/2006/main" noGrp="1"/>
          </p:cNvSpPr>
          <p:nvPr/>
        </p:nvSpPr>
        <p:spPr>
          <a:xfrm xmlns:a="http://schemas.openxmlformats.org/drawingml/2006/main">
            <a:off x="7448550" y="1047750"/>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FFFFFF"/>
                </a:solidFill>
                <a:latin typeface="Aptos"/>
                <a:ea typeface="Aptos"/>
                <a:cs typeface="Aptos"/>
              </a:defRPr>
            </a:pPr>
            <a:r>
              <a:rPr sz="1950" b="1">
                <a:solidFill>
                  <a:srgbClr val="FFFFFF"/>
                </a:solidFill>
                <a:latin typeface="Aptos"/>
                <a:ea typeface="Aptos"/>
                <a:cs typeface="Aptos"/>
              </a:rPr>
              <a:t>Evidence snapshot</a:t>
            </a:r>
          </a:p>
        </p:txBody>
      </p:sp>
      <p:sp>
        <p:nvSpPr>
          <p:cNvPr id="11" name="">
            <a:extLst xmlns:a="http://schemas.openxmlformats.org/drawingml/2006/main">
              <a:ext uri="{FF2B5EF4-FFF2-40B4-BE49-F238E27FC236}">
                <a16:creationId xmlns:a16="http://schemas.microsoft.com/office/drawing/2014/main" id="{F72D43CD-97B2-4212-A395-991F3A54C4E0}"/>
              </a:ext>
            </a:extLst>
          </p:cNvPr>
          <p:cNvSpPr>
            <a:spLocks xmlns:a="http://schemas.openxmlformats.org/drawingml/2006/main" noGrp="1"/>
          </p:cNvSpPr>
          <p:nvPr/>
        </p:nvSpPr>
        <p:spPr>
          <a:xfrm xmlns:a="http://schemas.openxmlformats.org/drawingml/2006/main">
            <a:off x="7448550" y="14668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DDE6FF"/>
                </a:solidFill>
                <a:latin typeface="Aptos"/>
                <a:ea typeface="Aptos"/>
                <a:cs typeface="Aptos"/>
              </a:defRPr>
            </a:pPr>
            <a:r>
              <a:rPr sz="1275" b="0">
                <a:solidFill>
                  <a:srgbClr val="DDE6FF"/>
                </a:solidFill>
                <a:latin typeface="Aptos"/>
                <a:ea typeface="Aptos"/>
                <a:cs typeface="Aptos"/>
              </a:rPr>
              <a:t>A compact view of the analytical scale</a:t>
            </a:r>
          </a:p>
        </p:txBody>
      </p:sp>
      <p:sp>
        <p:nvSpPr>
          <p:cNvPr id="12" name="">
            <a:extLst xmlns:a="http://schemas.openxmlformats.org/drawingml/2006/main">
              <a:ext uri="{FF2B5EF4-FFF2-40B4-BE49-F238E27FC236}">
                <a16:creationId xmlns:a16="http://schemas.microsoft.com/office/drawing/2014/main" id="{741BB06C-1584-455B-86CF-2738C8F6C990}"/>
              </a:ext>
            </a:extLst>
          </p:cNvPr>
          <p:cNvSpPr>
            <a:spLocks xmlns:a="http://schemas.openxmlformats.org/drawingml/2006/main" noGrp="1"/>
          </p:cNvSpPr>
          <p:nvPr/>
        </p:nvSpPr>
        <p:spPr>
          <a:xfrm xmlns:a="http://schemas.openxmlformats.org/drawingml/2006/main">
            <a:off x="7448550" y="1952625"/>
            <a:ext cx="3810000" cy="9525"/>
          </a:xfrm>
          <a:prstGeom xmlns:a="http://schemas.openxmlformats.org/drawingml/2006/main" prst="line">
            <a:avLst/>
          </a:prstGeom>
          <a:noFill xmlns:a="http://schemas.openxmlformats.org/drawingml/2006/main"/>
          <a:ln xmlns:a="http://schemas.openxmlformats.org/drawingml/2006/main" w="9525">
            <a:solidFill>
              <a:srgbClr val="FFFFFF">
                <a:alpha val="20000"/>
              </a:srgbClr>
            </a:solidFill>
            <a:prstDash val="solid"/>
          </a:ln>
        </p:spPr>
      </p:sp>
      <p:sp>
        <p:nvSpPr>
          <p:cNvPr id="13" name="">
            <a:extLst xmlns:a="http://schemas.openxmlformats.org/drawingml/2006/main">
              <a:ext uri="{FF2B5EF4-FFF2-40B4-BE49-F238E27FC236}">
                <a16:creationId xmlns:a16="http://schemas.microsoft.com/office/drawing/2014/main" id="{8BB85090-7044-4A09-8AF2-237C7F63A20B}"/>
              </a:ext>
            </a:extLst>
          </p:cNvPr>
          <p:cNvSpPr>
            <a:spLocks xmlns:a="http://schemas.openxmlformats.org/drawingml/2006/main" noGrp="1"/>
          </p:cNvSpPr>
          <p:nvPr/>
        </p:nvSpPr>
        <p:spPr>
          <a:xfrm xmlns:a="http://schemas.openxmlformats.org/drawingml/2006/main">
            <a:off x="9353550" y="2076450"/>
            <a:ext cx="9525" cy="2876550"/>
          </a:xfrm>
          <a:prstGeom xmlns:a="http://schemas.openxmlformats.org/drawingml/2006/main" prst="line">
            <a:avLst/>
          </a:prstGeom>
          <a:noFill xmlns:a="http://schemas.openxmlformats.org/drawingml/2006/main"/>
          <a:ln xmlns:a="http://schemas.openxmlformats.org/drawingml/2006/main" w="9525">
            <a:solidFill>
              <a:srgbClr val="FFFFFF">
                <a:alpha val="16000"/>
              </a:srgbClr>
            </a:solidFill>
            <a:prstDash val="solid"/>
          </a:ln>
        </p:spPr>
      </p:sp>
      <p:sp>
        <p:nvSpPr>
          <p:cNvPr id="14" name="">
            <a:extLst xmlns:a="http://schemas.openxmlformats.org/drawingml/2006/main">
              <a:ext uri="{FF2B5EF4-FFF2-40B4-BE49-F238E27FC236}">
                <a16:creationId xmlns:a16="http://schemas.microsoft.com/office/drawing/2014/main" id="{BF999780-00D4-4994-B0F5-FC8521958E85}"/>
              </a:ext>
            </a:extLst>
          </p:cNvPr>
          <p:cNvSpPr>
            <a:spLocks xmlns:a="http://schemas.openxmlformats.org/drawingml/2006/main" noGrp="1"/>
          </p:cNvSpPr>
          <p:nvPr/>
        </p:nvSpPr>
        <p:spPr>
          <a:xfrm xmlns:a="http://schemas.openxmlformats.org/drawingml/2006/main">
            <a:off x="7448550" y="3486150"/>
            <a:ext cx="3810000" cy="9525"/>
          </a:xfrm>
          <a:prstGeom xmlns:a="http://schemas.openxmlformats.org/drawingml/2006/main" prst="line">
            <a:avLst/>
          </a:prstGeom>
          <a:noFill xmlns:a="http://schemas.openxmlformats.org/drawingml/2006/main"/>
          <a:ln xmlns:a="http://schemas.openxmlformats.org/drawingml/2006/main" w="9525">
            <a:solidFill>
              <a:srgbClr val="FFFFFF">
                <a:alpha val="16000"/>
              </a:srgbClr>
            </a:solidFill>
            <a:prstDash val="solid"/>
          </a:ln>
        </p:spPr>
      </p:sp>
      <p:sp>
        <p:nvSpPr>
          <p:cNvPr id="15" name="">
            <a:extLst xmlns:a="http://schemas.openxmlformats.org/drawingml/2006/main">
              <a:ext uri="{FF2B5EF4-FFF2-40B4-BE49-F238E27FC236}">
                <a16:creationId xmlns:a16="http://schemas.microsoft.com/office/drawing/2014/main" id="{3078117C-2C7F-49F3-B110-05278D91EC88}"/>
              </a:ext>
            </a:extLst>
          </p:cNvPr>
          <p:cNvSpPr>
            <a:spLocks xmlns:a="http://schemas.openxmlformats.org/drawingml/2006/main" noGrp="1"/>
          </p:cNvSpPr>
          <p:nvPr/>
        </p:nvSpPr>
        <p:spPr>
          <a:xfrm xmlns:a="http://schemas.openxmlformats.org/drawingml/2006/main">
            <a:off x="7543800" y="2209800"/>
            <a:ext cx="1581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FFFFFF"/>
                </a:solidFill>
                <a:latin typeface="Aptos"/>
                <a:ea typeface="Aptos"/>
                <a:cs typeface="Aptos"/>
              </a:defRPr>
            </a:pPr>
            <a:r>
              <a:rPr sz="3600" b="1">
                <a:solidFill>
                  <a:srgbClr val="FFFFFF"/>
                </a:solidFill>
                <a:latin typeface="Aptos"/>
                <a:ea typeface="Aptos"/>
                <a:cs typeface="Aptos"/>
              </a:rPr>
              <a:t>250</a:t>
            </a:r>
          </a:p>
        </p:txBody>
      </p:sp>
      <p:sp>
        <p:nvSpPr>
          <p:cNvPr id="16" name="">
            <a:extLst xmlns:a="http://schemas.openxmlformats.org/drawingml/2006/main">
              <a:ext uri="{FF2B5EF4-FFF2-40B4-BE49-F238E27FC236}">
                <a16:creationId xmlns:a16="http://schemas.microsoft.com/office/drawing/2014/main" id="{5B3485A0-2DD6-4FA7-8195-3D7A14BCB145}"/>
              </a:ext>
            </a:extLst>
          </p:cNvPr>
          <p:cNvSpPr>
            <a:spLocks xmlns:a="http://schemas.openxmlformats.org/drawingml/2006/main" noGrp="1"/>
          </p:cNvSpPr>
          <p:nvPr/>
        </p:nvSpPr>
        <p:spPr>
          <a:xfrm xmlns:a="http://schemas.openxmlformats.org/drawingml/2006/main">
            <a:off x="7543800" y="2895600"/>
            <a:ext cx="400050" cy="47625"/>
          </a:xfrm>
          <a:prstGeom xmlns:a="http://schemas.openxmlformats.org/drawingml/2006/main" prst="roundRect">
            <a:avLst>
              <a:gd name="adj" fmla="val 50000"/>
            </a:avLst>
          </a:prstGeom>
          <a:solidFill xmlns:a="http://schemas.openxmlformats.org/drawingml/2006/main">
            <a:srgbClr val="23C9D8"/>
          </a:solidFill>
          <a:ln xmlns:a="http://schemas.openxmlformats.org/drawingml/2006/main" w="0">
            <a:solidFill>
              <a:srgbClr val="23C9D8"/>
            </a:solidFill>
            <a:prstDash val="solid"/>
          </a:ln>
        </p:spPr>
      </p:sp>
      <p:sp>
        <p:nvSpPr>
          <p:cNvPr id="17" name="">
            <a:extLst xmlns:a="http://schemas.openxmlformats.org/drawingml/2006/main">
              <a:ext uri="{FF2B5EF4-FFF2-40B4-BE49-F238E27FC236}">
                <a16:creationId xmlns:a16="http://schemas.microsoft.com/office/drawing/2014/main" id="{4E327283-F393-46BE-981F-EF5F11EF139B}"/>
              </a:ext>
            </a:extLst>
          </p:cNvPr>
          <p:cNvSpPr>
            <a:spLocks xmlns:a="http://schemas.openxmlformats.org/drawingml/2006/main" noGrp="1"/>
          </p:cNvSpPr>
          <p:nvPr/>
        </p:nvSpPr>
        <p:spPr>
          <a:xfrm xmlns:a="http://schemas.openxmlformats.org/drawingml/2006/main">
            <a:off x="7543800" y="30480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DDE6FF"/>
                </a:solidFill>
                <a:latin typeface="Aptos"/>
                <a:ea typeface="Aptos"/>
                <a:cs typeface="Aptos"/>
              </a:defRPr>
            </a:pPr>
            <a:r>
              <a:rPr sz="975" b="1">
                <a:solidFill>
                  <a:srgbClr val="DDE6FF"/>
                </a:solidFill>
                <a:latin typeface="Aptos"/>
                <a:ea typeface="Aptos"/>
                <a:cs typeface="Aptos"/>
              </a:rPr>
              <a:t>POOLS</a:t>
            </a:r>
          </a:p>
        </p:txBody>
      </p:sp>
      <p:sp>
        <p:nvSpPr>
          <p:cNvPr id="18" name="">
            <a:extLst xmlns:a="http://schemas.openxmlformats.org/drawingml/2006/main">
              <a:ext uri="{FF2B5EF4-FFF2-40B4-BE49-F238E27FC236}">
                <a16:creationId xmlns:a16="http://schemas.microsoft.com/office/drawing/2014/main" id="{03199871-FD8E-42B5-9035-5AC3BFA0BCFA}"/>
              </a:ext>
            </a:extLst>
          </p:cNvPr>
          <p:cNvSpPr>
            <a:spLocks xmlns:a="http://schemas.openxmlformats.org/drawingml/2006/main" noGrp="1"/>
          </p:cNvSpPr>
          <p:nvPr/>
        </p:nvSpPr>
        <p:spPr>
          <a:xfrm xmlns:a="http://schemas.openxmlformats.org/drawingml/2006/main">
            <a:off x="9601200" y="2209800"/>
            <a:ext cx="1581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FFFFFF"/>
                </a:solidFill>
                <a:latin typeface="Aptos"/>
                <a:ea typeface="Aptos"/>
                <a:cs typeface="Aptos"/>
              </a:defRPr>
            </a:pPr>
            <a:r>
              <a:rPr sz="3600" b="1">
                <a:solidFill>
                  <a:srgbClr val="FFFFFF"/>
                </a:solidFill>
                <a:latin typeface="Aptos"/>
                <a:ea typeface="Aptos"/>
                <a:cs typeface="Aptos"/>
              </a:rPr>
              <a:t>137k</a:t>
            </a:r>
          </a:p>
        </p:txBody>
      </p:sp>
      <p:sp>
        <p:nvSpPr>
          <p:cNvPr id="19" name="">
            <a:extLst xmlns:a="http://schemas.openxmlformats.org/drawingml/2006/main">
              <a:ext uri="{FF2B5EF4-FFF2-40B4-BE49-F238E27FC236}">
                <a16:creationId xmlns:a16="http://schemas.microsoft.com/office/drawing/2014/main" id="{F42B29D5-9DE0-4889-87FD-59E36E28E267}"/>
              </a:ext>
            </a:extLst>
          </p:cNvPr>
          <p:cNvSpPr>
            <a:spLocks xmlns:a="http://schemas.openxmlformats.org/drawingml/2006/main" noGrp="1"/>
          </p:cNvSpPr>
          <p:nvPr/>
        </p:nvSpPr>
        <p:spPr>
          <a:xfrm xmlns:a="http://schemas.openxmlformats.org/drawingml/2006/main">
            <a:off x="9601200" y="2895600"/>
            <a:ext cx="400050" cy="47625"/>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0">
            <a:solidFill>
              <a:srgbClr val="FF6B9D"/>
            </a:solidFill>
            <a:prstDash val="solid"/>
          </a:ln>
        </p:spPr>
      </p:sp>
      <p:sp>
        <p:nvSpPr>
          <p:cNvPr id="20" name="">
            <a:extLst xmlns:a="http://schemas.openxmlformats.org/drawingml/2006/main">
              <a:ext uri="{FF2B5EF4-FFF2-40B4-BE49-F238E27FC236}">
                <a16:creationId xmlns:a16="http://schemas.microsoft.com/office/drawing/2014/main" id="{B8F763D2-9D0F-46BF-B041-59CD9255DAD4}"/>
              </a:ext>
            </a:extLst>
          </p:cNvPr>
          <p:cNvSpPr>
            <a:spLocks xmlns:a="http://schemas.openxmlformats.org/drawingml/2006/main" noGrp="1"/>
          </p:cNvSpPr>
          <p:nvPr/>
        </p:nvSpPr>
        <p:spPr>
          <a:xfrm xmlns:a="http://schemas.openxmlformats.org/drawingml/2006/main">
            <a:off x="9601200" y="30480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DDE6FF"/>
                </a:solidFill>
                <a:latin typeface="Aptos"/>
                <a:ea typeface="Aptos"/>
                <a:cs typeface="Aptos"/>
              </a:defRPr>
            </a:pPr>
            <a:r>
              <a:rPr sz="975" b="1">
                <a:solidFill>
                  <a:srgbClr val="DDE6FF"/>
                </a:solidFill>
                <a:latin typeface="Aptos"/>
                <a:ea typeface="Aptos"/>
                <a:cs typeface="Aptos"/>
              </a:rPr>
              <a:t>POOL-DAYS</a:t>
            </a:r>
          </a:p>
        </p:txBody>
      </p:sp>
      <p:sp>
        <p:nvSpPr>
          <p:cNvPr id="21" name="">
            <a:extLst xmlns:a="http://schemas.openxmlformats.org/drawingml/2006/main">
              <a:ext uri="{FF2B5EF4-FFF2-40B4-BE49-F238E27FC236}">
                <a16:creationId xmlns:a16="http://schemas.microsoft.com/office/drawing/2014/main" id="{14DAC63C-FDEB-41CD-AE09-DF8B79E8A6DD}"/>
              </a:ext>
            </a:extLst>
          </p:cNvPr>
          <p:cNvSpPr>
            <a:spLocks xmlns:a="http://schemas.openxmlformats.org/drawingml/2006/main" noGrp="1"/>
          </p:cNvSpPr>
          <p:nvPr/>
        </p:nvSpPr>
        <p:spPr>
          <a:xfrm xmlns:a="http://schemas.openxmlformats.org/drawingml/2006/main">
            <a:off x="7543800" y="3733800"/>
            <a:ext cx="1581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FFFFFF"/>
                </a:solidFill>
                <a:latin typeface="Aptos"/>
                <a:ea typeface="Aptos"/>
                <a:cs typeface="Aptos"/>
              </a:defRPr>
            </a:pPr>
            <a:r>
              <a:rPr sz="3600" b="1">
                <a:solidFill>
                  <a:srgbClr val="FFFFFF"/>
                </a:solidFill>
                <a:latin typeface="Aptos"/>
                <a:ea typeface="Aptos"/>
                <a:cs typeface="Aptos"/>
              </a:rPr>
              <a:t>4.3%</a:t>
            </a:r>
          </a:p>
        </p:txBody>
      </p:sp>
      <p:sp>
        <p:nvSpPr>
          <p:cNvPr id="22" name="">
            <a:extLst xmlns:a="http://schemas.openxmlformats.org/drawingml/2006/main">
              <a:ext uri="{FF2B5EF4-FFF2-40B4-BE49-F238E27FC236}">
                <a16:creationId xmlns:a16="http://schemas.microsoft.com/office/drawing/2014/main" id="{B36EA931-1807-4323-89D0-089861B7E596}"/>
              </a:ext>
            </a:extLst>
          </p:cNvPr>
          <p:cNvSpPr>
            <a:spLocks xmlns:a="http://schemas.openxmlformats.org/drawingml/2006/main" noGrp="1"/>
          </p:cNvSpPr>
          <p:nvPr/>
        </p:nvSpPr>
        <p:spPr>
          <a:xfrm xmlns:a="http://schemas.openxmlformats.org/drawingml/2006/main">
            <a:off x="7543800" y="4419600"/>
            <a:ext cx="400050" cy="47625"/>
          </a:xfrm>
          <a:prstGeom xmlns:a="http://schemas.openxmlformats.org/drawingml/2006/main" prst="roundRect">
            <a:avLst>
              <a:gd name="adj" fmla="val 50000"/>
            </a:avLst>
          </a:prstGeom>
          <a:solidFill xmlns:a="http://schemas.openxmlformats.org/drawingml/2006/main">
            <a:srgbClr val="F6B84B"/>
          </a:solidFill>
          <a:ln xmlns:a="http://schemas.openxmlformats.org/drawingml/2006/main" w="0">
            <a:solidFill>
              <a:srgbClr val="F6B84B"/>
            </a:solidFill>
            <a:prstDash val="solid"/>
          </a:ln>
        </p:spPr>
      </p:sp>
      <p:sp>
        <p:nvSpPr>
          <p:cNvPr id="23" name="">
            <a:extLst xmlns:a="http://schemas.openxmlformats.org/drawingml/2006/main">
              <a:ext uri="{FF2B5EF4-FFF2-40B4-BE49-F238E27FC236}">
                <a16:creationId xmlns:a16="http://schemas.microsoft.com/office/drawing/2014/main" id="{A0AFA866-F80D-4127-B1FA-160DED558396}"/>
              </a:ext>
            </a:extLst>
          </p:cNvPr>
          <p:cNvSpPr>
            <a:spLocks xmlns:a="http://schemas.openxmlformats.org/drawingml/2006/main" noGrp="1"/>
          </p:cNvSpPr>
          <p:nvPr/>
        </p:nvSpPr>
        <p:spPr>
          <a:xfrm xmlns:a="http://schemas.openxmlformats.org/drawingml/2006/main">
            <a:off x="7543800" y="45720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DDE6FF"/>
                </a:solidFill>
                <a:latin typeface="Aptos"/>
                <a:ea typeface="Aptos"/>
                <a:cs typeface="Aptos"/>
              </a:defRPr>
            </a:pPr>
            <a:r>
              <a:rPr sz="975" b="1">
                <a:solidFill>
                  <a:srgbClr val="DDE6FF"/>
                </a:solidFill>
                <a:latin typeface="Aptos"/>
                <a:ea typeface="Aptos"/>
                <a:cs typeface="Aptos"/>
              </a:rPr>
              <a:t>POOL-DAY MEDIAN APY</a:t>
            </a:r>
          </a:p>
        </p:txBody>
      </p:sp>
      <p:sp>
        <p:nvSpPr>
          <p:cNvPr id="24" name="">
            <a:extLst xmlns:a="http://schemas.openxmlformats.org/drawingml/2006/main">
              <a:ext uri="{FF2B5EF4-FFF2-40B4-BE49-F238E27FC236}">
                <a16:creationId xmlns:a16="http://schemas.microsoft.com/office/drawing/2014/main" id="{0FB8C203-A30D-4520-8552-7062E0BE115B}"/>
              </a:ext>
            </a:extLst>
          </p:cNvPr>
          <p:cNvSpPr>
            <a:spLocks xmlns:a="http://schemas.openxmlformats.org/drawingml/2006/main" noGrp="1"/>
          </p:cNvSpPr>
          <p:nvPr/>
        </p:nvSpPr>
        <p:spPr>
          <a:xfrm xmlns:a="http://schemas.openxmlformats.org/drawingml/2006/main">
            <a:off x="9601200" y="3733800"/>
            <a:ext cx="1581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FFFFFF"/>
                </a:solidFill>
                <a:latin typeface="Aptos"/>
                <a:ea typeface="Aptos"/>
                <a:cs typeface="Aptos"/>
              </a:defRPr>
            </a:pPr>
            <a:r>
              <a:rPr sz="3600" b="1">
                <a:solidFill>
                  <a:srgbClr val="FFFFFF"/>
                </a:solidFill>
                <a:latin typeface="Aptos"/>
                <a:ea typeface="Aptos"/>
                <a:cs typeface="Aptos"/>
              </a:rPr>
              <a:t>2</a:t>
            </a:r>
          </a:p>
        </p:txBody>
      </p:sp>
      <p:sp>
        <p:nvSpPr>
          <p:cNvPr id="25" name="">
            <a:extLst xmlns:a="http://schemas.openxmlformats.org/drawingml/2006/main">
              <a:ext uri="{FF2B5EF4-FFF2-40B4-BE49-F238E27FC236}">
                <a16:creationId xmlns:a16="http://schemas.microsoft.com/office/drawing/2014/main" id="{6DDD90BE-56C4-40F1-898B-734C7F837DF7}"/>
              </a:ext>
            </a:extLst>
          </p:cNvPr>
          <p:cNvSpPr>
            <a:spLocks xmlns:a="http://schemas.openxmlformats.org/drawingml/2006/main" noGrp="1"/>
          </p:cNvSpPr>
          <p:nvPr/>
        </p:nvSpPr>
        <p:spPr>
          <a:xfrm xmlns:a="http://schemas.openxmlformats.org/drawingml/2006/main">
            <a:off x="9601200" y="4419600"/>
            <a:ext cx="400050" cy="47625"/>
          </a:xfrm>
          <a:prstGeom xmlns:a="http://schemas.openxmlformats.org/drawingml/2006/main" prst="roundRect">
            <a:avLst>
              <a:gd name="adj" fmla="val 50000"/>
            </a:avLst>
          </a:prstGeom>
          <a:solidFill xmlns:a="http://schemas.openxmlformats.org/drawingml/2006/main">
            <a:srgbClr val="23C9D8"/>
          </a:solidFill>
          <a:ln xmlns:a="http://schemas.openxmlformats.org/drawingml/2006/main" w="0">
            <a:solidFill>
              <a:srgbClr val="23C9D8"/>
            </a:solidFill>
            <a:prstDash val="solid"/>
          </a:ln>
        </p:spPr>
      </p:sp>
      <p:sp>
        <p:nvSpPr>
          <p:cNvPr id="26" name="">
            <a:extLst xmlns:a="http://schemas.openxmlformats.org/drawingml/2006/main">
              <a:ext uri="{FF2B5EF4-FFF2-40B4-BE49-F238E27FC236}">
                <a16:creationId xmlns:a16="http://schemas.microsoft.com/office/drawing/2014/main" id="{A7655B30-E9C9-46EE-8A2C-C202236C7284}"/>
              </a:ext>
            </a:extLst>
          </p:cNvPr>
          <p:cNvSpPr>
            <a:spLocks xmlns:a="http://schemas.openxmlformats.org/drawingml/2006/main" noGrp="1"/>
          </p:cNvSpPr>
          <p:nvPr/>
        </p:nvSpPr>
        <p:spPr>
          <a:xfrm xmlns:a="http://schemas.openxmlformats.org/drawingml/2006/main">
            <a:off x="9601200" y="4572000"/>
            <a:ext cx="161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DDE6FF"/>
                </a:solidFill>
                <a:latin typeface="Aptos"/>
                <a:ea typeface="Aptos"/>
                <a:cs typeface="Aptos"/>
              </a:defRPr>
            </a:pPr>
            <a:r>
              <a:rPr sz="975" b="1">
                <a:solidFill>
                  <a:srgbClr val="DDE6FF"/>
                </a:solidFill>
                <a:latin typeface="Aptos"/>
                <a:ea typeface="Aptos"/>
                <a:cs typeface="Aptos"/>
              </a:rPr>
              <a:t>MEDIAN EPISODE DURATION</a:t>
            </a:r>
          </a:p>
        </p:txBody>
      </p:sp>
      <p:sp>
        <p:nvSpPr>
          <p:cNvPr id="27" name="">
            <a:extLst xmlns:a="http://schemas.openxmlformats.org/drawingml/2006/main">
              <a:ext uri="{FF2B5EF4-FFF2-40B4-BE49-F238E27FC236}">
                <a16:creationId xmlns:a16="http://schemas.microsoft.com/office/drawing/2014/main" id="{3C8A86A0-DEAD-4882-AF74-FEF39C9715F3}"/>
              </a:ext>
            </a:extLst>
          </p:cNvPr>
          <p:cNvSpPr>
            <a:spLocks xmlns:a="http://schemas.openxmlformats.org/drawingml/2006/main" noGrp="1"/>
          </p:cNvSpPr>
          <p:nvPr/>
        </p:nvSpPr>
        <p:spPr>
          <a:xfrm xmlns:a="http://schemas.openxmlformats.org/drawingml/2006/main">
            <a:off x="533400" y="4648200"/>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FF6B9D"/>
                </a:solidFill>
                <a:latin typeface="Aptos"/>
                <a:ea typeface="Aptos"/>
                <a:cs typeface="Aptos"/>
              </a:defRPr>
            </a:pPr>
            <a:r>
              <a:rPr sz="1800" b="1">
                <a:solidFill>
                  <a:srgbClr val="FF6B9D"/>
                </a:solidFill>
                <a:latin typeface="Aptos"/>
                <a:ea typeface="Aptos"/>
                <a:cs typeface="Aptos"/>
              </a:rPr>
              <a:t>Yield as a regime, not a ranking.</a:t>
            </a:r>
          </a:p>
        </p:txBody>
      </p:sp>
      <p:sp>
        <p:nvSpPr>
          <p:cNvPr id="28" name="">
            <a:extLst xmlns:a="http://schemas.openxmlformats.org/drawingml/2006/main">
              <a:ext uri="{FF2B5EF4-FFF2-40B4-BE49-F238E27FC236}">
                <a16:creationId xmlns:a16="http://schemas.microsoft.com/office/drawing/2014/main" id="{9930F63A-3D24-4C8D-B638-B159F53CFE1E}"/>
              </a:ext>
            </a:extLst>
          </p:cNvPr>
          <p:cNvSpPr>
            <a:spLocks xmlns:a="http://schemas.openxmlformats.org/drawingml/2006/main" noGrp="1"/>
          </p:cNvSpPr>
          <p:nvPr/>
        </p:nvSpPr>
        <p:spPr>
          <a:xfrm xmlns:a="http://schemas.openxmlformats.org/drawingml/2006/main">
            <a:off x="533400" y="5248275"/>
            <a:ext cx="6143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FFFFFF"/>
                </a:solidFill>
                <a:latin typeface="Aptos"/>
                <a:ea typeface="Aptos"/>
                <a:cs typeface="Aptos"/>
              </a:defRPr>
            </a:pPr>
            <a:r>
              <a:rPr sz="1725" b="1">
                <a:solidFill>
                  <a:srgbClr val="FFFFFF"/>
                </a:solidFill>
                <a:latin typeface="Aptos"/>
                <a:ea typeface="Aptos"/>
                <a:cs typeface="Aptos"/>
              </a:rPr>
              <a:t>Simone Ragusini  ·  945119</a:t>
            </a:r>
          </a:p>
        </p:txBody>
      </p:sp>
      <p:sp>
        <p:nvSpPr>
          <p:cNvPr id="29" name="">
            <a:extLst xmlns:a="http://schemas.openxmlformats.org/drawingml/2006/main">
              <a:ext uri="{FF2B5EF4-FFF2-40B4-BE49-F238E27FC236}">
                <a16:creationId xmlns:a16="http://schemas.microsoft.com/office/drawing/2014/main" id="{1263D87C-04BE-4BB7-9158-CDAB97DB0E70}"/>
              </a:ext>
            </a:extLst>
          </p:cNvPr>
          <p:cNvSpPr>
            <a:spLocks xmlns:a="http://schemas.openxmlformats.org/drawingml/2006/main" noGrp="1"/>
          </p:cNvSpPr>
          <p:nvPr/>
        </p:nvSpPr>
        <p:spPr>
          <a:xfrm xmlns:a="http://schemas.openxmlformats.org/drawingml/2006/main">
            <a:off x="533400" y="5600700"/>
            <a:ext cx="614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DDE6FF"/>
                </a:solidFill>
                <a:latin typeface="Aptos"/>
                <a:ea typeface="Aptos"/>
                <a:cs typeface="Aptos"/>
              </a:defRPr>
            </a:pPr>
            <a:r>
              <a:rPr sz="1575" b="0">
                <a:solidFill>
                  <a:srgbClr val="DDE6FF"/>
                </a:solidFill>
                <a:latin typeface="Aptos"/>
                <a:ea typeface="Aptos"/>
                <a:cs typeface="Aptos"/>
              </a:rPr>
              <a:t>s.ragusini@campus.unimib.it</a:t>
            </a:r>
          </a:p>
        </p:txBody>
      </p:sp>
      <p:sp>
        <p:nvSpPr>
          <p:cNvPr id="30" name="">
            <a:extLst xmlns:a="http://schemas.openxmlformats.org/drawingml/2006/main">
              <a:ext uri="{FF2B5EF4-FFF2-40B4-BE49-F238E27FC236}">
                <a16:creationId xmlns:a16="http://schemas.microsoft.com/office/drawing/2014/main" id="{0F5B5868-3374-4452-98B2-65F74D8A7091}"/>
              </a:ext>
            </a:extLst>
          </p:cNvPr>
          <p:cNvSpPr>
            <a:spLocks xmlns:a="http://schemas.openxmlformats.org/drawingml/2006/main" noGrp="1"/>
          </p:cNvSpPr>
          <p:nvPr/>
        </p:nvSpPr>
        <p:spPr>
          <a:xfrm xmlns:a="http://schemas.openxmlformats.org/drawingml/2006/main">
            <a:off x="533400" y="605790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C7D2FE"/>
                </a:solidFill>
                <a:latin typeface="Aptos"/>
                <a:ea typeface="Aptos"/>
                <a:cs typeface="Aptos"/>
              </a:defRPr>
            </a:pPr>
            <a:r>
              <a:rPr sz="1200" b="0">
                <a:solidFill>
                  <a:srgbClr val="C7D2FE"/>
                </a:solidFill>
                <a:latin typeface="Aptos"/>
                <a:ea typeface="Aptos"/>
                <a:cs typeface="Aptos"/>
              </a:rPr>
              <a:t>Educational analysis only. No financial advice, no pool ranking.</a:t>
            </a:r>
          </a:p>
        </p:txBody>
      </p:sp>
      <p:sp>
        <p:nvSpPr>
          <p:cNvPr id="31" name="">
            <a:extLst xmlns:a="http://schemas.openxmlformats.org/drawingml/2006/main">
              <a:ext uri="{FF2B5EF4-FFF2-40B4-BE49-F238E27FC236}">
                <a16:creationId xmlns:a16="http://schemas.microsoft.com/office/drawing/2014/main" id="{BBBC0E0C-7608-4521-A08A-795C096AA1E7}"/>
              </a:ext>
            </a:extLst>
          </p:cNvPr>
          <p:cNvSpPr>
            <a:spLocks xmlns:a="http://schemas.openxmlformats.org/drawingml/2006/main" noGrp="1"/>
          </p:cNvSpPr>
          <p:nvPr/>
        </p:nvSpPr>
        <p:spPr>
          <a:xfrm xmlns:a="http://schemas.openxmlformats.org/drawingml/2006/main">
            <a:off x="10572750" y="6057900"/>
            <a:ext cx="1009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200" b="1">
                <a:solidFill>
                  <a:srgbClr val="FFFFFF"/>
                </a:solidFill>
                <a:latin typeface="Aptos"/>
                <a:ea typeface="Aptos"/>
                <a:cs typeface="Aptos"/>
              </a:defRPr>
            </a:pPr>
            <a:r>
              <a:rPr sz="1200" b="1">
                <a:solidFill>
                  <a:srgbClr val="FFFFFF"/>
                </a:solidFill>
                <a:latin typeface="Aptos"/>
                <a:ea typeface="Aptos"/>
                <a:cs typeface="Aptos"/>
              </a:rPr>
              <a:t>01 / 17</a:t>
            </a:r>
          </a:p>
        </p:txBody>
      </p:sp>
    </p:spTree>
    <p:extLst>
      <p:ext uri="{BB962C8B-B14F-4D97-AF65-F5344CB8AC3E}">
        <p14:creationId xmlns:p14="http://schemas.microsoft.com/office/powerpoint/2010/main" val="60497529"/>
      </p:ext>
    </p:extLst>
  </p:cSld>
</p:sld>
</file>

<file path=ppt/slides/slide2.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37F885AC-4525-4C9B-BF6A-AB8B8562C348}"/>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8B5CF6">
              <a:alpha val="13000"/>
            </a:srgbClr>
          </a:solidFill>
          <a:ln xmlns:a="http://schemas.openxmlformats.org/drawingml/2006/main" w="9525">
            <a:solidFill>
              <a:srgbClr val="8B5CF6">
                <a:alpha val="22000"/>
              </a:srgbClr>
            </a:solidFill>
            <a:prstDash val="solid"/>
          </a:ln>
        </p:spPr>
      </p:sp>
      <p:sp>
        <p:nvSpPr>
          <p:cNvPr id="2" name="">
            <a:extLst xmlns:a="http://schemas.openxmlformats.org/drawingml/2006/main">
              <a:ext uri="{FF2B5EF4-FFF2-40B4-BE49-F238E27FC236}">
                <a16:creationId xmlns:a16="http://schemas.microsoft.com/office/drawing/2014/main" id="{7F7EE0D7-45C6-426C-89C0-0A32E301CDA9}"/>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6941C6"/>
                </a:solidFill>
                <a:latin typeface="Aptos"/>
                <a:ea typeface="Aptos"/>
                <a:cs typeface="Aptos"/>
              </a:defRPr>
            </a:pPr>
            <a:r>
              <a:rPr sz="975" b="1">
                <a:solidFill>
                  <a:srgbClr val="6941C6"/>
                </a:solidFill>
                <a:latin typeface="Aptos"/>
                <a:ea typeface="Aptos"/>
                <a:cs typeface="Aptos"/>
              </a:rPr>
              <a:t>RESEARCH FRAME</a:t>
            </a:r>
          </a:p>
        </p:txBody>
      </p:sp>
      <p:sp>
        <p:nvSpPr>
          <p:cNvPr id="3" name="">
            <a:extLst xmlns:a="http://schemas.openxmlformats.org/drawingml/2006/main">
              <a:ext uri="{FF2B5EF4-FFF2-40B4-BE49-F238E27FC236}">
                <a16:creationId xmlns:a16="http://schemas.microsoft.com/office/drawing/2014/main" id="{EA424EE7-2107-4281-AA00-B04C1A06D63F}"/>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9525">
            <a:solidFill>
              <a:srgbClr val="8B5CF6">
                <a:alpha val="22000"/>
              </a:srgbClr>
            </a:solidFill>
            <a:prstDash val="solid"/>
          </a:ln>
        </p:spPr>
      </p:sp>
      <p:sp>
        <p:nvSpPr>
          <p:cNvPr id="4" name="">
            <a:extLst xmlns:a="http://schemas.openxmlformats.org/drawingml/2006/main">
              <a:ext uri="{FF2B5EF4-FFF2-40B4-BE49-F238E27FC236}">
                <a16:creationId xmlns:a16="http://schemas.microsoft.com/office/drawing/2014/main" id="{85D6316C-1E33-4093-A1F4-D212F92DE995}"/>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02</a:t>
            </a:r>
          </a:p>
        </p:txBody>
      </p:sp>
      <p:sp>
        <p:nvSpPr>
          <p:cNvPr id="5" name="">
            <a:extLst xmlns:a="http://schemas.openxmlformats.org/drawingml/2006/main">
              <a:ext uri="{FF2B5EF4-FFF2-40B4-BE49-F238E27FC236}">
                <a16:creationId xmlns:a16="http://schemas.microsoft.com/office/drawing/2014/main" id="{7A539EEB-35C5-418E-AB7B-BFFE0212EA6B}"/>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475467"/>
                </a:solidFill>
                <a:latin typeface="Aptos"/>
                <a:ea typeface="Aptos"/>
                <a:cs typeface="Aptos"/>
              </a:defRPr>
            </a:pPr>
            <a:r>
              <a:rPr sz="825" b="1">
                <a:solidFill>
                  <a:srgbClr val="475467"/>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561945D5-BE78-40CD-92CF-458D473F3A25}"/>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E9C7FC4A-1F01-4B22-B61A-1703D311ABE1}"/>
              </a:ext>
            </a:extLst>
          </p:cNvPr>
          <p:cNvSpPr>
            <a:spLocks xmlns:a="http://schemas.openxmlformats.org/drawingml/2006/main" noGrp="1"/>
          </p:cNvSpPr>
          <p:nvPr/>
        </p:nvSpPr>
        <p:spPr>
          <a:xfrm xmlns:a="http://schemas.openxmlformats.org/drawingml/2006/main">
            <a:off x="8420100" y="6486525"/>
            <a:ext cx="392206" cy="3810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solidFill>
              <a:srgbClr val="8B5CF6"/>
            </a:solidFill>
            <a:prstDash val="solid"/>
          </a:ln>
        </p:spPr>
      </p:sp>
      <p:sp>
        <p:nvSpPr>
          <p:cNvPr id="8" name="">
            <a:extLst xmlns:a="http://schemas.openxmlformats.org/drawingml/2006/main">
              <a:ext uri="{FF2B5EF4-FFF2-40B4-BE49-F238E27FC236}">
                <a16:creationId xmlns:a16="http://schemas.microsoft.com/office/drawing/2014/main" id="{9F716779-3F88-4AE7-BD0C-D808BE8F2630}"/>
              </a:ext>
            </a:extLst>
          </p:cNvPr>
          <p:cNvSpPr>
            <a:spLocks xmlns:a="http://schemas.openxmlformats.org/drawingml/2006/main" noGrp="1"/>
          </p:cNvSpPr>
          <p:nvPr/>
        </p:nvSpPr>
        <p:spPr>
          <a:xfrm xmlns:a="http://schemas.openxmlformats.org/drawingml/2006/main">
            <a:off x="419100" y="819150"/>
            <a:ext cx="8572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300" b="1">
                <a:solidFill>
                  <a:srgbClr val="14213D"/>
                </a:solidFill>
                <a:latin typeface="Aptos"/>
                <a:ea typeface="Aptos"/>
                <a:cs typeface="Aptos"/>
              </a:defRPr>
            </a:pPr>
            <a:r>
              <a:rPr sz="3300" b="1">
                <a:solidFill>
                  <a:srgbClr val="14213D"/>
                </a:solidFill>
                <a:latin typeface="Aptos"/>
                <a:ea typeface="Aptos"/>
                <a:cs typeface="Aptos"/>
              </a:rPr>
              <a:t>Yield is a regime, not a rank</a:t>
            </a:r>
          </a:p>
        </p:txBody>
      </p:sp>
      <p:sp>
        <p:nvSpPr>
          <p:cNvPr id="9" name="">
            <a:extLst xmlns:a="http://schemas.openxmlformats.org/drawingml/2006/main">
              <a:ext uri="{FF2B5EF4-FFF2-40B4-BE49-F238E27FC236}">
                <a16:creationId xmlns:a16="http://schemas.microsoft.com/office/drawing/2014/main" id="{3CDCB06D-E573-4A12-AC8D-67B87654E9E0}"/>
              </a:ext>
            </a:extLst>
          </p:cNvPr>
          <p:cNvSpPr>
            <a:spLocks xmlns:a="http://schemas.openxmlformats.org/drawingml/2006/main" noGrp="1"/>
          </p:cNvSpPr>
          <p:nvPr/>
        </p:nvSpPr>
        <p:spPr>
          <a:xfrm xmlns:a="http://schemas.openxmlformats.org/drawingml/2006/main">
            <a:off x="419100" y="1409700"/>
            <a:ext cx="962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475467"/>
                </a:solidFill>
                <a:latin typeface="Aptos"/>
                <a:ea typeface="Aptos"/>
                <a:cs typeface="Aptos"/>
              </a:defRPr>
            </a:pPr>
            <a:r>
              <a:rPr sz="1575" b="0">
                <a:solidFill>
                  <a:srgbClr val="475467"/>
                </a:solidFill>
                <a:latin typeface="Aptos"/>
                <a:ea typeface="Aptos"/>
                <a:cs typeface="Aptos"/>
              </a:rPr>
              <a:t>APY = quoted annualized yield. TVL = total value locked, measured in USD.</a:t>
            </a:r>
          </a:p>
        </p:txBody>
      </p:sp>
      <p:sp>
        <p:nvSpPr>
          <p:cNvPr id="10" name="">
            <a:extLst xmlns:a="http://schemas.openxmlformats.org/drawingml/2006/main">
              <a:ext uri="{FF2B5EF4-FFF2-40B4-BE49-F238E27FC236}">
                <a16:creationId xmlns:a16="http://schemas.microsoft.com/office/drawing/2014/main" id="{A78CFC70-239B-43E0-BB80-FD81CB5A7A66}"/>
              </a:ext>
            </a:extLst>
          </p:cNvPr>
          <p:cNvSpPr>
            <a:spLocks xmlns:a="http://schemas.openxmlformats.org/drawingml/2006/main" noGrp="1"/>
          </p:cNvSpPr>
          <p:nvPr/>
        </p:nvSpPr>
        <p:spPr>
          <a:xfrm xmlns:a="http://schemas.openxmlformats.org/drawingml/2006/main">
            <a:off x="419100" y="2038350"/>
            <a:ext cx="3905250" cy="3714750"/>
          </a:xfrm>
          <a:prstGeom xmlns:a="http://schemas.openxmlformats.org/drawingml/2006/main" prst="roundRect">
            <a:avLst>
              <a:gd name="adj" fmla="val 7692"/>
            </a:avLst>
          </a:prstGeom>
          <a:gradFill xmlns:a="http://schemas.openxmlformats.org/drawingml/2006/main">
            <a:gsLst>
              <a:gs pos="0">
                <a:srgbClr val="4F7CFF"/>
              </a:gs>
              <a:gs pos="58000">
                <a:srgbClr val="6B63E8"/>
              </a:gs>
              <a:gs pos="100000">
                <a:srgbClr val="8B5CF6"/>
              </a:gs>
            </a:gsLst>
            <a:lin ang="8700000"/>
          </a:gradFill>
          <a:ln xmlns:a="http://schemas.openxmlformats.org/drawingml/2006/main" w="0">
            <a:gradFill>
              <a:gsLst>
                <a:gs pos="0">
                  <a:srgbClr val="4F7CFF"/>
                </a:gs>
                <a:gs pos="58000">
                  <a:srgbClr val="6B63E8"/>
                </a:gs>
                <a:gs pos="100000">
                  <a:srgbClr val="8B5CF6"/>
                </a:gs>
              </a:gsLst>
              <a:lin ang="8700000"/>
            </a:gra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E577845C-5632-4283-848E-0180DDCCCBD9}"/>
              </a:ext>
            </a:extLst>
          </p:cNvPr>
          <p:cNvSpPr>
            <a:spLocks xmlns:a="http://schemas.openxmlformats.org/drawingml/2006/main" noGrp="1"/>
          </p:cNvSpPr>
          <p:nvPr/>
        </p:nvSpPr>
        <p:spPr>
          <a:xfrm xmlns:a="http://schemas.openxmlformats.org/drawingml/2006/main">
            <a:off x="723900" y="23622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DDE6FF"/>
                </a:solidFill>
                <a:latin typeface="Aptos"/>
                <a:ea typeface="Aptos"/>
                <a:cs typeface="Aptos"/>
              </a:defRPr>
            </a:pPr>
            <a:r>
              <a:rPr sz="1050" b="1">
                <a:solidFill>
                  <a:srgbClr val="DDE6FF"/>
                </a:solidFill>
                <a:latin typeface="Aptos"/>
                <a:ea typeface="Aptos"/>
                <a:cs typeface="Aptos"/>
              </a:rPr>
              <a:t>ONE ANALYTICAL GRAIN</a:t>
            </a:r>
          </a:p>
        </p:txBody>
      </p:sp>
      <p:sp>
        <p:nvSpPr>
          <p:cNvPr id="12" name="">
            <a:extLst xmlns:a="http://schemas.openxmlformats.org/drawingml/2006/main">
              <a:ext uri="{FF2B5EF4-FFF2-40B4-BE49-F238E27FC236}">
                <a16:creationId xmlns:a16="http://schemas.microsoft.com/office/drawing/2014/main" id="{3CACB3A8-EDB2-4A91-A5E0-FFD82322B5D6}"/>
              </a:ext>
            </a:extLst>
          </p:cNvPr>
          <p:cNvSpPr>
            <a:spLocks xmlns:a="http://schemas.openxmlformats.org/drawingml/2006/main" noGrp="1"/>
          </p:cNvSpPr>
          <p:nvPr/>
        </p:nvSpPr>
        <p:spPr>
          <a:xfrm xmlns:a="http://schemas.openxmlformats.org/drawingml/2006/main">
            <a:off x="723900" y="278130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FFFFFF"/>
                </a:solidFill>
                <a:latin typeface="Aptos"/>
                <a:ea typeface="Aptos"/>
                <a:cs typeface="Aptos"/>
              </a:defRPr>
            </a:pPr>
            <a:r>
              <a:rPr sz="3600" b="1">
                <a:solidFill>
                  <a:srgbClr val="FFFFFF"/>
                </a:solidFill>
                <a:latin typeface="Aptos"/>
                <a:ea typeface="Aptos"/>
                <a:cs typeface="Aptos"/>
              </a:rPr>
              <a:t>POOL × DAY</a:t>
            </a:r>
          </a:p>
        </p:txBody>
      </p:sp>
      <p:sp>
        <p:nvSpPr>
          <p:cNvPr id="13" name="">
            <a:extLst xmlns:a="http://schemas.openxmlformats.org/drawingml/2006/main">
              <a:ext uri="{FF2B5EF4-FFF2-40B4-BE49-F238E27FC236}">
                <a16:creationId xmlns:a16="http://schemas.microsoft.com/office/drawing/2014/main" id="{A8E71E19-0D42-41CA-BFAA-8BDCABF64EBA}"/>
              </a:ext>
            </a:extLst>
          </p:cNvPr>
          <p:cNvSpPr>
            <a:spLocks xmlns:a="http://schemas.openxmlformats.org/drawingml/2006/main" noGrp="1"/>
          </p:cNvSpPr>
          <p:nvPr/>
        </p:nvSpPr>
        <p:spPr>
          <a:xfrm xmlns:a="http://schemas.openxmlformats.org/drawingml/2006/main">
            <a:off x="723900" y="3619500"/>
            <a:ext cx="30289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defRPr sz="1575" b="0">
                <a:solidFill>
                  <a:srgbClr val="FFFFFF"/>
                </a:solidFill>
                <a:latin typeface="Aptos"/>
                <a:ea typeface="Aptos"/>
                <a:cs typeface="Aptos"/>
              </a:defRPr>
            </a:pPr>
            <a:r>
              <a:rPr sz="1575" b="0">
                <a:solidFill>
                  <a:srgbClr val="FFFFFF"/>
                </a:solidFill>
                <a:latin typeface="Aptos"/>
                <a:ea typeface="Aptos"/>
                <a:cs typeface="Aptos"/>
              </a:rPr>
              <a:t>Each observation connects yield level, capacity, mechanism and market context at a defensible temporal resolution.</a:t>
            </a:r>
          </a:p>
        </p:txBody>
      </p:sp>
      <p:sp>
        <p:nvSpPr>
          <p:cNvPr id="14" name="">
            <a:extLst xmlns:a="http://schemas.openxmlformats.org/drawingml/2006/main">
              <a:ext uri="{FF2B5EF4-FFF2-40B4-BE49-F238E27FC236}">
                <a16:creationId xmlns:a16="http://schemas.microsoft.com/office/drawing/2014/main" id="{A44B4566-5B14-4015-AA1F-D06BBB0C00BA}"/>
              </a:ext>
            </a:extLst>
          </p:cNvPr>
          <p:cNvSpPr>
            <a:spLocks xmlns:a="http://schemas.openxmlformats.org/drawingml/2006/main" noGrp="1"/>
          </p:cNvSpPr>
          <p:nvPr/>
        </p:nvSpPr>
        <p:spPr>
          <a:xfrm xmlns:a="http://schemas.openxmlformats.org/drawingml/2006/main">
            <a:off x="723900" y="4819650"/>
            <a:ext cx="3028950" cy="19050"/>
          </a:xfrm>
          <a:prstGeom xmlns:a="http://schemas.openxmlformats.org/drawingml/2006/main" prst="line">
            <a:avLst/>
          </a:prstGeom>
          <a:noFill xmlns:a="http://schemas.openxmlformats.org/drawingml/2006/main"/>
          <a:ln xmlns:a="http://schemas.openxmlformats.org/drawingml/2006/main" w="19050">
            <a:solidFill>
              <a:srgbClr val="FFFFFF">
                <a:alpha val="28000"/>
              </a:srgbClr>
            </a:solidFill>
            <a:prstDash val="solid"/>
          </a:ln>
        </p:spPr>
      </p:sp>
      <p:sp>
        <p:nvSpPr>
          <p:cNvPr id="15" name="">
            <a:extLst xmlns:a="http://schemas.openxmlformats.org/drawingml/2006/main">
              <a:ext uri="{FF2B5EF4-FFF2-40B4-BE49-F238E27FC236}">
                <a16:creationId xmlns:a16="http://schemas.microsoft.com/office/drawing/2014/main" id="{CC5256F3-1E3D-47C9-8779-B93B21E91FF6}"/>
              </a:ext>
            </a:extLst>
          </p:cNvPr>
          <p:cNvSpPr>
            <a:spLocks xmlns:a="http://schemas.openxmlformats.org/drawingml/2006/main" noGrp="1"/>
          </p:cNvSpPr>
          <p:nvPr/>
        </p:nvSpPr>
        <p:spPr>
          <a:xfrm xmlns:a="http://schemas.openxmlformats.org/drawingml/2006/main">
            <a:off x="723900" y="5010150"/>
            <a:ext cx="30289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E9E7FF"/>
                </a:solidFill>
                <a:latin typeface="Aptos"/>
                <a:ea typeface="Aptos"/>
                <a:cs typeface="Aptos"/>
              </a:defRPr>
            </a:pPr>
            <a:r>
              <a:rPr sz="1200" b="0">
                <a:solidFill>
                  <a:srgbClr val="E9E7FF"/>
                </a:solidFill>
                <a:latin typeface="Aptos"/>
                <a:ea typeface="Aptos"/>
                <a:cs typeface="Aptos"/>
              </a:rPr>
              <a:t>Boundary: APY is quoted annualized APY. TVL change is an observed proxy, not direct wallet-level flow.</a:t>
            </a:r>
          </a:p>
        </p:txBody>
      </p:sp>
      <p:sp>
        <p:nvSpPr>
          <p:cNvPr id="16" name="">
            <a:extLst xmlns:a="http://schemas.openxmlformats.org/drawingml/2006/main">
              <a:ext uri="{FF2B5EF4-FFF2-40B4-BE49-F238E27FC236}">
                <a16:creationId xmlns:a16="http://schemas.microsoft.com/office/drawing/2014/main" id="{D2893F1E-E874-4628-882A-0CBC33B08A67}"/>
              </a:ext>
            </a:extLst>
          </p:cNvPr>
          <p:cNvSpPr>
            <a:spLocks xmlns:a="http://schemas.openxmlformats.org/drawingml/2006/main" noGrp="1"/>
          </p:cNvSpPr>
          <p:nvPr/>
        </p:nvSpPr>
        <p:spPr>
          <a:xfrm xmlns:a="http://schemas.openxmlformats.org/drawingml/2006/main">
            <a:off x="4686300" y="2038350"/>
            <a:ext cx="7067550" cy="371475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CE4F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956C0166-DDDF-4A0F-BD27-56DEDEF5AD5E}"/>
              </a:ext>
            </a:extLst>
          </p:cNvPr>
          <p:cNvSpPr>
            <a:spLocks xmlns:a="http://schemas.openxmlformats.org/drawingml/2006/main" noGrp="1"/>
          </p:cNvSpPr>
          <p:nvPr/>
        </p:nvSpPr>
        <p:spPr>
          <a:xfrm xmlns:a="http://schemas.openxmlformats.org/drawingml/2006/main">
            <a:off x="4972050" y="2305050"/>
            <a:ext cx="495300" cy="361950"/>
          </a:xfrm>
          <a:prstGeom xmlns:a="http://schemas.openxmlformats.org/drawingml/2006/main" prst="roundRect">
            <a:avLst>
              <a:gd name="adj" fmla="val 50000"/>
            </a:avLst>
          </a:prstGeom>
          <a:solidFill xmlns:a="http://schemas.openxmlformats.org/drawingml/2006/main">
            <a:srgbClr val="8B5CF6">
              <a:alpha val="14000"/>
            </a:srgbClr>
          </a:solidFill>
          <a:ln xmlns:a="http://schemas.openxmlformats.org/drawingml/2006/main" w="9525">
            <a:solidFill>
              <a:srgbClr val="8B5CF6">
                <a:alpha val="22000"/>
              </a:srgbClr>
            </a:solidFill>
            <a:prstDash val="solid"/>
          </a:ln>
        </p:spPr>
      </p:sp>
      <p:sp>
        <p:nvSpPr>
          <p:cNvPr id="18" name="">
            <a:extLst xmlns:a="http://schemas.openxmlformats.org/drawingml/2006/main">
              <a:ext uri="{FF2B5EF4-FFF2-40B4-BE49-F238E27FC236}">
                <a16:creationId xmlns:a16="http://schemas.microsoft.com/office/drawing/2014/main" id="{415A6F9A-735E-4CA6-B313-6007F6EFB359}"/>
              </a:ext>
            </a:extLst>
          </p:cNvPr>
          <p:cNvSpPr>
            <a:spLocks xmlns:a="http://schemas.openxmlformats.org/drawingml/2006/main" noGrp="1"/>
          </p:cNvSpPr>
          <p:nvPr/>
        </p:nvSpPr>
        <p:spPr>
          <a:xfrm xmlns:a="http://schemas.openxmlformats.org/drawingml/2006/main">
            <a:off x="5086350" y="231457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6941C6"/>
                </a:solidFill>
                <a:latin typeface="Aptos"/>
                <a:ea typeface="Aptos"/>
                <a:cs typeface="Aptos"/>
              </a:defRPr>
            </a:pPr>
            <a:r>
              <a:rPr sz="1125" b="1">
                <a:solidFill>
                  <a:srgbClr val="6941C6"/>
                </a:solidFill>
                <a:latin typeface="Aptos"/>
                <a:ea typeface="Aptos"/>
                <a:cs typeface="Aptos"/>
              </a:rPr>
              <a:t>01</a:t>
            </a:r>
          </a:p>
        </p:txBody>
      </p:sp>
      <p:sp>
        <p:nvSpPr>
          <p:cNvPr id="19" name="">
            <a:extLst xmlns:a="http://schemas.openxmlformats.org/drawingml/2006/main">
              <a:ext uri="{FF2B5EF4-FFF2-40B4-BE49-F238E27FC236}">
                <a16:creationId xmlns:a16="http://schemas.microsoft.com/office/drawing/2014/main" id="{6198C7B7-1859-4B7E-9356-BF9A4F9B09A4}"/>
              </a:ext>
            </a:extLst>
          </p:cNvPr>
          <p:cNvSpPr>
            <a:spLocks xmlns:a="http://schemas.openxmlformats.org/drawingml/2006/main" noGrp="1"/>
          </p:cNvSpPr>
          <p:nvPr/>
        </p:nvSpPr>
        <p:spPr>
          <a:xfrm xmlns:a="http://schemas.openxmlformats.org/drawingml/2006/main">
            <a:off x="5676900" y="2286000"/>
            <a:ext cx="552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4213D"/>
                </a:solidFill>
                <a:latin typeface="Aptos"/>
                <a:ea typeface="Aptos"/>
                <a:cs typeface="Aptos"/>
              </a:defRPr>
            </a:pPr>
            <a:r>
              <a:rPr sz="1500" b="1">
                <a:solidFill>
                  <a:srgbClr val="14213D"/>
                </a:solidFill>
                <a:latin typeface="Aptos"/>
                <a:ea typeface="Aptos"/>
                <a:cs typeface="Aptos"/>
              </a:rPr>
              <a:t>How long do episodes at or above 10% APY last?</a:t>
            </a:r>
          </a:p>
        </p:txBody>
      </p:sp>
      <p:sp>
        <p:nvSpPr>
          <p:cNvPr id="20" name="">
            <a:extLst xmlns:a="http://schemas.openxmlformats.org/drawingml/2006/main">
              <a:ext uri="{FF2B5EF4-FFF2-40B4-BE49-F238E27FC236}">
                <a16:creationId xmlns:a16="http://schemas.microsoft.com/office/drawing/2014/main" id="{FB6ED078-1E79-44FF-B2BB-517CEBFA2D65}"/>
              </a:ext>
            </a:extLst>
          </p:cNvPr>
          <p:cNvSpPr>
            <a:spLocks xmlns:a="http://schemas.openxmlformats.org/drawingml/2006/main" noGrp="1"/>
          </p:cNvSpPr>
          <p:nvPr/>
        </p:nvSpPr>
        <p:spPr>
          <a:xfrm xmlns:a="http://schemas.openxmlformats.org/drawingml/2006/main">
            <a:off x="4972050" y="2828925"/>
            <a:ext cx="6419850" cy="9525"/>
          </a:xfrm>
          <a:prstGeom xmlns:a="http://schemas.openxmlformats.org/drawingml/2006/main" prst="line">
            <a:avLst/>
          </a:prstGeom>
          <a:noFill xmlns:a="http://schemas.openxmlformats.org/drawingml/2006/main"/>
          <a:ln xmlns:a="http://schemas.openxmlformats.org/drawingml/2006/main" w="9525">
            <a:solidFill>
              <a:srgbClr val="DCE4F2"/>
            </a:solidFill>
            <a:prstDash val="solid"/>
          </a:ln>
        </p:spPr>
      </p:sp>
      <p:sp>
        <p:nvSpPr>
          <p:cNvPr id="21" name="">
            <a:extLst xmlns:a="http://schemas.openxmlformats.org/drawingml/2006/main">
              <a:ext uri="{FF2B5EF4-FFF2-40B4-BE49-F238E27FC236}">
                <a16:creationId xmlns:a16="http://schemas.microsoft.com/office/drawing/2014/main" id="{6BFEFCD3-6EE4-4A10-BA33-014992813386}"/>
              </a:ext>
            </a:extLst>
          </p:cNvPr>
          <p:cNvSpPr>
            <a:spLocks xmlns:a="http://schemas.openxmlformats.org/drawingml/2006/main" noGrp="1"/>
          </p:cNvSpPr>
          <p:nvPr/>
        </p:nvSpPr>
        <p:spPr>
          <a:xfrm xmlns:a="http://schemas.openxmlformats.org/drawingml/2006/main">
            <a:off x="4972050" y="2971800"/>
            <a:ext cx="495300" cy="361950"/>
          </a:xfrm>
          <a:prstGeom xmlns:a="http://schemas.openxmlformats.org/drawingml/2006/main" prst="roundRect">
            <a:avLst>
              <a:gd name="adj" fmla="val 50000"/>
            </a:avLst>
          </a:prstGeom>
          <a:solidFill xmlns:a="http://schemas.openxmlformats.org/drawingml/2006/main">
            <a:srgbClr val="23C9D8">
              <a:alpha val="14000"/>
            </a:srgbClr>
          </a:solidFill>
          <a:ln xmlns:a="http://schemas.openxmlformats.org/drawingml/2006/main" w="9525">
            <a:solidFill>
              <a:srgbClr val="23C9D8">
                <a:alpha val="22000"/>
              </a:srgbClr>
            </a:solidFill>
            <a:prstDash val="solid"/>
          </a:ln>
        </p:spPr>
      </p:sp>
      <p:sp>
        <p:nvSpPr>
          <p:cNvPr id="22" name="">
            <a:extLst xmlns:a="http://schemas.openxmlformats.org/drawingml/2006/main">
              <a:ext uri="{FF2B5EF4-FFF2-40B4-BE49-F238E27FC236}">
                <a16:creationId xmlns:a16="http://schemas.microsoft.com/office/drawing/2014/main" id="{CABBAE94-E886-4757-8892-6BFA5FDB293D}"/>
              </a:ext>
            </a:extLst>
          </p:cNvPr>
          <p:cNvSpPr>
            <a:spLocks xmlns:a="http://schemas.openxmlformats.org/drawingml/2006/main" noGrp="1"/>
          </p:cNvSpPr>
          <p:nvPr/>
        </p:nvSpPr>
        <p:spPr>
          <a:xfrm xmlns:a="http://schemas.openxmlformats.org/drawingml/2006/main">
            <a:off x="5086350" y="29813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087A88"/>
                </a:solidFill>
                <a:latin typeface="Aptos"/>
                <a:ea typeface="Aptos"/>
                <a:cs typeface="Aptos"/>
              </a:defRPr>
            </a:pPr>
            <a:r>
              <a:rPr sz="1125" b="1">
                <a:solidFill>
                  <a:srgbClr val="087A88"/>
                </a:solidFill>
                <a:latin typeface="Aptos"/>
                <a:ea typeface="Aptos"/>
                <a:cs typeface="Aptos"/>
              </a:rPr>
              <a:t>02</a:t>
            </a:r>
          </a:p>
        </p:txBody>
      </p:sp>
      <p:sp>
        <p:nvSpPr>
          <p:cNvPr id="23" name="">
            <a:extLst xmlns:a="http://schemas.openxmlformats.org/drawingml/2006/main">
              <a:ext uri="{FF2B5EF4-FFF2-40B4-BE49-F238E27FC236}">
                <a16:creationId xmlns:a16="http://schemas.microsoft.com/office/drawing/2014/main" id="{637EDB59-8BAB-4DCA-AA17-8B7FE2133E23}"/>
              </a:ext>
            </a:extLst>
          </p:cNvPr>
          <p:cNvSpPr>
            <a:spLocks xmlns:a="http://schemas.openxmlformats.org/drawingml/2006/main" noGrp="1"/>
          </p:cNvSpPr>
          <p:nvPr/>
        </p:nvSpPr>
        <p:spPr>
          <a:xfrm xmlns:a="http://schemas.openxmlformats.org/drawingml/2006/main">
            <a:off x="5676900" y="2952750"/>
            <a:ext cx="552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4213D"/>
                </a:solidFill>
                <a:latin typeface="Aptos"/>
                <a:ea typeface="Aptos"/>
                <a:cs typeface="Aptos"/>
              </a:defRPr>
            </a:pPr>
            <a:r>
              <a:rPr sz="1500" b="0">
                <a:solidFill>
                  <a:srgbClr val="14213D"/>
                </a:solidFill>
                <a:latin typeface="Aptos"/>
                <a:ea typeface="Aptos"/>
                <a:cs typeface="Aptos"/>
              </a:rPr>
              <a:t>Which mechanisms explain headline APY?</a:t>
            </a:r>
          </a:p>
        </p:txBody>
      </p:sp>
      <p:sp>
        <p:nvSpPr>
          <p:cNvPr id="24" name="">
            <a:extLst xmlns:a="http://schemas.openxmlformats.org/drawingml/2006/main">
              <a:ext uri="{FF2B5EF4-FFF2-40B4-BE49-F238E27FC236}">
                <a16:creationId xmlns:a16="http://schemas.microsoft.com/office/drawing/2014/main" id="{47C3803A-8979-4096-9B54-EDC9660FA82F}"/>
              </a:ext>
            </a:extLst>
          </p:cNvPr>
          <p:cNvSpPr>
            <a:spLocks xmlns:a="http://schemas.openxmlformats.org/drawingml/2006/main" noGrp="1"/>
          </p:cNvSpPr>
          <p:nvPr/>
        </p:nvSpPr>
        <p:spPr>
          <a:xfrm xmlns:a="http://schemas.openxmlformats.org/drawingml/2006/main">
            <a:off x="4972050" y="3495675"/>
            <a:ext cx="6419850" cy="9525"/>
          </a:xfrm>
          <a:prstGeom xmlns:a="http://schemas.openxmlformats.org/drawingml/2006/main" prst="line">
            <a:avLst/>
          </a:prstGeom>
          <a:noFill xmlns:a="http://schemas.openxmlformats.org/drawingml/2006/main"/>
          <a:ln xmlns:a="http://schemas.openxmlformats.org/drawingml/2006/main" w="9525">
            <a:solidFill>
              <a:srgbClr val="DCE4F2"/>
            </a:solidFill>
            <a:prstDash val="solid"/>
          </a:ln>
        </p:spPr>
      </p:sp>
      <p:sp>
        <p:nvSpPr>
          <p:cNvPr id="25" name="">
            <a:extLst xmlns:a="http://schemas.openxmlformats.org/drawingml/2006/main">
              <a:ext uri="{FF2B5EF4-FFF2-40B4-BE49-F238E27FC236}">
                <a16:creationId xmlns:a16="http://schemas.microsoft.com/office/drawing/2014/main" id="{375D6864-4A6E-45CF-8EA3-B865EEE31ACE}"/>
              </a:ext>
            </a:extLst>
          </p:cNvPr>
          <p:cNvSpPr>
            <a:spLocks xmlns:a="http://schemas.openxmlformats.org/drawingml/2006/main" noGrp="1"/>
          </p:cNvSpPr>
          <p:nvPr/>
        </p:nvSpPr>
        <p:spPr>
          <a:xfrm xmlns:a="http://schemas.openxmlformats.org/drawingml/2006/main">
            <a:off x="4972050" y="3638550"/>
            <a:ext cx="495300" cy="361950"/>
          </a:xfrm>
          <a:prstGeom xmlns:a="http://schemas.openxmlformats.org/drawingml/2006/main" prst="roundRect">
            <a:avLst>
              <a:gd name="adj" fmla="val 50000"/>
            </a:avLst>
          </a:prstGeom>
          <a:solidFill xmlns:a="http://schemas.openxmlformats.org/drawingml/2006/main">
            <a:srgbClr val="4F7CFF">
              <a:alpha val="14000"/>
            </a:srgbClr>
          </a:solidFill>
          <a:ln xmlns:a="http://schemas.openxmlformats.org/drawingml/2006/main" w="9525">
            <a:solidFill>
              <a:srgbClr val="4F7CFF">
                <a:alpha val="22000"/>
              </a:srgbClr>
            </a:solidFill>
            <a:prstDash val="solid"/>
          </a:ln>
        </p:spPr>
      </p:sp>
      <p:sp>
        <p:nvSpPr>
          <p:cNvPr id="26" name="">
            <a:extLst xmlns:a="http://schemas.openxmlformats.org/drawingml/2006/main">
              <a:ext uri="{FF2B5EF4-FFF2-40B4-BE49-F238E27FC236}">
                <a16:creationId xmlns:a16="http://schemas.microsoft.com/office/drawing/2014/main" id="{962C1D68-0880-4172-A005-EA152686B0B8}"/>
              </a:ext>
            </a:extLst>
          </p:cNvPr>
          <p:cNvSpPr>
            <a:spLocks xmlns:a="http://schemas.openxmlformats.org/drawingml/2006/main" noGrp="1"/>
          </p:cNvSpPr>
          <p:nvPr/>
        </p:nvSpPr>
        <p:spPr>
          <a:xfrm xmlns:a="http://schemas.openxmlformats.org/drawingml/2006/main">
            <a:off x="5086350" y="364807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3159C9"/>
                </a:solidFill>
                <a:latin typeface="Aptos"/>
                <a:ea typeface="Aptos"/>
                <a:cs typeface="Aptos"/>
              </a:defRPr>
            </a:pPr>
            <a:r>
              <a:rPr sz="1125" b="1">
                <a:solidFill>
                  <a:srgbClr val="3159C9"/>
                </a:solidFill>
                <a:latin typeface="Aptos"/>
                <a:ea typeface="Aptos"/>
                <a:cs typeface="Aptos"/>
              </a:rPr>
              <a:t>03</a:t>
            </a:r>
          </a:p>
        </p:txBody>
      </p:sp>
      <p:sp>
        <p:nvSpPr>
          <p:cNvPr id="27" name="">
            <a:extLst xmlns:a="http://schemas.openxmlformats.org/drawingml/2006/main">
              <a:ext uri="{FF2B5EF4-FFF2-40B4-BE49-F238E27FC236}">
                <a16:creationId xmlns:a16="http://schemas.microsoft.com/office/drawing/2014/main" id="{E42D5E44-E577-46DA-9BE0-C765F81C070E}"/>
              </a:ext>
            </a:extLst>
          </p:cNvPr>
          <p:cNvSpPr>
            <a:spLocks xmlns:a="http://schemas.openxmlformats.org/drawingml/2006/main" noGrp="1"/>
          </p:cNvSpPr>
          <p:nvPr/>
        </p:nvSpPr>
        <p:spPr>
          <a:xfrm xmlns:a="http://schemas.openxmlformats.org/drawingml/2006/main">
            <a:off x="5676900" y="3619500"/>
            <a:ext cx="552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4213D"/>
                </a:solidFill>
                <a:latin typeface="Aptos"/>
                <a:ea typeface="Aptos"/>
                <a:cs typeface="Aptos"/>
              </a:defRPr>
            </a:pPr>
            <a:r>
              <a:rPr sz="1500" b="0">
                <a:solidFill>
                  <a:srgbClr val="14213D"/>
                </a:solidFill>
                <a:latin typeface="Aptos"/>
                <a:ea typeface="Aptos"/>
                <a:cs typeface="Aptos"/>
              </a:rPr>
              <a:t>How stable are top-yield rankings?</a:t>
            </a:r>
          </a:p>
        </p:txBody>
      </p:sp>
      <p:sp>
        <p:nvSpPr>
          <p:cNvPr id="28" name="">
            <a:extLst xmlns:a="http://schemas.openxmlformats.org/drawingml/2006/main">
              <a:ext uri="{FF2B5EF4-FFF2-40B4-BE49-F238E27FC236}">
                <a16:creationId xmlns:a16="http://schemas.microsoft.com/office/drawing/2014/main" id="{05C6E563-EF80-45CB-9EB7-01BCDDCE8567}"/>
              </a:ext>
            </a:extLst>
          </p:cNvPr>
          <p:cNvSpPr>
            <a:spLocks xmlns:a="http://schemas.openxmlformats.org/drawingml/2006/main" noGrp="1"/>
          </p:cNvSpPr>
          <p:nvPr/>
        </p:nvSpPr>
        <p:spPr>
          <a:xfrm xmlns:a="http://schemas.openxmlformats.org/drawingml/2006/main">
            <a:off x="4972050" y="4162425"/>
            <a:ext cx="6419850" cy="9525"/>
          </a:xfrm>
          <a:prstGeom xmlns:a="http://schemas.openxmlformats.org/drawingml/2006/main" prst="line">
            <a:avLst/>
          </a:prstGeom>
          <a:noFill xmlns:a="http://schemas.openxmlformats.org/drawingml/2006/main"/>
          <a:ln xmlns:a="http://schemas.openxmlformats.org/drawingml/2006/main" w="9525">
            <a:solidFill>
              <a:srgbClr val="DCE4F2"/>
            </a:solidFill>
            <a:prstDash val="solid"/>
          </a:ln>
        </p:spPr>
      </p:sp>
      <p:sp>
        <p:nvSpPr>
          <p:cNvPr id="29" name="">
            <a:extLst xmlns:a="http://schemas.openxmlformats.org/drawingml/2006/main">
              <a:ext uri="{FF2B5EF4-FFF2-40B4-BE49-F238E27FC236}">
                <a16:creationId xmlns:a16="http://schemas.microsoft.com/office/drawing/2014/main" id="{01EB5CAA-695F-40FA-B102-5C4A5FAF5A5B}"/>
              </a:ext>
            </a:extLst>
          </p:cNvPr>
          <p:cNvSpPr>
            <a:spLocks xmlns:a="http://schemas.openxmlformats.org/drawingml/2006/main" noGrp="1"/>
          </p:cNvSpPr>
          <p:nvPr/>
        </p:nvSpPr>
        <p:spPr>
          <a:xfrm xmlns:a="http://schemas.openxmlformats.org/drawingml/2006/main">
            <a:off x="4972050" y="4305300"/>
            <a:ext cx="495300" cy="361950"/>
          </a:xfrm>
          <a:prstGeom xmlns:a="http://schemas.openxmlformats.org/drawingml/2006/main" prst="roundRect">
            <a:avLst>
              <a:gd name="adj" fmla="val 50000"/>
            </a:avLst>
          </a:prstGeom>
          <a:solidFill xmlns:a="http://schemas.openxmlformats.org/drawingml/2006/main">
            <a:srgbClr val="FF6B9D">
              <a:alpha val="14000"/>
            </a:srgbClr>
          </a:solidFill>
          <a:ln xmlns:a="http://schemas.openxmlformats.org/drawingml/2006/main" w="9525">
            <a:solidFill>
              <a:srgbClr val="FF6B9D">
                <a:alpha val="22000"/>
              </a:srgbClr>
            </a:solidFill>
            <a:prstDash val="solid"/>
          </a:ln>
        </p:spPr>
      </p:sp>
      <p:sp>
        <p:nvSpPr>
          <p:cNvPr id="30" name="">
            <a:extLst xmlns:a="http://schemas.openxmlformats.org/drawingml/2006/main">
              <a:ext uri="{FF2B5EF4-FFF2-40B4-BE49-F238E27FC236}">
                <a16:creationId xmlns:a16="http://schemas.microsoft.com/office/drawing/2014/main" id="{3C2A610F-3E61-4C3D-848D-E41382B23E25}"/>
              </a:ext>
            </a:extLst>
          </p:cNvPr>
          <p:cNvSpPr>
            <a:spLocks xmlns:a="http://schemas.openxmlformats.org/drawingml/2006/main" noGrp="1"/>
          </p:cNvSpPr>
          <p:nvPr/>
        </p:nvSpPr>
        <p:spPr>
          <a:xfrm xmlns:a="http://schemas.openxmlformats.org/drawingml/2006/main">
            <a:off x="5086350" y="43148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B52159"/>
                </a:solidFill>
                <a:latin typeface="Aptos"/>
                <a:ea typeface="Aptos"/>
                <a:cs typeface="Aptos"/>
              </a:defRPr>
            </a:pPr>
            <a:r>
              <a:rPr sz="1125" b="1">
                <a:solidFill>
                  <a:srgbClr val="B52159"/>
                </a:solidFill>
                <a:latin typeface="Aptos"/>
                <a:ea typeface="Aptos"/>
                <a:cs typeface="Aptos"/>
              </a:rPr>
              <a:t>04</a:t>
            </a:r>
          </a:p>
        </p:txBody>
      </p:sp>
      <p:sp>
        <p:nvSpPr>
          <p:cNvPr id="31" name="">
            <a:extLst xmlns:a="http://schemas.openxmlformats.org/drawingml/2006/main">
              <a:ext uri="{FF2B5EF4-FFF2-40B4-BE49-F238E27FC236}">
                <a16:creationId xmlns:a16="http://schemas.microsoft.com/office/drawing/2014/main" id="{170ACF9E-4B39-4673-AD69-94C10BBBBA1F}"/>
              </a:ext>
            </a:extLst>
          </p:cNvPr>
          <p:cNvSpPr>
            <a:spLocks xmlns:a="http://schemas.openxmlformats.org/drawingml/2006/main" noGrp="1"/>
          </p:cNvSpPr>
          <p:nvPr/>
        </p:nvSpPr>
        <p:spPr>
          <a:xfrm xmlns:a="http://schemas.openxmlformats.org/drawingml/2006/main">
            <a:off x="5676900" y="4286250"/>
            <a:ext cx="552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4213D"/>
                </a:solidFill>
                <a:latin typeface="Aptos"/>
                <a:ea typeface="Aptos"/>
                <a:cs typeface="Aptos"/>
              </a:defRPr>
            </a:pPr>
            <a:r>
              <a:rPr sz="1500" b="0">
                <a:solidFill>
                  <a:srgbClr val="14213D"/>
                </a:solidFill>
                <a:latin typeface="Aptos"/>
                <a:ea typeface="Aptos"/>
                <a:cs typeface="Aptos"/>
              </a:rPr>
              <a:t>What changes during peg stress?</a:t>
            </a:r>
          </a:p>
        </p:txBody>
      </p:sp>
      <p:sp>
        <p:nvSpPr>
          <p:cNvPr id="32" name="">
            <a:extLst xmlns:a="http://schemas.openxmlformats.org/drawingml/2006/main">
              <a:ext uri="{FF2B5EF4-FFF2-40B4-BE49-F238E27FC236}">
                <a16:creationId xmlns:a16="http://schemas.microsoft.com/office/drawing/2014/main" id="{E5C7B97A-CDF8-4C93-8557-96B6538D25A2}"/>
              </a:ext>
            </a:extLst>
          </p:cNvPr>
          <p:cNvSpPr>
            <a:spLocks xmlns:a="http://schemas.openxmlformats.org/drawingml/2006/main" noGrp="1"/>
          </p:cNvSpPr>
          <p:nvPr/>
        </p:nvSpPr>
        <p:spPr>
          <a:xfrm xmlns:a="http://schemas.openxmlformats.org/drawingml/2006/main">
            <a:off x="4972050" y="4829175"/>
            <a:ext cx="6419850" cy="9525"/>
          </a:xfrm>
          <a:prstGeom xmlns:a="http://schemas.openxmlformats.org/drawingml/2006/main" prst="line">
            <a:avLst/>
          </a:prstGeom>
          <a:noFill xmlns:a="http://schemas.openxmlformats.org/drawingml/2006/main"/>
          <a:ln xmlns:a="http://schemas.openxmlformats.org/drawingml/2006/main" w="9525">
            <a:solidFill>
              <a:srgbClr val="DCE4F2"/>
            </a:solidFill>
            <a:prstDash val="solid"/>
          </a:ln>
        </p:spPr>
      </p:sp>
      <p:sp>
        <p:nvSpPr>
          <p:cNvPr id="33" name="">
            <a:extLst xmlns:a="http://schemas.openxmlformats.org/drawingml/2006/main">
              <a:ext uri="{FF2B5EF4-FFF2-40B4-BE49-F238E27FC236}">
                <a16:creationId xmlns:a16="http://schemas.microsoft.com/office/drawing/2014/main" id="{94DE47EE-AA69-4109-A705-71A8AE14EEE2}"/>
              </a:ext>
            </a:extLst>
          </p:cNvPr>
          <p:cNvSpPr>
            <a:spLocks xmlns:a="http://schemas.openxmlformats.org/drawingml/2006/main" noGrp="1"/>
          </p:cNvSpPr>
          <p:nvPr/>
        </p:nvSpPr>
        <p:spPr>
          <a:xfrm xmlns:a="http://schemas.openxmlformats.org/drawingml/2006/main">
            <a:off x="4972050" y="4972050"/>
            <a:ext cx="495300" cy="361950"/>
          </a:xfrm>
          <a:prstGeom xmlns:a="http://schemas.openxmlformats.org/drawingml/2006/main" prst="roundRect">
            <a:avLst>
              <a:gd name="adj" fmla="val 50000"/>
            </a:avLst>
          </a:prstGeom>
          <a:solidFill xmlns:a="http://schemas.openxmlformats.org/drawingml/2006/main">
            <a:srgbClr val="2BBBAD">
              <a:alpha val="14000"/>
            </a:srgbClr>
          </a:solidFill>
          <a:ln xmlns:a="http://schemas.openxmlformats.org/drawingml/2006/main" w="9525">
            <a:solidFill>
              <a:srgbClr val="2BBBAD">
                <a:alpha val="22000"/>
              </a:srgbClr>
            </a:solidFill>
            <a:prstDash val="solid"/>
          </a:ln>
        </p:spPr>
      </p:sp>
      <p:sp>
        <p:nvSpPr>
          <p:cNvPr id="34" name="">
            <a:extLst xmlns:a="http://schemas.openxmlformats.org/drawingml/2006/main">
              <a:ext uri="{FF2B5EF4-FFF2-40B4-BE49-F238E27FC236}">
                <a16:creationId xmlns:a16="http://schemas.microsoft.com/office/drawing/2014/main" id="{84D18FA8-6427-4926-9EC4-E448D0187F1C}"/>
              </a:ext>
            </a:extLst>
          </p:cNvPr>
          <p:cNvSpPr>
            <a:spLocks xmlns:a="http://schemas.openxmlformats.org/drawingml/2006/main" noGrp="1"/>
          </p:cNvSpPr>
          <p:nvPr/>
        </p:nvSpPr>
        <p:spPr>
          <a:xfrm xmlns:a="http://schemas.openxmlformats.org/drawingml/2006/main">
            <a:off x="5086350" y="498157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08796F"/>
                </a:solidFill>
                <a:latin typeface="Aptos"/>
                <a:ea typeface="Aptos"/>
                <a:cs typeface="Aptos"/>
              </a:defRPr>
            </a:pPr>
            <a:r>
              <a:rPr sz="1125" b="1">
                <a:solidFill>
                  <a:srgbClr val="08796F"/>
                </a:solidFill>
                <a:latin typeface="Aptos"/>
                <a:ea typeface="Aptos"/>
                <a:cs typeface="Aptos"/>
              </a:rPr>
              <a:t>05</a:t>
            </a:r>
          </a:p>
        </p:txBody>
      </p:sp>
      <p:sp>
        <p:nvSpPr>
          <p:cNvPr id="35" name="">
            <a:extLst xmlns:a="http://schemas.openxmlformats.org/drawingml/2006/main">
              <a:ext uri="{FF2B5EF4-FFF2-40B4-BE49-F238E27FC236}">
                <a16:creationId xmlns:a16="http://schemas.microsoft.com/office/drawing/2014/main" id="{DFFA7E6F-E8EE-40DD-811B-D9DD03CF6EB8}"/>
              </a:ext>
            </a:extLst>
          </p:cNvPr>
          <p:cNvSpPr>
            <a:spLocks xmlns:a="http://schemas.openxmlformats.org/drawingml/2006/main" noGrp="1"/>
          </p:cNvSpPr>
          <p:nvPr/>
        </p:nvSpPr>
        <p:spPr>
          <a:xfrm xmlns:a="http://schemas.openxmlformats.org/drawingml/2006/main">
            <a:off x="5676900" y="4953000"/>
            <a:ext cx="552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4213D"/>
                </a:solidFill>
                <a:latin typeface="Aptos"/>
                <a:ea typeface="Aptos"/>
                <a:cs typeface="Aptos"/>
              </a:defRPr>
            </a:pPr>
            <a:r>
              <a:rPr sz="1500" b="0">
                <a:solidFill>
                  <a:srgbClr val="14213D"/>
                </a:solidFill>
                <a:latin typeface="Aptos"/>
                <a:ea typeface="Aptos"/>
                <a:cs typeface="Aptos"/>
              </a:rPr>
              <a:t>Which pools clear all three thresholds?</a:t>
            </a:r>
          </a:p>
        </p:txBody>
      </p:sp>
    </p:spTree>
    <p:extLst>
      <p:ext uri="{BB962C8B-B14F-4D97-AF65-F5344CB8AC3E}">
        <p14:creationId xmlns:p14="http://schemas.microsoft.com/office/powerpoint/2010/main" val="219422589"/>
      </p:ext>
    </p:extLst>
  </p:cSld>
</p:sld>
</file>

<file path=ppt/slides/slide3.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696E46D-2A87-4DB1-B402-CDCC122A5B7A}"/>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23C9D8">
              <a:alpha val="13000"/>
            </a:srgbClr>
          </a:solidFill>
          <a:ln xmlns:a="http://schemas.openxmlformats.org/drawingml/2006/main" w="9525">
            <a:solidFill>
              <a:srgbClr val="23C9D8">
                <a:alpha val="22000"/>
              </a:srgbClr>
            </a:solidFill>
            <a:prstDash val="solid"/>
          </a:ln>
        </p:spPr>
      </p:sp>
      <p:sp>
        <p:nvSpPr>
          <p:cNvPr id="2" name="">
            <a:extLst xmlns:a="http://schemas.openxmlformats.org/drawingml/2006/main">
              <a:ext uri="{FF2B5EF4-FFF2-40B4-BE49-F238E27FC236}">
                <a16:creationId xmlns:a16="http://schemas.microsoft.com/office/drawing/2014/main" id="{727D86C1-70E4-4F73-A6DF-2D1DDBD38E87}"/>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087A88"/>
                </a:solidFill>
                <a:latin typeface="Aptos"/>
                <a:ea typeface="Aptos"/>
                <a:cs typeface="Aptos"/>
              </a:defRPr>
            </a:pPr>
            <a:r>
              <a:rPr sz="975" b="1">
                <a:solidFill>
                  <a:srgbClr val="087A88"/>
                </a:solidFill>
                <a:latin typeface="Aptos"/>
                <a:ea typeface="Aptos"/>
                <a:cs typeface="Aptos"/>
              </a:rPr>
              <a:t>DATA SCOPE</a:t>
            </a:r>
          </a:p>
        </p:txBody>
      </p:sp>
      <p:sp>
        <p:nvSpPr>
          <p:cNvPr id="3" name="">
            <a:extLst xmlns:a="http://schemas.openxmlformats.org/drawingml/2006/main">
              <a:ext uri="{FF2B5EF4-FFF2-40B4-BE49-F238E27FC236}">
                <a16:creationId xmlns:a16="http://schemas.microsoft.com/office/drawing/2014/main" id="{A1EC6565-9EB4-4535-8566-2F74874BACED}"/>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23C9D8"/>
          </a:solidFill>
          <a:ln xmlns:a="http://schemas.openxmlformats.org/drawingml/2006/main" w="9525">
            <a:solidFill>
              <a:srgbClr val="23C9D8">
                <a:alpha val="22000"/>
              </a:srgbClr>
            </a:solidFill>
            <a:prstDash val="solid"/>
          </a:ln>
        </p:spPr>
      </p:sp>
      <p:sp>
        <p:nvSpPr>
          <p:cNvPr id="4" name="">
            <a:extLst xmlns:a="http://schemas.openxmlformats.org/drawingml/2006/main">
              <a:ext uri="{FF2B5EF4-FFF2-40B4-BE49-F238E27FC236}">
                <a16:creationId xmlns:a16="http://schemas.microsoft.com/office/drawing/2014/main" id="{9A817FAB-A56C-4263-81ED-8C55940CDF85}"/>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03</a:t>
            </a:r>
          </a:p>
        </p:txBody>
      </p:sp>
      <p:sp>
        <p:nvSpPr>
          <p:cNvPr id="5" name="">
            <a:extLst xmlns:a="http://schemas.openxmlformats.org/drawingml/2006/main">
              <a:ext uri="{FF2B5EF4-FFF2-40B4-BE49-F238E27FC236}">
                <a16:creationId xmlns:a16="http://schemas.microsoft.com/office/drawing/2014/main" id="{638EE1D9-13EA-4777-B547-454C4881EEC6}"/>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475467"/>
                </a:solidFill>
                <a:latin typeface="Aptos"/>
                <a:ea typeface="Aptos"/>
                <a:cs typeface="Aptos"/>
              </a:defRPr>
            </a:pPr>
            <a:r>
              <a:rPr sz="825" b="1">
                <a:solidFill>
                  <a:srgbClr val="475467"/>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4E0F020A-B497-4180-90A3-4C55E7ADDA91}"/>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3E9F1FCF-B8F4-41F6-B57C-C981B7408E87}"/>
              </a:ext>
            </a:extLst>
          </p:cNvPr>
          <p:cNvSpPr>
            <a:spLocks xmlns:a="http://schemas.openxmlformats.org/drawingml/2006/main" noGrp="1"/>
          </p:cNvSpPr>
          <p:nvPr/>
        </p:nvSpPr>
        <p:spPr>
          <a:xfrm xmlns:a="http://schemas.openxmlformats.org/drawingml/2006/main">
            <a:off x="8420100" y="6486525"/>
            <a:ext cx="588309" cy="38100"/>
          </a:xfrm>
          <a:prstGeom xmlns:a="http://schemas.openxmlformats.org/drawingml/2006/main" prst="roundRect">
            <a:avLst>
              <a:gd name="adj" fmla="val 50000"/>
            </a:avLst>
          </a:prstGeom>
          <a:solidFill xmlns:a="http://schemas.openxmlformats.org/drawingml/2006/main">
            <a:srgbClr val="23C9D8"/>
          </a:solidFill>
          <a:ln xmlns:a="http://schemas.openxmlformats.org/drawingml/2006/main" w="0">
            <a:solidFill>
              <a:srgbClr val="23C9D8"/>
            </a:solidFill>
            <a:prstDash val="solid"/>
          </a:ln>
        </p:spPr>
      </p:sp>
      <p:sp>
        <p:nvSpPr>
          <p:cNvPr id="8" name="">
            <a:extLst xmlns:a="http://schemas.openxmlformats.org/drawingml/2006/main">
              <a:ext uri="{FF2B5EF4-FFF2-40B4-BE49-F238E27FC236}">
                <a16:creationId xmlns:a16="http://schemas.microsoft.com/office/drawing/2014/main" id="{E6A67745-AC0D-49F0-9453-9AA0C5A35CE6}"/>
              </a:ext>
            </a:extLst>
          </p:cNvPr>
          <p:cNvSpPr>
            <a:spLocks xmlns:a="http://schemas.openxmlformats.org/drawingml/2006/main" noGrp="1"/>
          </p:cNvSpPr>
          <p:nvPr/>
        </p:nvSpPr>
        <p:spPr>
          <a:xfrm xmlns:a="http://schemas.openxmlformats.org/drawingml/2006/main">
            <a:off x="419100" y="762000"/>
            <a:ext cx="971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4213D"/>
                </a:solidFill>
                <a:latin typeface="Aptos"/>
                <a:ea typeface="Aptos"/>
                <a:cs typeface="Aptos"/>
              </a:defRPr>
            </a:pPr>
            <a:r>
              <a:rPr sz="3000" b="1">
                <a:solidFill>
                  <a:srgbClr val="14213D"/>
                </a:solidFill>
                <a:latin typeface="Aptos"/>
                <a:ea typeface="Aptos"/>
                <a:cs typeface="Aptos"/>
              </a:rPr>
              <a:t>The sample is broad, but deliberately selected</a:t>
            </a:r>
          </a:p>
        </p:txBody>
      </p:sp>
      <p:sp>
        <p:nvSpPr>
          <p:cNvPr id="9" name="">
            <a:extLst xmlns:a="http://schemas.openxmlformats.org/drawingml/2006/main">
              <a:ext uri="{FF2B5EF4-FFF2-40B4-BE49-F238E27FC236}">
                <a16:creationId xmlns:a16="http://schemas.microsoft.com/office/drawing/2014/main" id="{1477674D-8223-4B14-B5DF-A049B4CEC0EF}"/>
              </a:ext>
            </a:extLst>
          </p:cNvPr>
          <p:cNvSpPr>
            <a:spLocks xmlns:a="http://schemas.openxmlformats.org/drawingml/2006/main" noGrp="1"/>
          </p:cNvSpPr>
          <p:nvPr/>
        </p:nvSpPr>
        <p:spPr>
          <a:xfrm xmlns:a="http://schemas.openxmlformats.org/drawingml/2006/main">
            <a:off x="419100" y="1333500"/>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475467"/>
                </a:solidFill>
                <a:latin typeface="Aptos"/>
                <a:ea typeface="Aptos"/>
                <a:cs typeface="Aptos"/>
              </a:defRPr>
            </a:pPr>
            <a:r>
              <a:rPr sz="1350" b="0">
                <a:solidFill>
                  <a:srgbClr val="475467"/>
                </a:solidFill>
                <a:latin typeface="Aptos"/>
                <a:ea typeface="Aptos"/>
                <a:cs typeface="Aptos"/>
              </a:rPr>
              <a:t>2022-02-11 to 2026-07-08 | 137,095 pool-days | unbalanced panel</a:t>
            </a:r>
          </a:p>
        </p:txBody>
      </p:sp>
      <p:sp>
        <p:nvSpPr>
          <p:cNvPr id="10" name="">
            <a:extLst xmlns:a="http://schemas.openxmlformats.org/drawingml/2006/main">
              <a:ext uri="{FF2B5EF4-FFF2-40B4-BE49-F238E27FC236}">
                <a16:creationId xmlns:a16="http://schemas.microsoft.com/office/drawing/2014/main" id="{CA7F1914-7938-47A9-A16C-24F8CC404132}"/>
              </a:ext>
            </a:extLst>
          </p:cNvPr>
          <p:cNvSpPr>
            <a:spLocks xmlns:a="http://schemas.openxmlformats.org/drawingml/2006/main" noGrp="1"/>
          </p:cNvSpPr>
          <p:nvPr/>
        </p:nvSpPr>
        <p:spPr>
          <a:xfrm xmlns:a="http://schemas.openxmlformats.org/drawingml/2006/main">
            <a:off x="419100" y="1790700"/>
            <a:ext cx="6591300" cy="4038600"/>
          </a:xfrm>
          <a:prstGeom xmlns:a="http://schemas.openxmlformats.org/drawingml/2006/main" prst="roundRect">
            <a:avLst>
              <a:gd name="adj" fmla="val 6132"/>
            </a:avLst>
          </a:prstGeom>
          <a:solidFill xmlns:a="http://schemas.openxmlformats.org/drawingml/2006/main">
            <a:srgbClr val="FFFFFF"/>
          </a:solidFill>
          <a:ln xmlns:a="http://schemas.openxmlformats.org/drawingml/2006/main" w="9525">
            <a:solidFill>
              <a:srgbClr val="DCE4F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5D84CF34-98D5-4DB4-BD54-9EEBC2111458}"/>
              </a:ext>
            </a:extLst>
          </p:cNvPr>
          <p:cNvSpPr>
            <a:spLocks xmlns:a="http://schemas.openxmlformats.org/drawingml/2006/main" noGrp="1"/>
          </p:cNvSpPr>
          <p:nvPr/>
        </p:nvSpPr>
        <p:spPr>
          <a:xfrm xmlns:a="http://schemas.openxmlformats.org/drawingml/2006/main">
            <a:off x="685800" y="20002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4213D"/>
                </a:solidFill>
                <a:latin typeface="Aptos"/>
                <a:ea typeface="Aptos"/>
                <a:cs typeface="Aptos"/>
              </a:defRPr>
            </a:pPr>
            <a:r>
              <a:rPr sz="1800" b="1">
                <a:solidFill>
                  <a:srgbClr val="14213D"/>
                </a:solidFill>
                <a:latin typeface="Aptos"/>
                <a:ea typeface="Aptos"/>
                <a:cs typeface="Aptos"/>
              </a:rPr>
              <a:t>Selected pools by analytical type</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e8ec708b29664aa2"/>
          <a:stretch xmlns:a="http://schemas.openxmlformats.org/drawingml/2006/main"/>
        </p:blipFill>
        <p:spPr>
          <a:xfrm xmlns:a="http://schemas.openxmlformats.org/drawingml/2006/main">
            <a:off x="666750" y="2400300"/>
            <a:ext cx="6000750" cy="3048000"/>
          </a:xfrm>
          <a:prstGeom xmlns:a="http://schemas.openxmlformats.org/drawingml/2006/main" prst="roundRect">
            <a:avLst>
              <a:gd name="adj" fmla="val 5000"/>
            </a:avLst>
          </a:prstGeom>
        </p:spPr>
      </p:pic>
      <p:sp>
        <p:nvSpPr>
          <p:cNvPr id="13" name="">
            <a:extLst xmlns:a="http://schemas.openxmlformats.org/drawingml/2006/main">
              <a:ext uri="{FF2B5EF4-FFF2-40B4-BE49-F238E27FC236}">
                <a16:creationId xmlns:a16="http://schemas.microsoft.com/office/drawing/2014/main" id="{6A30B61F-173B-421F-81B7-2A989C3C6A63}"/>
              </a:ext>
            </a:extLst>
          </p:cNvPr>
          <p:cNvSpPr>
            <a:spLocks xmlns:a="http://schemas.openxmlformats.org/drawingml/2006/main" noGrp="1"/>
          </p:cNvSpPr>
          <p:nvPr/>
        </p:nvSpPr>
        <p:spPr>
          <a:xfrm xmlns:a="http://schemas.openxmlformats.org/drawingml/2006/main">
            <a:off x="7334250" y="1790700"/>
            <a:ext cx="4419600" cy="4038600"/>
          </a:xfrm>
          <a:prstGeom xmlns:a="http://schemas.openxmlformats.org/drawingml/2006/main" prst="roundRect">
            <a:avLst>
              <a:gd name="adj" fmla="val 6132"/>
            </a:avLst>
          </a:prstGeom>
          <a:gradFill xmlns:a="http://schemas.openxmlformats.org/drawingml/2006/main">
            <a:gsLst>
              <a:gs pos="0">
                <a:srgbClr val="23C9D8">
                  <a:alpha val="15000"/>
                </a:srgbClr>
              </a:gs>
              <a:gs pos="78000">
                <a:srgbClr val="FFFFFF"/>
              </a:gs>
            </a:gsLst>
            <a:lin ang="8700000"/>
          </a:gradFill>
          <a:ln xmlns:a="http://schemas.openxmlformats.org/drawingml/2006/main" w="9525">
            <a:solidFill>
              <a:srgbClr val="23C9D8">
                <a:alpha val="28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8B6A2384-0F52-4A22-B307-10D57EA9C66D}"/>
              </a:ext>
            </a:extLst>
          </p:cNvPr>
          <p:cNvSpPr>
            <a:spLocks xmlns:a="http://schemas.openxmlformats.org/drawingml/2006/main" noGrp="1"/>
          </p:cNvSpPr>
          <p:nvPr/>
        </p:nvSpPr>
        <p:spPr>
          <a:xfrm xmlns:a="http://schemas.openxmlformats.org/drawingml/2006/main">
            <a:off x="7600950" y="2019300"/>
            <a:ext cx="1790700" cy="304800"/>
          </a:xfrm>
          <a:prstGeom xmlns:a="http://schemas.openxmlformats.org/drawingml/2006/main" prst="roundRect">
            <a:avLst>
              <a:gd name="adj" fmla="val 50000"/>
            </a:avLst>
          </a:prstGeom>
          <a:solidFill xmlns:a="http://schemas.openxmlformats.org/drawingml/2006/main">
            <a:srgbClr val="23C9D8">
              <a:alpha val="15000"/>
            </a:srgbClr>
          </a:solidFill>
          <a:ln xmlns:a="http://schemas.openxmlformats.org/drawingml/2006/main" w="9525">
            <a:solidFill>
              <a:srgbClr val="23C9D8">
                <a:alpha val="22000"/>
              </a:srgbClr>
            </a:solidFill>
            <a:prstDash val="solid"/>
          </a:ln>
        </p:spPr>
      </p:sp>
      <p:sp>
        <p:nvSpPr>
          <p:cNvPr id="15" name="">
            <a:extLst xmlns:a="http://schemas.openxmlformats.org/drawingml/2006/main">
              <a:ext uri="{FF2B5EF4-FFF2-40B4-BE49-F238E27FC236}">
                <a16:creationId xmlns:a16="http://schemas.microsoft.com/office/drawing/2014/main" id="{35F9EBA5-B518-43C1-8119-549D2373D4AA}"/>
              </a:ext>
            </a:extLst>
          </p:cNvPr>
          <p:cNvSpPr>
            <a:spLocks xmlns:a="http://schemas.openxmlformats.org/drawingml/2006/main" noGrp="1"/>
          </p:cNvSpPr>
          <p:nvPr/>
        </p:nvSpPr>
        <p:spPr>
          <a:xfrm xmlns:a="http://schemas.openxmlformats.org/drawingml/2006/main">
            <a:off x="7715250" y="2028825"/>
            <a:ext cx="15621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087A88"/>
                </a:solidFill>
                <a:latin typeface="Aptos"/>
                <a:ea typeface="Aptos"/>
                <a:cs typeface="Aptos"/>
              </a:defRPr>
            </a:pPr>
            <a:r>
              <a:rPr sz="975" b="1">
                <a:solidFill>
                  <a:srgbClr val="087A88"/>
                </a:solidFill>
                <a:latin typeface="Aptos"/>
                <a:ea typeface="Aptos"/>
                <a:cs typeface="Aptos"/>
              </a:rPr>
              <a:t>SELECTION LOGIC</a:t>
            </a:r>
          </a:p>
        </p:txBody>
      </p:sp>
      <p:sp>
        <p:nvSpPr>
          <p:cNvPr id="16" name="">
            <a:extLst xmlns:a="http://schemas.openxmlformats.org/drawingml/2006/main">
              <a:ext uri="{FF2B5EF4-FFF2-40B4-BE49-F238E27FC236}">
                <a16:creationId xmlns:a16="http://schemas.microsoft.com/office/drawing/2014/main" id="{7DD0D116-6EC3-4DFC-99BB-01D3E59CA327}"/>
              </a:ext>
            </a:extLst>
          </p:cNvPr>
          <p:cNvSpPr>
            <a:spLocks xmlns:a="http://schemas.openxmlformats.org/drawingml/2006/main" noGrp="1"/>
          </p:cNvSpPr>
          <p:nvPr/>
        </p:nvSpPr>
        <p:spPr>
          <a:xfrm xmlns:a="http://schemas.openxmlformats.org/drawingml/2006/main">
            <a:off x="7620000" y="2533650"/>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4213D"/>
                </a:solidFill>
                <a:latin typeface="Aptos"/>
                <a:ea typeface="Aptos"/>
                <a:cs typeface="Aptos"/>
              </a:defRPr>
            </a:pPr>
            <a:r>
              <a:rPr sz="1275" b="1">
                <a:solidFill>
                  <a:srgbClr val="14213D"/>
                </a:solidFill>
                <a:latin typeface="Aptos"/>
                <a:ea typeface="Aptos"/>
                <a:cs typeface="Aptos"/>
              </a:rPr>
              <a:t>Eligibility</a:t>
            </a:r>
          </a:p>
        </p:txBody>
      </p:sp>
      <p:sp>
        <p:nvSpPr>
          <p:cNvPr id="17" name="">
            <a:extLst xmlns:a="http://schemas.openxmlformats.org/drawingml/2006/main">
              <a:ext uri="{FF2B5EF4-FFF2-40B4-BE49-F238E27FC236}">
                <a16:creationId xmlns:a16="http://schemas.microsoft.com/office/drawing/2014/main" id="{EC1DAC18-0D03-43AF-84C1-B9629F7C62C2}"/>
              </a:ext>
            </a:extLst>
          </p:cNvPr>
          <p:cNvSpPr>
            <a:spLocks xmlns:a="http://schemas.openxmlformats.org/drawingml/2006/main" noGrp="1"/>
          </p:cNvSpPr>
          <p:nvPr/>
        </p:nvSpPr>
        <p:spPr>
          <a:xfrm xmlns:a="http://schemas.openxmlformats.org/drawingml/2006/main">
            <a:off x="8991600" y="2514600"/>
            <a:ext cx="2419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14213D"/>
                </a:solidFill>
                <a:latin typeface="Aptos"/>
                <a:ea typeface="Aptos"/>
                <a:cs typeface="Aptos"/>
              </a:defRPr>
            </a:pPr>
            <a:r>
              <a:rPr sz="1200" b="0">
                <a:solidFill>
                  <a:srgbClr val="14213D"/>
                </a:solidFill>
                <a:latin typeface="Aptos"/>
                <a:ea typeface="Aptos"/>
                <a:cs typeface="Aptos"/>
              </a:rPr>
              <a:t>Stablecoin pool, TVL &gt;= USD 1M, at least 180 provider history observations.</a:t>
            </a:r>
          </a:p>
        </p:txBody>
      </p:sp>
      <p:sp>
        <p:nvSpPr>
          <p:cNvPr id="18" name="">
            <a:extLst xmlns:a="http://schemas.openxmlformats.org/drawingml/2006/main">
              <a:ext uri="{FF2B5EF4-FFF2-40B4-BE49-F238E27FC236}">
                <a16:creationId xmlns:a16="http://schemas.microsoft.com/office/drawing/2014/main" id="{55743CDD-094C-4685-8BEF-FFBD1D76C481}"/>
              </a:ext>
            </a:extLst>
          </p:cNvPr>
          <p:cNvSpPr>
            <a:spLocks xmlns:a="http://schemas.openxmlformats.org/drawingml/2006/main" noGrp="1"/>
          </p:cNvSpPr>
          <p:nvPr/>
        </p:nvSpPr>
        <p:spPr>
          <a:xfrm xmlns:a="http://schemas.openxmlformats.org/drawingml/2006/main">
            <a:off x="7620000" y="3181350"/>
            <a:ext cx="3790950" cy="9525"/>
          </a:xfrm>
          <a:prstGeom xmlns:a="http://schemas.openxmlformats.org/drawingml/2006/main" prst="line">
            <a:avLst/>
          </a:prstGeom>
          <a:noFill xmlns:a="http://schemas.openxmlformats.org/drawingml/2006/main"/>
          <a:ln xmlns:a="http://schemas.openxmlformats.org/drawingml/2006/main" w="9525">
            <a:solidFill>
              <a:srgbClr val="23C9D8">
                <a:alpha val="24000"/>
              </a:srgbClr>
            </a:solidFill>
            <a:prstDash val="solid"/>
          </a:ln>
        </p:spPr>
      </p:sp>
      <p:sp>
        <p:nvSpPr>
          <p:cNvPr id="19" name="">
            <a:extLst xmlns:a="http://schemas.openxmlformats.org/drawingml/2006/main">
              <a:ext uri="{FF2B5EF4-FFF2-40B4-BE49-F238E27FC236}">
                <a16:creationId xmlns:a16="http://schemas.microsoft.com/office/drawing/2014/main" id="{29FC247E-3CC0-41AB-8B3B-CEE19788EC28}"/>
              </a:ext>
            </a:extLst>
          </p:cNvPr>
          <p:cNvSpPr>
            <a:spLocks xmlns:a="http://schemas.openxmlformats.org/drawingml/2006/main" noGrp="1"/>
          </p:cNvSpPr>
          <p:nvPr/>
        </p:nvSpPr>
        <p:spPr>
          <a:xfrm xmlns:a="http://schemas.openxmlformats.org/drawingml/2006/main">
            <a:off x="7620000" y="3371850"/>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4213D"/>
                </a:solidFill>
                <a:latin typeface="Aptos"/>
                <a:ea typeface="Aptos"/>
                <a:cs typeface="Aptos"/>
              </a:defRPr>
            </a:pPr>
            <a:r>
              <a:rPr sz="1275" b="1">
                <a:solidFill>
                  <a:srgbClr val="14213D"/>
                </a:solidFill>
                <a:latin typeface="Aptos"/>
                <a:ea typeface="Aptos"/>
                <a:cs typeface="Aptos"/>
              </a:rPr>
              <a:t>Cap of 250</a:t>
            </a:r>
          </a:p>
        </p:txBody>
      </p:sp>
      <p:sp>
        <p:nvSpPr>
          <p:cNvPr id="20" name="">
            <a:extLst xmlns:a="http://schemas.openxmlformats.org/drawingml/2006/main">
              <a:ext uri="{FF2B5EF4-FFF2-40B4-BE49-F238E27FC236}">
                <a16:creationId xmlns:a16="http://schemas.microsoft.com/office/drawing/2014/main" id="{44F00962-B00A-4877-8D9E-683CA8AE89FE}"/>
              </a:ext>
            </a:extLst>
          </p:cNvPr>
          <p:cNvSpPr>
            <a:spLocks xmlns:a="http://schemas.openxmlformats.org/drawingml/2006/main" noGrp="1"/>
          </p:cNvSpPr>
          <p:nvPr/>
        </p:nvSpPr>
        <p:spPr>
          <a:xfrm xmlns:a="http://schemas.openxmlformats.org/drawingml/2006/main">
            <a:off x="8991600" y="3352800"/>
            <a:ext cx="2419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14213D"/>
                </a:solidFill>
                <a:latin typeface="Aptos"/>
                <a:ea typeface="Aptos"/>
                <a:cs typeface="Aptos"/>
              </a:defRPr>
            </a:pPr>
            <a:r>
              <a:rPr sz="1200" b="0">
                <a:solidFill>
                  <a:srgbClr val="14213D"/>
                </a:solidFill>
                <a:latin typeface="Aptos"/>
                <a:ea typeface="Aptos"/>
                <a:cs typeface="Aptos"/>
              </a:rPr>
              <a:t>70% highest TVL; remaining capacity highest current APY. No random sampling claim.</a:t>
            </a:r>
          </a:p>
        </p:txBody>
      </p:sp>
      <p:sp>
        <p:nvSpPr>
          <p:cNvPr id="21" name="">
            <a:extLst xmlns:a="http://schemas.openxmlformats.org/drawingml/2006/main">
              <a:ext uri="{FF2B5EF4-FFF2-40B4-BE49-F238E27FC236}">
                <a16:creationId xmlns:a16="http://schemas.microsoft.com/office/drawing/2014/main" id="{64438EFC-BF33-4E01-974A-541EFBE87367}"/>
              </a:ext>
            </a:extLst>
          </p:cNvPr>
          <p:cNvSpPr>
            <a:spLocks xmlns:a="http://schemas.openxmlformats.org/drawingml/2006/main" noGrp="1"/>
          </p:cNvSpPr>
          <p:nvPr/>
        </p:nvSpPr>
        <p:spPr>
          <a:xfrm xmlns:a="http://schemas.openxmlformats.org/drawingml/2006/main">
            <a:off x="7620000" y="4019550"/>
            <a:ext cx="3790950" cy="9525"/>
          </a:xfrm>
          <a:prstGeom xmlns:a="http://schemas.openxmlformats.org/drawingml/2006/main" prst="line">
            <a:avLst/>
          </a:prstGeom>
          <a:noFill xmlns:a="http://schemas.openxmlformats.org/drawingml/2006/main"/>
          <a:ln xmlns:a="http://schemas.openxmlformats.org/drawingml/2006/main" w="9525">
            <a:solidFill>
              <a:srgbClr val="23C9D8">
                <a:alpha val="24000"/>
              </a:srgbClr>
            </a:solidFill>
            <a:prstDash val="solid"/>
          </a:ln>
        </p:spPr>
      </p:sp>
      <p:sp>
        <p:nvSpPr>
          <p:cNvPr id="22" name="">
            <a:extLst xmlns:a="http://schemas.openxmlformats.org/drawingml/2006/main">
              <a:ext uri="{FF2B5EF4-FFF2-40B4-BE49-F238E27FC236}">
                <a16:creationId xmlns:a16="http://schemas.microsoft.com/office/drawing/2014/main" id="{0237789D-A330-4ECA-8B8E-106E37693194}"/>
              </a:ext>
            </a:extLst>
          </p:cNvPr>
          <p:cNvSpPr>
            <a:spLocks xmlns:a="http://schemas.openxmlformats.org/drawingml/2006/main" noGrp="1"/>
          </p:cNvSpPr>
          <p:nvPr/>
        </p:nvSpPr>
        <p:spPr>
          <a:xfrm xmlns:a="http://schemas.openxmlformats.org/drawingml/2006/main">
            <a:off x="7620000" y="4210050"/>
            <a:ext cx="1257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4213D"/>
                </a:solidFill>
                <a:latin typeface="Aptos"/>
                <a:ea typeface="Aptos"/>
                <a:cs typeface="Aptos"/>
              </a:defRPr>
            </a:pPr>
            <a:r>
              <a:rPr sz="1275" b="1">
                <a:solidFill>
                  <a:srgbClr val="14213D"/>
                </a:solidFill>
                <a:latin typeface="Aptos"/>
                <a:ea typeface="Aptos"/>
                <a:cs typeface="Aptos"/>
              </a:rPr>
              <a:t>Entry and exit</a:t>
            </a:r>
          </a:p>
        </p:txBody>
      </p:sp>
      <p:sp>
        <p:nvSpPr>
          <p:cNvPr id="23" name="">
            <a:extLst xmlns:a="http://schemas.openxmlformats.org/drawingml/2006/main">
              <a:ext uri="{FF2B5EF4-FFF2-40B4-BE49-F238E27FC236}">
                <a16:creationId xmlns:a16="http://schemas.microsoft.com/office/drawing/2014/main" id="{34228FC6-B94A-4409-8451-A4726E04CE5A}"/>
              </a:ext>
            </a:extLst>
          </p:cNvPr>
          <p:cNvSpPr>
            <a:spLocks xmlns:a="http://schemas.openxmlformats.org/drawingml/2006/main" noGrp="1"/>
          </p:cNvSpPr>
          <p:nvPr/>
        </p:nvSpPr>
        <p:spPr>
          <a:xfrm xmlns:a="http://schemas.openxmlformats.org/drawingml/2006/main">
            <a:off x="8991600" y="4191000"/>
            <a:ext cx="2419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14213D"/>
                </a:solidFill>
                <a:latin typeface="Aptos"/>
                <a:ea typeface="Aptos"/>
                <a:cs typeface="Aptos"/>
              </a:defRPr>
            </a:pPr>
            <a:r>
              <a:rPr sz="1200" b="0">
                <a:solidFill>
                  <a:srgbClr val="14213D"/>
                </a:solidFill>
                <a:latin typeface="Aptos"/>
                <a:ea typeface="Aptos"/>
                <a:cs typeface="Aptos"/>
              </a:rPr>
              <a:t>Observed pool-specific dates only. No synthetic backfill or balanced-panel imputation.</a:t>
            </a:r>
          </a:p>
        </p:txBody>
      </p:sp>
      <p:sp>
        <p:nvSpPr>
          <p:cNvPr id="24" name="">
            <a:extLst xmlns:a="http://schemas.openxmlformats.org/drawingml/2006/main">
              <a:ext uri="{FF2B5EF4-FFF2-40B4-BE49-F238E27FC236}">
                <a16:creationId xmlns:a16="http://schemas.microsoft.com/office/drawing/2014/main" id="{1043F03E-8FC1-4E5A-A9C5-02054E5FA083}"/>
              </a:ext>
            </a:extLst>
          </p:cNvPr>
          <p:cNvSpPr>
            <a:spLocks xmlns:a="http://schemas.openxmlformats.org/drawingml/2006/main" noGrp="1"/>
          </p:cNvSpPr>
          <p:nvPr/>
        </p:nvSpPr>
        <p:spPr>
          <a:xfrm xmlns:a="http://schemas.openxmlformats.org/drawingml/2006/main">
            <a:off x="7600950" y="5067300"/>
            <a:ext cx="3790950" cy="514350"/>
          </a:xfrm>
          <a:prstGeom xmlns:a="http://schemas.openxmlformats.org/drawingml/2006/main" prst="roundRect">
            <a:avLst>
              <a:gd name="adj" fmla="val 29630"/>
            </a:avLst>
          </a:prstGeom>
          <a:solidFill xmlns:a="http://schemas.openxmlformats.org/drawingml/2006/main">
            <a:srgbClr val="FFFFFF">
              <a:alpha val="72000"/>
            </a:srgbClr>
          </a:solidFill>
          <a:ln xmlns:a="http://schemas.openxmlformats.org/drawingml/2006/main" w="9525">
            <a:solidFill>
              <a:srgbClr val="DCE4F2"/>
            </a:solidFill>
            <a:prstDash val="solid"/>
          </a:ln>
        </p:spPr>
      </p:sp>
      <p:sp>
        <p:nvSpPr>
          <p:cNvPr id="25" name="">
            <a:extLst xmlns:a="http://schemas.openxmlformats.org/drawingml/2006/main">
              <a:ext uri="{FF2B5EF4-FFF2-40B4-BE49-F238E27FC236}">
                <a16:creationId xmlns:a16="http://schemas.microsoft.com/office/drawing/2014/main" id="{6375EC97-DDCC-4E90-9341-7D605CB342DB}"/>
              </a:ext>
            </a:extLst>
          </p:cNvPr>
          <p:cNvSpPr>
            <a:spLocks xmlns:a="http://schemas.openxmlformats.org/drawingml/2006/main" noGrp="1"/>
          </p:cNvSpPr>
          <p:nvPr/>
        </p:nvSpPr>
        <p:spPr>
          <a:xfrm xmlns:a="http://schemas.openxmlformats.org/drawingml/2006/main">
            <a:off x="7753350" y="5191125"/>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4213D"/>
                </a:solidFill>
                <a:latin typeface="Aptos"/>
                <a:ea typeface="Aptos"/>
                <a:cs typeface="Aptos"/>
              </a:defRPr>
            </a:pPr>
            <a:r>
              <a:rPr sz="1125" b="1">
                <a:solidFill>
                  <a:srgbClr val="14213D"/>
                </a:solidFill>
                <a:latin typeface="Aptos"/>
                <a:ea typeface="Aptos"/>
                <a:cs typeface="Aptos"/>
              </a:rPr>
              <a:t>Data quality</a:t>
            </a:r>
          </a:p>
        </p:txBody>
      </p:sp>
      <p:sp>
        <p:nvSpPr>
          <p:cNvPr id="26" name="">
            <a:extLst xmlns:a="http://schemas.openxmlformats.org/drawingml/2006/main">
              <a:ext uri="{FF2B5EF4-FFF2-40B4-BE49-F238E27FC236}">
                <a16:creationId xmlns:a16="http://schemas.microsoft.com/office/drawing/2014/main" id="{0EF39FCB-F829-4801-8BF5-7AF36D39662F}"/>
              </a:ext>
            </a:extLst>
          </p:cNvPr>
          <p:cNvSpPr>
            <a:spLocks xmlns:a="http://schemas.openxmlformats.org/drawingml/2006/main" noGrp="1"/>
          </p:cNvSpPr>
          <p:nvPr/>
        </p:nvSpPr>
        <p:spPr>
          <a:xfrm xmlns:a="http://schemas.openxmlformats.org/drawingml/2006/main">
            <a:off x="8858250" y="51911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744"/>
          </a:bodyPr>
          <a:lstStyle xmlns:a="http://schemas.openxmlformats.org/drawingml/2006/main"/>
          <a:p xmlns:a="http://schemas.openxmlformats.org/drawingml/2006/main">
            <a:pPr algn="l">
              <a:defRPr sz="975" b="0">
                <a:solidFill>
                  <a:srgbClr val="475467"/>
                </a:solidFill>
                <a:latin typeface="Aptos"/>
                <a:ea typeface="Aptos"/>
                <a:cs typeface="Aptos"/>
              </a:defRPr>
            </a:pPr>
            <a:r>
              <a:rPr sz="975" b="0">
                <a:solidFill>
                  <a:srgbClr val="475467"/>
                </a:solidFill>
                <a:latin typeface="Aptos"/>
                <a:ea typeface="Aptos"/>
                <a:cs typeface="Aptos"/>
              </a:rPr>
              <a:t>26 missing TVL rows | 32 APY &gt; 1,000% flagged, not hidden</a:t>
            </a:r>
          </a:p>
        </p:txBody>
      </p:sp>
    </p:spTree>
    <p:extLst>
      <p:ext uri="{BB962C8B-B14F-4D97-AF65-F5344CB8AC3E}">
        <p14:creationId xmlns:p14="http://schemas.microsoft.com/office/powerpoint/2010/main" val="754524740"/>
      </p:ext>
    </p:extLst>
  </p:cSld>
</p:sld>
</file>

<file path=ppt/slides/slide4.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6908CBE5-23C7-40CD-AA6A-E7BE77E11C28}"/>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4F7CFF">
              <a:alpha val="13000"/>
            </a:srgbClr>
          </a:solidFill>
          <a:ln xmlns:a="http://schemas.openxmlformats.org/drawingml/2006/main" w="9525">
            <a:solidFill>
              <a:srgbClr val="4F7CFF">
                <a:alpha val="22000"/>
              </a:srgbClr>
            </a:solidFill>
            <a:prstDash val="solid"/>
          </a:ln>
        </p:spPr>
      </p:sp>
      <p:sp>
        <p:nvSpPr>
          <p:cNvPr id="2" name="">
            <a:extLst xmlns:a="http://schemas.openxmlformats.org/drawingml/2006/main">
              <a:ext uri="{FF2B5EF4-FFF2-40B4-BE49-F238E27FC236}">
                <a16:creationId xmlns:a16="http://schemas.microsoft.com/office/drawing/2014/main" id="{23D9DA27-7D0A-4094-B0FC-D5FD0CC25DC5}"/>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3159C9"/>
                </a:solidFill>
                <a:latin typeface="Aptos"/>
                <a:ea typeface="Aptos"/>
                <a:cs typeface="Aptos"/>
              </a:defRPr>
            </a:pPr>
            <a:r>
              <a:rPr sz="975" b="1">
                <a:solidFill>
                  <a:srgbClr val="3159C9"/>
                </a:solidFill>
                <a:latin typeface="Aptos"/>
                <a:ea typeface="Aptos"/>
                <a:cs typeface="Aptos"/>
              </a:rPr>
              <a:t>METHODS</a:t>
            </a:r>
          </a:p>
        </p:txBody>
      </p:sp>
      <p:sp>
        <p:nvSpPr>
          <p:cNvPr id="3" name="">
            <a:extLst xmlns:a="http://schemas.openxmlformats.org/drawingml/2006/main">
              <a:ext uri="{FF2B5EF4-FFF2-40B4-BE49-F238E27FC236}">
                <a16:creationId xmlns:a16="http://schemas.microsoft.com/office/drawing/2014/main" id="{C5E34936-69DC-4D1A-B4B8-44C9FA378F4A}"/>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4F7CFF"/>
          </a:solidFill>
          <a:ln xmlns:a="http://schemas.openxmlformats.org/drawingml/2006/main" w="9525">
            <a:solidFill>
              <a:srgbClr val="4F7CFF">
                <a:alpha val="22000"/>
              </a:srgbClr>
            </a:solidFill>
            <a:prstDash val="solid"/>
          </a:ln>
        </p:spPr>
      </p:sp>
      <p:sp>
        <p:nvSpPr>
          <p:cNvPr id="4" name="">
            <a:extLst xmlns:a="http://schemas.openxmlformats.org/drawingml/2006/main">
              <a:ext uri="{FF2B5EF4-FFF2-40B4-BE49-F238E27FC236}">
                <a16:creationId xmlns:a16="http://schemas.microsoft.com/office/drawing/2014/main" id="{73AB45C3-AB67-4A6E-A8C0-C1273D7F1838}"/>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04</a:t>
            </a:r>
          </a:p>
        </p:txBody>
      </p:sp>
      <p:sp>
        <p:nvSpPr>
          <p:cNvPr id="5" name="">
            <a:extLst xmlns:a="http://schemas.openxmlformats.org/drawingml/2006/main">
              <a:ext uri="{FF2B5EF4-FFF2-40B4-BE49-F238E27FC236}">
                <a16:creationId xmlns:a16="http://schemas.microsoft.com/office/drawing/2014/main" id="{34AD4031-B461-41A3-96C2-A71C6DAD9CC2}"/>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475467"/>
                </a:solidFill>
                <a:latin typeface="Aptos"/>
                <a:ea typeface="Aptos"/>
                <a:cs typeface="Aptos"/>
              </a:defRPr>
            </a:pPr>
            <a:r>
              <a:rPr sz="825" b="1">
                <a:solidFill>
                  <a:srgbClr val="475467"/>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D9189D46-4687-455A-B30F-81F183106968}"/>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610784E8-8F69-407D-9CD7-968EB1471408}"/>
              </a:ext>
            </a:extLst>
          </p:cNvPr>
          <p:cNvSpPr>
            <a:spLocks xmlns:a="http://schemas.openxmlformats.org/drawingml/2006/main" noGrp="1"/>
          </p:cNvSpPr>
          <p:nvPr/>
        </p:nvSpPr>
        <p:spPr>
          <a:xfrm xmlns:a="http://schemas.openxmlformats.org/drawingml/2006/main">
            <a:off x="8420100" y="6486525"/>
            <a:ext cx="784412" cy="38100"/>
          </a:xfrm>
          <a:prstGeom xmlns:a="http://schemas.openxmlformats.org/drawingml/2006/main" prst="roundRect">
            <a:avLst>
              <a:gd name="adj" fmla="val 50000"/>
            </a:avLst>
          </a:prstGeom>
          <a:solidFill xmlns:a="http://schemas.openxmlformats.org/drawingml/2006/main">
            <a:srgbClr val="4F7CFF"/>
          </a:solidFill>
          <a:ln xmlns:a="http://schemas.openxmlformats.org/drawingml/2006/main" w="0">
            <a:solidFill>
              <a:srgbClr val="4F7CFF"/>
            </a:solidFill>
            <a:prstDash val="solid"/>
          </a:ln>
        </p:spPr>
      </p:sp>
      <p:sp>
        <p:nvSpPr>
          <p:cNvPr id="8" name="">
            <a:extLst xmlns:a="http://schemas.openxmlformats.org/drawingml/2006/main">
              <a:ext uri="{FF2B5EF4-FFF2-40B4-BE49-F238E27FC236}">
                <a16:creationId xmlns:a16="http://schemas.microsoft.com/office/drawing/2014/main" id="{9D3E2EE1-2A4C-4C4B-A778-8950388B7A20}"/>
              </a:ext>
            </a:extLst>
          </p:cNvPr>
          <p:cNvSpPr>
            <a:spLocks xmlns:a="http://schemas.openxmlformats.org/drawingml/2006/main" noGrp="1"/>
          </p:cNvSpPr>
          <p:nvPr/>
        </p:nvSpPr>
        <p:spPr>
          <a:xfrm xmlns:a="http://schemas.openxmlformats.org/drawingml/2006/main">
            <a:off x="419100" y="762000"/>
            <a:ext cx="971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4213D"/>
                </a:solidFill>
                <a:latin typeface="Aptos"/>
                <a:ea typeface="Aptos"/>
                <a:cs typeface="Aptos"/>
              </a:defRPr>
            </a:pPr>
            <a:r>
              <a:rPr sz="3000" b="1">
                <a:solidFill>
                  <a:srgbClr val="14213D"/>
                </a:solidFill>
                <a:latin typeface="Aptos"/>
                <a:ea typeface="Aptos"/>
                <a:cs typeface="Aptos"/>
              </a:rPr>
              <a:t>Four definitions make the analysis auditable</a:t>
            </a:r>
          </a:p>
        </p:txBody>
      </p:sp>
      <p:sp>
        <p:nvSpPr>
          <p:cNvPr id="9" name="">
            <a:extLst xmlns:a="http://schemas.openxmlformats.org/drawingml/2006/main">
              <a:ext uri="{FF2B5EF4-FFF2-40B4-BE49-F238E27FC236}">
                <a16:creationId xmlns:a16="http://schemas.microsoft.com/office/drawing/2014/main" id="{A6B1AF96-DEDD-45C7-80F7-DA7772D51292}"/>
              </a:ext>
            </a:extLst>
          </p:cNvPr>
          <p:cNvSpPr>
            <a:spLocks xmlns:a="http://schemas.openxmlformats.org/drawingml/2006/main" noGrp="1"/>
          </p:cNvSpPr>
          <p:nvPr/>
        </p:nvSpPr>
        <p:spPr>
          <a:xfrm xmlns:a="http://schemas.openxmlformats.org/drawingml/2006/main">
            <a:off x="419100" y="1333500"/>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475467"/>
                </a:solidFill>
                <a:latin typeface="Aptos"/>
                <a:ea typeface="Aptos"/>
                <a:cs typeface="Aptos"/>
              </a:defRPr>
            </a:pPr>
            <a:r>
              <a:rPr sz="1350" b="0">
                <a:solidFill>
                  <a:srgbClr val="475467"/>
                </a:solidFill>
                <a:latin typeface="Aptos"/>
                <a:ea typeface="Aptos"/>
                <a:cs typeface="Aptos"/>
              </a:rPr>
              <a:t>Each result has an explicit threshold, comparison window and interpretation boundary.</a:t>
            </a:r>
          </a:p>
        </p:txBody>
      </p:sp>
      <p:sp>
        <p:nvSpPr>
          <p:cNvPr id="10" name="">
            <a:extLst xmlns:a="http://schemas.openxmlformats.org/drawingml/2006/main">
              <a:ext uri="{FF2B5EF4-FFF2-40B4-BE49-F238E27FC236}">
                <a16:creationId xmlns:a16="http://schemas.microsoft.com/office/drawing/2014/main" id="{5D6B2DC3-373F-4F45-9A72-A146BB60CC76}"/>
              </a:ext>
            </a:extLst>
          </p:cNvPr>
          <p:cNvSpPr>
            <a:spLocks xmlns:a="http://schemas.openxmlformats.org/drawingml/2006/main" noGrp="1"/>
          </p:cNvSpPr>
          <p:nvPr/>
        </p:nvSpPr>
        <p:spPr>
          <a:xfrm xmlns:a="http://schemas.openxmlformats.org/drawingml/2006/main">
            <a:off x="419100" y="1790700"/>
            <a:ext cx="11334750" cy="4038600"/>
          </a:xfrm>
          <a:prstGeom xmlns:a="http://schemas.openxmlformats.org/drawingml/2006/main" prst="roundRect">
            <a:avLst>
              <a:gd name="adj" fmla="val 6604"/>
            </a:avLst>
          </a:prstGeom>
          <a:solidFill xmlns:a="http://schemas.openxmlformats.org/drawingml/2006/main">
            <a:srgbClr val="FFFFFF"/>
          </a:solidFill>
          <a:ln xmlns:a="http://schemas.openxmlformats.org/drawingml/2006/main" w="9525">
            <a:solidFill>
              <a:srgbClr val="DCE4F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830A622C-ABF5-4B39-AB27-75E941775294}"/>
              </a:ext>
            </a:extLst>
          </p:cNvPr>
          <p:cNvSpPr>
            <a:spLocks xmlns:a="http://schemas.openxmlformats.org/drawingml/2006/main" noGrp="1"/>
          </p:cNvSpPr>
          <p:nvPr/>
        </p:nvSpPr>
        <p:spPr>
          <a:xfrm xmlns:a="http://schemas.openxmlformats.org/drawingml/2006/main">
            <a:off x="685800" y="2057400"/>
            <a:ext cx="552450" cy="381000"/>
          </a:xfrm>
          <a:prstGeom xmlns:a="http://schemas.openxmlformats.org/drawingml/2006/main" prst="roundRect">
            <a:avLst>
              <a:gd name="adj" fmla="val 50000"/>
            </a:avLst>
          </a:prstGeom>
          <a:solidFill xmlns:a="http://schemas.openxmlformats.org/drawingml/2006/main">
            <a:srgbClr val="8B5CF6">
              <a:alpha val="15000"/>
            </a:srgbClr>
          </a:solidFill>
          <a:ln xmlns:a="http://schemas.openxmlformats.org/drawingml/2006/main" w="9525">
            <a:solidFill>
              <a:srgbClr val="8B5CF6">
                <a:alpha val="22000"/>
              </a:srgbClr>
            </a:solidFill>
            <a:prstDash val="solid"/>
          </a:ln>
        </p:spPr>
      </p:sp>
      <p:sp>
        <p:nvSpPr>
          <p:cNvPr id="12" name="">
            <a:extLst xmlns:a="http://schemas.openxmlformats.org/drawingml/2006/main">
              <a:ext uri="{FF2B5EF4-FFF2-40B4-BE49-F238E27FC236}">
                <a16:creationId xmlns:a16="http://schemas.microsoft.com/office/drawing/2014/main" id="{723C992F-0442-432B-9863-6A72AE4E7634}"/>
              </a:ext>
            </a:extLst>
          </p:cNvPr>
          <p:cNvSpPr>
            <a:spLocks xmlns:a="http://schemas.openxmlformats.org/drawingml/2006/main" noGrp="1"/>
          </p:cNvSpPr>
          <p:nvPr/>
        </p:nvSpPr>
        <p:spPr>
          <a:xfrm xmlns:a="http://schemas.openxmlformats.org/drawingml/2006/main">
            <a:off x="800100" y="2066925"/>
            <a:ext cx="323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6941C6"/>
                </a:solidFill>
                <a:latin typeface="Aptos"/>
                <a:ea typeface="Aptos"/>
                <a:cs typeface="Aptos"/>
              </a:defRPr>
            </a:pPr>
            <a:r>
              <a:rPr sz="1125" b="1">
                <a:solidFill>
                  <a:srgbClr val="6941C6"/>
                </a:solidFill>
                <a:latin typeface="Aptos"/>
                <a:ea typeface="Aptos"/>
                <a:cs typeface="Aptos"/>
              </a:rPr>
              <a:t>01</a:t>
            </a:r>
          </a:p>
        </p:txBody>
      </p:sp>
      <p:sp>
        <p:nvSpPr>
          <p:cNvPr id="13" name="">
            <a:extLst xmlns:a="http://schemas.openxmlformats.org/drawingml/2006/main">
              <a:ext uri="{FF2B5EF4-FFF2-40B4-BE49-F238E27FC236}">
                <a16:creationId xmlns:a16="http://schemas.microsoft.com/office/drawing/2014/main" id="{EEC4BE1B-1979-4597-BA70-7CBE219E8F20}"/>
              </a:ext>
            </a:extLst>
          </p:cNvPr>
          <p:cNvSpPr>
            <a:spLocks xmlns:a="http://schemas.openxmlformats.org/drawingml/2006/main" noGrp="1"/>
          </p:cNvSpPr>
          <p:nvPr/>
        </p:nvSpPr>
        <p:spPr>
          <a:xfrm xmlns:a="http://schemas.openxmlformats.org/drawingml/2006/main">
            <a:off x="1466850" y="20002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4213D"/>
                </a:solidFill>
                <a:latin typeface="Aptos"/>
                <a:ea typeface="Aptos"/>
                <a:cs typeface="Aptos"/>
              </a:defRPr>
            </a:pPr>
            <a:r>
              <a:rPr sz="1575" b="1">
                <a:solidFill>
                  <a:srgbClr val="14213D"/>
                </a:solidFill>
                <a:latin typeface="Aptos"/>
                <a:ea typeface="Aptos"/>
                <a:cs typeface="Aptos"/>
              </a:rPr>
              <a:t>High-yield episode</a:t>
            </a:r>
          </a:p>
        </p:txBody>
      </p:sp>
      <p:sp>
        <p:nvSpPr>
          <p:cNvPr id="14" name="">
            <a:extLst xmlns:a="http://schemas.openxmlformats.org/drawingml/2006/main">
              <a:ext uri="{FF2B5EF4-FFF2-40B4-BE49-F238E27FC236}">
                <a16:creationId xmlns:a16="http://schemas.microsoft.com/office/drawing/2014/main" id="{BC0BBC77-4705-43F2-BC23-2CB6EBB2BD0A}"/>
              </a:ext>
            </a:extLst>
          </p:cNvPr>
          <p:cNvSpPr>
            <a:spLocks xmlns:a="http://schemas.openxmlformats.org/drawingml/2006/main" noGrp="1"/>
          </p:cNvSpPr>
          <p:nvPr/>
        </p:nvSpPr>
        <p:spPr>
          <a:xfrm xmlns:a="http://schemas.openxmlformats.org/drawingml/2006/main">
            <a:off x="4095750" y="19812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14213D"/>
                </a:solidFill>
                <a:latin typeface="Aptos"/>
                <a:ea typeface="Aptos"/>
                <a:cs typeface="Aptos"/>
              </a:defRPr>
            </a:pPr>
            <a:r>
              <a:rPr sz="1200" b="0">
                <a:solidFill>
                  <a:srgbClr val="14213D"/>
                </a:solidFill>
                <a:latin typeface="Aptos"/>
                <a:ea typeface="Aptos"/>
                <a:cs typeface="Aptos"/>
              </a:rPr>
              <a:t>APY at or above 10%; contiguous observed run; one missing calendar day tolerated; active runs right-censored.</a:t>
            </a:r>
          </a:p>
        </p:txBody>
      </p:sp>
      <p:sp>
        <p:nvSpPr>
          <p:cNvPr id="15" name="">
            <a:extLst xmlns:a="http://schemas.openxmlformats.org/drawingml/2006/main">
              <a:ext uri="{FF2B5EF4-FFF2-40B4-BE49-F238E27FC236}">
                <a16:creationId xmlns:a16="http://schemas.microsoft.com/office/drawing/2014/main" id="{B6EFF714-75D1-4AEC-A25B-610CE0505C25}"/>
              </a:ext>
            </a:extLst>
          </p:cNvPr>
          <p:cNvSpPr>
            <a:spLocks xmlns:a="http://schemas.openxmlformats.org/drawingml/2006/main" noGrp="1"/>
          </p:cNvSpPr>
          <p:nvPr/>
        </p:nvSpPr>
        <p:spPr>
          <a:xfrm xmlns:a="http://schemas.openxmlformats.org/drawingml/2006/main">
            <a:off x="8858250" y="1981200"/>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6941C6"/>
                </a:solidFill>
                <a:latin typeface="Aptos"/>
                <a:ea typeface="Aptos"/>
                <a:cs typeface="Aptos"/>
              </a:defRPr>
            </a:pPr>
            <a:r>
              <a:rPr sz="1125" b="1">
                <a:solidFill>
                  <a:srgbClr val="6941C6"/>
                </a:solidFill>
                <a:latin typeface="Aptos"/>
                <a:ea typeface="Aptos"/>
                <a:cs typeface="Aptos"/>
              </a:rPr>
              <a:t>Kaplan-Meier retains censored episodes.</a:t>
            </a:r>
          </a:p>
        </p:txBody>
      </p:sp>
      <p:sp>
        <p:nvSpPr>
          <p:cNvPr id="16" name="">
            <a:extLst xmlns:a="http://schemas.openxmlformats.org/drawingml/2006/main">
              <a:ext uri="{FF2B5EF4-FFF2-40B4-BE49-F238E27FC236}">
                <a16:creationId xmlns:a16="http://schemas.microsoft.com/office/drawing/2014/main" id="{DD20F4EC-7213-4B92-A8BB-6AA75DA675C9}"/>
              </a:ext>
            </a:extLst>
          </p:cNvPr>
          <p:cNvSpPr>
            <a:spLocks xmlns:a="http://schemas.openxmlformats.org/drawingml/2006/main" noGrp="1"/>
          </p:cNvSpPr>
          <p:nvPr/>
        </p:nvSpPr>
        <p:spPr>
          <a:xfrm xmlns:a="http://schemas.openxmlformats.org/drawingml/2006/main">
            <a:off x="685800" y="2686050"/>
            <a:ext cx="10648950" cy="9525"/>
          </a:xfrm>
          <a:prstGeom xmlns:a="http://schemas.openxmlformats.org/drawingml/2006/main" prst="line">
            <a:avLst/>
          </a:prstGeom>
          <a:noFill xmlns:a="http://schemas.openxmlformats.org/drawingml/2006/main"/>
          <a:ln xmlns:a="http://schemas.openxmlformats.org/drawingml/2006/main" w="9525">
            <a:solidFill>
              <a:srgbClr val="DCE4F2"/>
            </a:solidFill>
            <a:prstDash val="solid"/>
          </a:ln>
        </p:spPr>
      </p:sp>
      <p:sp>
        <p:nvSpPr>
          <p:cNvPr id="17" name="">
            <a:extLst xmlns:a="http://schemas.openxmlformats.org/drawingml/2006/main">
              <a:ext uri="{FF2B5EF4-FFF2-40B4-BE49-F238E27FC236}">
                <a16:creationId xmlns:a16="http://schemas.microsoft.com/office/drawing/2014/main" id="{E2E377B6-30DB-4A4B-810F-441F534988D8}"/>
              </a:ext>
            </a:extLst>
          </p:cNvPr>
          <p:cNvSpPr>
            <a:spLocks xmlns:a="http://schemas.openxmlformats.org/drawingml/2006/main" noGrp="1"/>
          </p:cNvSpPr>
          <p:nvPr/>
        </p:nvSpPr>
        <p:spPr>
          <a:xfrm xmlns:a="http://schemas.openxmlformats.org/drawingml/2006/main">
            <a:off x="685800" y="2952750"/>
            <a:ext cx="552450" cy="381000"/>
          </a:xfrm>
          <a:prstGeom xmlns:a="http://schemas.openxmlformats.org/drawingml/2006/main" prst="roundRect">
            <a:avLst>
              <a:gd name="adj" fmla="val 50000"/>
            </a:avLst>
          </a:prstGeom>
          <a:solidFill xmlns:a="http://schemas.openxmlformats.org/drawingml/2006/main">
            <a:srgbClr val="4F7CFF">
              <a:alpha val="15000"/>
            </a:srgbClr>
          </a:solidFill>
          <a:ln xmlns:a="http://schemas.openxmlformats.org/drawingml/2006/main" w="9525">
            <a:solidFill>
              <a:srgbClr val="4F7CFF">
                <a:alpha val="22000"/>
              </a:srgbClr>
            </a:solidFill>
            <a:prstDash val="solid"/>
          </a:ln>
        </p:spPr>
      </p:sp>
      <p:sp>
        <p:nvSpPr>
          <p:cNvPr id="18" name="">
            <a:extLst xmlns:a="http://schemas.openxmlformats.org/drawingml/2006/main">
              <a:ext uri="{FF2B5EF4-FFF2-40B4-BE49-F238E27FC236}">
                <a16:creationId xmlns:a16="http://schemas.microsoft.com/office/drawing/2014/main" id="{88CF5243-5DB1-4033-91F7-3A13C3E15368}"/>
              </a:ext>
            </a:extLst>
          </p:cNvPr>
          <p:cNvSpPr>
            <a:spLocks xmlns:a="http://schemas.openxmlformats.org/drawingml/2006/main" noGrp="1"/>
          </p:cNvSpPr>
          <p:nvPr/>
        </p:nvSpPr>
        <p:spPr>
          <a:xfrm xmlns:a="http://schemas.openxmlformats.org/drawingml/2006/main">
            <a:off x="800100" y="2962275"/>
            <a:ext cx="323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3159C9"/>
                </a:solidFill>
                <a:latin typeface="Aptos"/>
                <a:ea typeface="Aptos"/>
                <a:cs typeface="Aptos"/>
              </a:defRPr>
            </a:pPr>
            <a:r>
              <a:rPr sz="1125" b="1">
                <a:solidFill>
                  <a:srgbClr val="3159C9"/>
                </a:solidFill>
                <a:latin typeface="Aptos"/>
                <a:ea typeface="Aptos"/>
                <a:cs typeface="Aptos"/>
              </a:rPr>
              <a:t>02</a:t>
            </a:r>
          </a:p>
        </p:txBody>
      </p:sp>
      <p:sp>
        <p:nvSpPr>
          <p:cNvPr id="19" name="">
            <a:extLst xmlns:a="http://schemas.openxmlformats.org/drawingml/2006/main">
              <a:ext uri="{FF2B5EF4-FFF2-40B4-BE49-F238E27FC236}">
                <a16:creationId xmlns:a16="http://schemas.microsoft.com/office/drawing/2014/main" id="{08D331F1-404C-4DCA-A18D-7F89C20E4033}"/>
              </a:ext>
            </a:extLst>
          </p:cNvPr>
          <p:cNvSpPr>
            <a:spLocks xmlns:a="http://schemas.openxmlformats.org/drawingml/2006/main" noGrp="1"/>
          </p:cNvSpPr>
          <p:nvPr/>
        </p:nvSpPr>
        <p:spPr>
          <a:xfrm xmlns:a="http://schemas.openxmlformats.org/drawingml/2006/main">
            <a:off x="1466850" y="28956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4213D"/>
                </a:solidFill>
                <a:latin typeface="Aptos"/>
                <a:ea typeface="Aptos"/>
                <a:cs typeface="Aptos"/>
              </a:defRPr>
            </a:pPr>
            <a:r>
              <a:rPr sz="1575" b="1">
                <a:solidFill>
                  <a:srgbClr val="14213D"/>
                </a:solidFill>
                <a:latin typeface="Aptos"/>
                <a:ea typeface="Aptos"/>
                <a:cs typeface="Aptos"/>
              </a:rPr>
              <a:t>Ranking churn</a:t>
            </a:r>
          </a:p>
        </p:txBody>
      </p:sp>
      <p:sp>
        <p:nvSpPr>
          <p:cNvPr id="20" name="">
            <a:extLst xmlns:a="http://schemas.openxmlformats.org/drawingml/2006/main">
              <a:ext uri="{FF2B5EF4-FFF2-40B4-BE49-F238E27FC236}">
                <a16:creationId xmlns:a16="http://schemas.microsoft.com/office/drawing/2014/main" id="{A6FE230D-B33A-4939-9FB4-71EF3877EFE2}"/>
              </a:ext>
            </a:extLst>
          </p:cNvPr>
          <p:cNvSpPr>
            <a:spLocks xmlns:a="http://schemas.openxmlformats.org/drawingml/2006/main" noGrp="1"/>
          </p:cNvSpPr>
          <p:nvPr/>
        </p:nvSpPr>
        <p:spPr>
          <a:xfrm xmlns:a="http://schemas.openxmlformats.org/drawingml/2006/main">
            <a:off x="4095750" y="287655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14213D"/>
                </a:solidFill>
                <a:latin typeface="Aptos"/>
                <a:ea typeface="Aptos"/>
                <a:cs typeface="Aptos"/>
              </a:defRPr>
            </a:pPr>
            <a:r>
              <a:rPr sz="1200" b="0">
                <a:solidFill>
                  <a:srgbClr val="14213D"/>
                </a:solidFill>
                <a:latin typeface="Aptos"/>
                <a:ea typeface="Aptos"/>
                <a:cs typeface="Aptos"/>
              </a:rPr>
              <a:t>1 - intersection share of top-k sets at t and t+h; k = 10 or 20; h = 1, 7 or 30 days.</a:t>
            </a:r>
          </a:p>
        </p:txBody>
      </p:sp>
      <p:sp>
        <p:nvSpPr>
          <p:cNvPr id="21" name="">
            <a:extLst xmlns:a="http://schemas.openxmlformats.org/drawingml/2006/main">
              <a:ext uri="{FF2B5EF4-FFF2-40B4-BE49-F238E27FC236}">
                <a16:creationId xmlns:a16="http://schemas.microsoft.com/office/drawing/2014/main" id="{2494D496-5CDC-4076-B0C3-816EC1CADB63}"/>
              </a:ext>
            </a:extLst>
          </p:cNvPr>
          <p:cNvSpPr>
            <a:spLocks xmlns:a="http://schemas.openxmlformats.org/drawingml/2006/main" noGrp="1"/>
          </p:cNvSpPr>
          <p:nvPr/>
        </p:nvSpPr>
        <p:spPr>
          <a:xfrm xmlns:a="http://schemas.openxmlformats.org/drawingml/2006/main">
            <a:off x="8858250" y="2876550"/>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3159C9"/>
                </a:solidFill>
                <a:latin typeface="Aptos"/>
                <a:ea typeface="Aptos"/>
                <a:cs typeface="Aptos"/>
              </a:defRPr>
            </a:pPr>
            <a:r>
              <a:rPr sz="1125" b="1">
                <a:solidFill>
                  <a:srgbClr val="3159C9"/>
                </a:solidFill>
                <a:latin typeface="Aptos"/>
                <a:ea typeface="Aptos"/>
                <a:cs typeface="Aptos"/>
              </a:rPr>
              <a:t>Stability diagnostic, not a leaderboard.</a:t>
            </a:r>
          </a:p>
        </p:txBody>
      </p:sp>
      <p:sp>
        <p:nvSpPr>
          <p:cNvPr id="22" name="">
            <a:extLst xmlns:a="http://schemas.openxmlformats.org/drawingml/2006/main">
              <a:ext uri="{FF2B5EF4-FFF2-40B4-BE49-F238E27FC236}">
                <a16:creationId xmlns:a16="http://schemas.microsoft.com/office/drawing/2014/main" id="{D93A597D-578E-4B08-B4B0-03ADA4BEE1F7}"/>
              </a:ext>
            </a:extLst>
          </p:cNvPr>
          <p:cNvSpPr>
            <a:spLocks xmlns:a="http://schemas.openxmlformats.org/drawingml/2006/main" noGrp="1"/>
          </p:cNvSpPr>
          <p:nvPr/>
        </p:nvSpPr>
        <p:spPr>
          <a:xfrm xmlns:a="http://schemas.openxmlformats.org/drawingml/2006/main">
            <a:off x="685800" y="3581400"/>
            <a:ext cx="10648950" cy="9525"/>
          </a:xfrm>
          <a:prstGeom xmlns:a="http://schemas.openxmlformats.org/drawingml/2006/main" prst="line">
            <a:avLst/>
          </a:prstGeom>
          <a:noFill xmlns:a="http://schemas.openxmlformats.org/drawingml/2006/main"/>
          <a:ln xmlns:a="http://schemas.openxmlformats.org/drawingml/2006/main" w="9525">
            <a:solidFill>
              <a:srgbClr val="DCE4F2"/>
            </a:solidFill>
            <a:prstDash val="solid"/>
          </a:ln>
        </p:spPr>
      </p:sp>
      <p:sp>
        <p:nvSpPr>
          <p:cNvPr id="23" name="">
            <a:extLst xmlns:a="http://schemas.openxmlformats.org/drawingml/2006/main">
              <a:ext uri="{FF2B5EF4-FFF2-40B4-BE49-F238E27FC236}">
                <a16:creationId xmlns:a16="http://schemas.microsoft.com/office/drawing/2014/main" id="{7C103002-2F15-457B-9753-714656EE7154}"/>
              </a:ext>
            </a:extLst>
          </p:cNvPr>
          <p:cNvSpPr>
            <a:spLocks xmlns:a="http://schemas.openxmlformats.org/drawingml/2006/main" noGrp="1"/>
          </p:cNvSpPr>
          <p:nvPr/>
        </p:nvSpPr>
        <p:spPr>
          <a:xfrm xmlns:a="http://schemas.openxmlformats.org/drawingml/2006/main">
            <a:off x="685800" y="3848100"/>
            <a:ext cx="552450" cy="381000"/>
          </a:xfrm>
          <a:prstGeom xmlns:a="http://schemas.openxmlformats.org/drawingml/2006/main" prst="roundRect">
            <a:avLst>
              <a:gd name="adj" fmla="val 50000"/>
            </a:avLst>
          </a:prstGeom>
          <a:solidFill xmlns:a="http://schemas.openxmlformats.org/drawingml/2006/main">
            <a:srgbClr val="F6B84B">
              <a:alpha val="15000"/>
            </a:srgbClr>
          </a:solidFill>
          <a:ln xmlns:a="http://schemas.openxmlformats.org/drawingml/2006/main" w="9525">
            <a:solidFill>
              <a:srgbClr val="F6B84B">
                <a:alpha val="22000"/>
              </a:srgbClr>
            </a:solidFill>
            <a:prstDash val="solid"/>
          </a:ln>
        </p:spPr>
      </p:sp>
      <p:sp>
        <p:nvSpPr>
          <p:cNvPr id="24" name="">
            <a:extLst xmlns:a="http://schemas.openxmlformats.org/drawingml/2006/main">
              <a:ext uri="{FF2B5EF4-FFF2-40B4-BE49-F238E27FC236}">
                <a16:creationId xmlns:a16="http://schemas.microsoft.com/office/drawing/2014/main" id="{BE4A448F-C7CA-4D4B-A8F6-FE18EED5C899}"/>
              </a:ext>
            </a:extLst>
          </p:cNvPr>
          <p:cNvSpPr>
            <a:spLocks xmlns:a="http://schemas.openxmlformats.org/drawingml/2006/main" noGrp="1"/>
          </p:cNvSpPr>
          <p:nvPr/>
        </p:nvSpPr>
        <p:spPr>
          <a:xfrm xmlns:a="http://schemas.openxmlformats.org/drawingml/2006/main">
            <a:off x="800100" y="3857625"/>
            <a:ext cx="323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925900"/>
                </a:solidFill>
                <a:latin typeface="Aptos"/>
                <a:ea typeface="Aptos"/>
                <a:cs typeface="Aptos"/>
              </a:defRPr>
            </a:pPr>
            <a:r>
              <a:rPr sz="1125" b="1">
                <a:solidFill>
                  <a:srgbClr val="925900"/>
                </a:solidFill>
                <a:latin typeface="Aptos"/>
                <a:ea typeface="Aptos"/>
                <a:cs typeface="Aptos"/>
              </a:rPr>
              <a:t>03</a:t>
            </a:r>
          </a:p>
        </p:txBody>
      </p:sp>
      <p:sp>
        <p:nvSpPr>
          <p:cNvPr id="25" name="">
            <a:extLst xmlns:a="http://schemas.openxmlformats.org/drawingml/2006/main">
              <a:ext uri="{FF2B5EF4-FFF2-40B4-BE49-F238E27FC236}">
                <a16:creationId xmlns:a16="http://schemas.microsoft.com/office/drawing/2014/main" id="{F42D8D0E-BFCC-42E5-9AB2-37C358652EA5}"/>
              </a:ext>
            </a:extLst>
          </p:cNvPr>
          <p:cNvSpPr>
            <a:spLocks xmlns:a="http://schemas.openxmlformats.org/drawingml/2006/main" noGrp="1"/>
          </p:cNvSpPr>
          <p:nvPr/>
        </p:nvSpPr>
        <p:spPr>
          <a:xfrm xmlns:a="http://schemas.openxmlformats.org/drawingml/2006/main">
            <a:off x="1466850" y="37909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4213D"/>
                </a:solidFill>
                <a:latin typeface="Aptos"/>
                <a:ea typeface="Aptos"/>
                <a:cs typeface="Aptos"/>
              </a:defRPr>
            </a:pPr>
            <a:r>
              <a:rPr sz="1575" b="1">
                <a:solidFill>
                  <a:srgbClr val="14213D"/>
                </a:solidFill>
                <a:latin typeface="Aptos"/>
                <a:ea typeface="Aptos"/>
                <a:cs typeface="Aptos"/>
              </a:rPr>
              <a:t>APY-jump event</a:t>
            </a:r>
          </a:p>
        </p:txBody>
      </p:sp>
      <p:sp>
        <p:nvSpPr>
          <p:cNvPr id="26" name="">
            <a:extLst xmlns:a="http://schemas.openxmlformats.org/drawingml/2006/main">
              <a:ext uri="{FF2B5EF4-FFF2-40B4-BE49-F238E27FC236}">
                <a16:creationId xmlns:a16="http://schemas.microsoft.com/office/drawing/2014/main" id="{4B1EAED2-40C2-48E5-88A3-A3209C9571BD}"/>
              </a:ext>
            </a:extLst>
          </p:cNvPr>
          <p:cNvSpPr>
            <a:spLocks xmlns:a="http://schemas.openxmlformats.org/drawingml/2006/main" noGrp="1"/>
          </p:cNvSpPr>
          <p:nvPr/>
        </p:nvSpPr>
        <p:spPr>
          <a:xfrm xmlns:a="http://schemas.openxmlformats.org/drawingml/2006/main">
            <a:off x="4095750" y="37719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14213D"/>
                </a:solidFill>
                <a:latin typeface="Aptos"/>
                <a:ea typeface="Aptos"/>
                <a:cs typeface="Aptos"/>
              </a:defRPr>
            </a:pPr>
            <a:r>
              <a:rPr sz="1200" b="0">
                <a:solidFill>
                  <a:srgbClr val="14213D"/>
                </a:solidFill>
                <a:latin typeface="Aptos"/>
                <a:ea typeface="Aptos"/>
                <a:cs typeface="Aptos"/>
              </a:rPr>
              <a:t>APY increase &gt;= 5 pp on consecutive calendar days and APY &gt;= 10%. First 3 events per pool. Window: -7 to +30 days.</a:t>
            </a:r>
          </a:p>
        </p:txBody>
      </p:sp>
      <p:sp>
        <p:nvSpPr>
          <p:cNvPr id="27" name="">
            <a:extLst xmlns:a="http://schemas.openxmlformats.org/drawingml/2006/main">
              <a:ext uri="{FF2B5EF4-FFF2-40B4-BE49-F238E27FC236}">
                <a16:creationId xmlns:a16="http://schemas.microsoft.com/office/drawing/2014/main" id="{34E9D15D-EE95-464B-AC2B-C7A2801422FD}"/>
              </a:ext>
            </a:extLst>
          </p:cNvPr>
          <p:cNvSpPr>
            <a:spLocks xmlns:a="http://schemas.openxmlformats.org/drawingml/2006/main" noGrp="1"/>
          </p:cNvSpPr>
          <p:nvPr/>
        </p:nvSpPr>
        <p:spPr>
          <a:xfrm xmlns:a="http://schemas.openxmlformats.org/drawingml/2006/main">
            <a:off x="8858250" y="3771900"/>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925900"/>
                </a:solidFill>
                <a:latin typeface="Aptos"/>
                <a:ea typeface="Aptos"/>
                <a:cs typeface="Aptos"/>
              </a:defRPr>
            </a:pPr>
            <a:r>
              <a:rPr sz="1125" b="1">
                <a:solidFill>
                  <a:srgbClr val="925900"/>
                </a:solidFill>
                <a:latin typeface="Aptos"/>
                <a:ea typeface="Aptos"/>
                <a:cs typeface="Aptos"/>
              </a:rPr>
              <a:t>450 events at day 0; TVL remains observational.</a:t>
            </a:r>
          </a:p>
        </p:txBody>
      </p:sp>
      <p:sp>
        <p:nvSpPr>
          <p:cNvPr id="28" name="">
            <a:extLst xmlns:a="http://schemas.openxmlformats.org/drawingml/2006/main">
              <a:ext uri="{FF2B5EF4-FFF2-40B4-BE49-F238E27FC236}">
                <a16:creationId xmlns:a16="http://schemas.microsoft.com/office/drawing/2014/main" id="{7C8FE198-1C7C-4D98-BDD4-D4F421AEC6A8}"/>
              </a:ext>
            </a:extLst>
          </p:cNvPr>
          <p:cNvSpPr>
            <a:spLocks xmlns:a="http://schemas.openxmlformats.org/drawingml/2006/main" noGrp="1"/>
          </p:cNvSpPr>
          <p:nvPr/>
        </p:nvSpPr>
        <p:spPr>
          <a:xfrm xmlns:a="http://schemas.openxmlformats.org/drawingml/2006/main">
            <a:off x="685800" y="4476750"/>
            <a:ext cx="10648950" cy="9525"/>
          </a:xfrm>
          <a:prstGeom xmlns:a="http://schemas.openxmlformats.org/drawingml/2006/main" prst="line">
            <a:avLst/>
          </a:prstGeom>
          <a:noFill xmlns:a="http://schemas.openxmlformats.org/drawingml/2006/main"/>
          <a:ln xmlns:a="http://schemas.openxmlformats.org/drawingml/2006/main" w="9525">
            <a:solidFill>
              <a:srgbClr val="DCE4F2"/>
            </a:solidFill>
            <a:prstDash val="solid"/>
          </a:ln>
        </p:spPr>
      </p:sp>
      <p:sp>
        <p:nvSpPr>
          <p:cNvPr id="29" name="">
            <a:extLst xmlns:a="http://schemas.openxmlformats.org/drawingml/2006/main">
              <a:ext uri="{FF2B5EF4-FFF2-40B4-BE49-F238E27FC236}">
                <a16:creationId xmlns:a16="http://schemas.microsoft.com/office/drawing/2014/main" id="{D524316E-6C34-4D72-9816-2B91A21E1E43}"/>
              </a:ext>
            </a:extLst>
          </p:cNvPr>
          <p:cNvSpPr>
            <a:spLocks xmlns:a="http://schemas.openxmlformats.org/drawingml/2006/main" noGrp="1"/>
          </p:cNvSpPr>
          <p:nvPr/>
        </p:nvSpPr>
        <p:spPr>
          <a:xfrm xmlns:a="http://schemas.openxmlformats.org/drawingml/2006/main">
            <a:off x="685800" y="4743450"/>
            <a:ext cx="552450" cy="381000"/>
          </a:xfrm>
          <a:prstGeom xmlns:a="http://schemas.openxmlformats.org/drawingml/2006/main" prst="roundRect">
            <a:avLst>
              <a:gd name="adj" fmla="val 50000"/>
            </a:avLst>
          </a:prstGeom>
          <a:solidFill xmlns:a="http://schemas.openxmlformats.org/drawingml/2006/main">
            <a:srgbClr val="2BBBAD">
              <a:alpha val="15000"/>
            </a:srgbClr>
          </a:solidFill>
          <a:ln xmlns:a="http://schemas.openxmlformats.org/drawingml/2006/main" w="9525">
            <a:solidFill>
              <a:srgbClr val="2BBBAD">
                <a:alpha val="22000"/>
              </a:srgbClr>
            </a:solidFill>
            <a:prstDash val="solid"/>
          </a:ln>
        </p:spPr>
      </p:sp>
      <p:sp>
        <p:nvSpPr>
          <p:cNvPr id="30" name="">
            <a:extLst xmlns:a="http://schemas.openxmlformats.org/drawingml/2006/main">
              <a:ext uri="{FF2B5EF4-FFF2-40B4-BE49-F238E27FC236}">
                <a16:creationId xmlns:a16="http://schemas.microsoft.com/office/drawing/2014/main" id="{98DC8403-B62D-4761-A068-A830540D3869}"/>
              </a:ext>
            </a:extLst>
          </p:cNvPr>
          <p:cNvSpPr>
            <a:spLocks xmlns:a="http://schemas.openxmlformats.org/drawingml/2006/main" noGrp="1"/>
          </p:cNvSpPr>
          <p:nvPr/>
        </p:nvSpPr>
        <p:spPr>
          <a:xfrm xmlns:a="http://schemas.openxmlformats.org/drawingml/2006/main">
            <a:off x="800100" y="4752975"/>
            <a:ext cx="323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08796F"/>
                </a:solidFill>
                <a:latin typeface="Aptos"/>
                <a:ea typeface="Aptos"/>
                <a:cs typeface="Aptos"/>
              </a:defRPr>
            </a:pPr>
            <a:r>
              <a:rPr sz="1125" b="1">
                <a:solidFill>
                  <a:srgbClr val="08796F"/>
                </a:solidFill>
                <a:latin typeface="Aptos"/>
                <a:ea typeface="Aptos"/>
                <a:cs typeface="Aptos"/>
              </a:rPr>
              <a:t>04</a:t>
            </a:r>
          </a:p>
        </p:txBody>
      </p:sp>
      <p:sp>
        <p:nvSpPr>
          <p:cNvPr id="31" name="">
            <a:extLst xmlns:a="http://schemas.openxmlformats.org/drawingml/2006/main">
              <a:ext uri="{FF2B5EF4-FFF2-40B4-BE49-F238E27FC236}">
                <a16:creationId xmlns:a16="http://schemas.microsoft.com/office/drawing/2014/main" id="{34335585-5F78-4ACF-A91B-24003888BDAB}"/>
              </a:ext>
            </a:extLst>
          </p:cNvPr>
          <p:cNvSpPr>
            <a:spLocks xmlns:a="http://schemas.openxmlformats.org/drawingml/2006/main" noGrp="1"/>
          </p:cNvSpPr>
          <p:nvPr/>
        </p:nvSpPr>
        <p:spPr>
          <a:xfrm xmlns:a="http://schemas.openxmlformats.org/drawingml/2006/main">
            <a:off x="1466850" y="46863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4213D"/>
                </a:solidFill>
                <a:latin typeface="Aptos"/>
                <a:ea typeface="Aptos"/>
                <a:cs typeface="Aptos"/>
              </a:defRPr>
            </a:pPr>
            <a:r>
              <a:rPr sz="1575" b="1">
                <a:solidFill>
                  <a:srgbClr val="14213D"/>
                </a:solidFill>
                <a:latin typeface="Aptos"/>
                <a:ea typeface="Aptos"/>
                <a:cs typeface="Aptos"/>
              </a:rPr>
              <a:t>Joint threshold screen</a:t>
            </a:r>
          </a:p>
        </p:txBody>
      </p:sp>
      <p:sp>
        <p:nvSpPr>
          <p:cNvPr id="32" name="">
            <a:extLst xmlns:a="http://schemas.openxmlformats.org/drawingml/2006/main">
              <a:ext uri="{FF2B5EF4-FFF2-40B4-BE49-F238E27FC236}">
                <a16:creationId xmlns:a16="http://schemas.microsoft.com/office/drawing/2014/main" id="{E8331101-3CDD-4644-8FFB-B6F3AC5D45DA}"/>
              </a:ext>
            </a:extLst>
          </p:cNvPr>
          <p:cNvSpPr>
            <a:spLocks xmlns:a="http://schemas.openxmlformats.org/drawingml/2006/main" noGrp="1"/>
          </p:cNvSpPr>
          <p:nvPr/>
        </p:nvSpPr>
        <p:spPr>
          <a:xfrm xmlns:a="http://schemas.openxmlformats.org/drawingml/2006/main">
            <a:off x="4095750" y="466725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14213D"/>
                </a:solidFill>
                <a:latin typeface="Aptos"/>
                <a:ea typeface="Aptos"/>
                <a:cs typeface="Aptos"/>
              </a:defRPr>
            </a:pPr>
            <a:r>
              <a:rPr sz="1200" b="0">
                <a:solidFill>
                  <a:srgbClr val="14213D"/>
                </a:solidFill>
                <a:latin typeface="Aptos"/>
                <a:ea typeface="Aptos"/>
                <a:cs typeface="Aptos"/>
              </a:rPr>
              <a:t>At or above the sample medians for pool-level APY, persistence and TVL simultaneously.</a:t>
            </a:r>
          </a:p>
        </p:txBody>
      </p:sp>
      <p:sp>
        <p:nvSpPr>
          <p:cNvPr id="33" name="">
            <a:extLst xmlns:a="http://schemas.openxmlformats.org/drawingml/2006/main">
              <a:ext uri="{FF2B5EF4-FFF2-40B4-BE49-F238E27FC236}">
                <a16:creationId xmlns:a16="http://schemas.microsoft.com/office/drawing/2014/main" id="{CF29A814-B611-4E5F-8ED9-EB1775DA9070}"/>
              </a:ext>
            </a:extLst>
          </p:cNvPr>
          <p:cNvSpPr>
            <a:spLocks xmlns:a="http://schemas.openxmlformats.org/drawingml/2006/main" noGrp="1"/>
          </p:cNvSpPr>
          <p:nvPr/>
        </p:nvSpPr>
        <p:spPr>
          <a:xfrm xmlns:a="http://schemas.openxmlformats.org/drawingml/2006/main">
            <a:off x="8858250" y="4667250"/>
            <a:ext cx="247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08796F"/>
                </a:solidFill>
                <a:latin typeface="Aptos"/>
                <a:ea typeface="Aptos"/>
                <a:cs typeface="Aptos"/>
              </a:defRPr>
            </a:pPr>
            <a:r>
              <a:rPr sz="1125" b="1">
                <a:solidFill>
                  <a:srgbClr val="08796F"/>
                </a:solidFill>
                <a:latin typeface="Aptos"/>
                <a:ea typeface="Aptos"/>
                <a:cs typeface="Aptos"/>
              </a:rPr>
              <a:t>Descriptive three-threshold screen; not a Pareto frontier.</a:t>
            </a:r>
          </a:p>
        </p:txBody>
      </p:sp>
    </p:spTree>
    <p:extLst>
      <p:ext uri="{BB962C8B-B14F-4D97-AF65-F5344CB8AC3E}">
        <p14:creationId xmlns:p14="http://schemas.microsoft.com/office/powerpoint/2010/main" val="1829769369"/>
      </p:ext>
    </p:extLst>
  </p:cSld>
</p:sld>
</file>

<file path=ppt/slides/slide5.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1ADACBE-FEF5-4E40-AA63-48EF4A714B9F}"/>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FF6B9D">
              <a:alpha val="13000"/>
            </a:srgbClr>
          </a:solidFill>
          <a:ln xmlns:a="http://schemas.openxmlformats.org/drawingml/2006/main" w="9525">
            <a:solidFill>
              <a:srgbClr val="FF6B9D">
                <a:alpha val="22000"/>
              </a:srgbClr>
            </a:solidFill>
            <a:prstDash val="solid"/>
          </a:ln>
        </p:spPr>
      </p:sp>
      <p:sp>
        <p:nvSpPr>
          <p:cNvPr id="2" name="">
            <a:extLst xmlns:a="http://schemas.openxmlformats.org/drawingml/2006/main">
              <a:ext uri="{FF2B5EF4-FFF2-40B4-BE49-F238E27FC236}">
                <a16:creationId xmlns:a16="http://schemas.microsoft.com/office/drawing/2014/main" id="{24AA5067-4E86-40FE-BF01-D0D61E4B0857}"/>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B52159"/>
                </a:solidFill>
                <a:latin typeface="Aptos"/>
                <a:ea typeface="Aptos"/>
                <a:cs typeface="Aptos"/>
              </a:defRPr>
            </a:pPr>
            <a:r>
              <a:rPr sz="975" b="1">
                <a:solidFill>
                  <a:srgbClr val="B52159"/>
                </a:solidFill>
                <a:latin typeface="Aptos"/>
                <a:ea typeface="Aptos"/>
                <a:cs typeface="Aptos"/>
              </a:rPr>
              <a:t>DISTRIBUTION</a:t>
            </a:r>
          </a:p>
        </p:txBody>
      </p:sp>
      <p:sp>
        <p:nvSpPr>
          <p:cNvPr id="3" name="">
            <a:extLst xmlns:a="http://schemas.openxmlformats.org/drawingml/2006/main">
              <a:ext uri="{FF2B5EF4-FFF2-40B4-BE49-F238E27FC236}">
                <a16:creationId xmlns:a16="http://schemas.microsoft.com/office/drawing/2014/main" id="{77B13351-947C-4C93-8F01-A132A797448E}"/>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9525">
            <a:solidFill>
              <a:srgbClr val="FF6B9D">
                <a:alpha val="22000"/>
              </a:srgbClr>
            </a:solidFill>
            <a:prstDash val="solid"/>
          </a:ln>
        </p:spPr>
      </p:sp>
      <p:sp>
        <p:nvSpPr>
          <p:cNvPr id="4" name="">
            <a:extLst xmlns:a="http://schemas.openxmlformats.org/drawingml/2006/main">
              <a:ext uri="{FF2B5EF4-FFF2-40B4-BE49-F238E27FC236}">
                <a16:creationId xmlns:a16="http://schemas.microsoft.com/office/drawing/2014/main" id="{9BA7C1C0-0A3B-49D5-BF18-06F66FA79F22}"/>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05</a:t>
            </a:r>
          </a:p>
        </p:txBody>
      </p:sp>
      <p:sp>
        <p:nvSpPr>
          <p:cNvPr id="5" name="">
            <a:extLst xmlns:a="http://schemas.openxmlformats.org/drawingml/2006/main">
              <a:ext uri="{FF2B5EF4-FFF2-40B4-BE49-F238E27FC236}">
                <a16:creationId xmlns:a16="http://schemas.microsoft.com/office/drawing/2014/main" id="{E34ADD77-4705-4B7F-9D11-0AE96172632A}"/>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475467"/>
                </a:solidFill>
                <a:latin typeface="Aptos"/>
                <a:ea typeface="Aptos"/>
                <a:cs typeface="Aptos"/>
              </a:defRPr>
            </a:pPr>
            <a:r>
              <a:rPr sz="825" b="1">
                <a:solidFill>
                  <a:srgbClr val="475467"/>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9A0E0DA6-1485-4523-8DA1-63C949052E5C}"/>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37F1C252-3569-439B-935C-9D589E5849B9}"/>
              </a:ext>
            </a:extLst>
          </p:cNvPr>
          <p:cNvSpPr>
            <a:spLocks xmlns:a="http://schemas.openxmlformats.org/drawingml/2006/main" noGrp="1"/>
          </p:cNvSpPr>
          <p:nvPr/>
        </p:nvSpPr>
        <p:spPr>
          <a:xfrm xmlns:a="http://schemas.openxmlformats.org/drawingml/2006/main">
            <a:off x="8420100" y="6486525"/>
            <a:ext cx="980515" cy="3810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0">
            <a:solidFill>
              <a:srgbClr val="FF6B9D"/>
            </a:solidFill>
            <a:prstDash val="solid"/>
          </a:ln>
        </p:spPr>
      </p:sp>
      <p:sp>
        <p:nvSpPr>
          <p:cNvPr id="8" name="">
            <a:extLst xmlns:a="http://schemas.openxmlformats.org/drawingml/2006/main">
              <a:ext uri="{FF2B5EF4-FFF2-40B4-BE49-F238E27FC236}">
                <a16:creationId xmlns:a16="http://schemas.microsoft.com/office/drawing/2014/main" id="{A5D56F59-8161-4F54-A25C-33B8FC848DE9}"/>
              </a:ext>
            </a:extLst>
          </p:cNvPr>
          <p:cNvSpPr>
            <a:spLocks xmlns:a="http://schemas.openxmlformats.org/drawingml/2006/main" noGrp="1"/>
          </p:cNvSpPr>
          <p:nvPr/>
        </p:nvSpPr>
        <p:spPr>
          <a:xfrm xmlns:a="http://schemas.openxmlformats.org/drawingml/2006/main">
            <a:off x="419100" y="7620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4213D"/>
                </a:solidFill>
                <a:latin typeface="Aptos"/>
                <a:ea typeface="Aptos"/>
                <a:cs typeface="Aptos"/>
              </a:defRPr>
            </a:pPr>
            <a:r>
              <a:rPr sz="3000" b="1">
                <a:solidFill>
                  <a:srgbClr val="14213D"/>
                </a:solidFill>
                <a:latin typeface="Aptos"/>
                <a:ea typeface="Aptos"/>
                <a:cs typeface="Aptos"/>
              </a:rPr>
              <a:t>Headline APY needs robust summaries</a:t>
            </a:r>
          </a:p>
        </p:txBody>
      </p:sp>
      <p:sp>
        <p:nvSpPr>
          <p:cNvPr id="9" name="">
            <a:extLst xmlns:a="http://schemas.openxmlformats.org/drawingml/2006/main">
              <a:ext uri="{FF2B5EF4-FFF2-40B4-BE49-F238E27FC236}">
                <a16:creationId xmlns:a16="http://schemas.microsoft.com/office/drawing/2014/main" id="{E3312E94-B895-4025-8090-CD4AF505F6FC}"/>
              </a:ext>
            </a:extLst>
          </p:cNvPr>
          <p:cNvSpPr>
            <a:spLocks xmlns:a="http://schemas.openxmlformats.org/drawingml/2006/main" noGrp="1"/>
          </p:cNvSpPr>
          <p:nvPr/>
        </p:nvSpPr>
        <p:spPr>
          <a:xfrm xmlns:a="http://schemas.openxmlformats.org/drawingml/2006/main">
            <a:off x="419100" y="13335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475467"/>
                </a:solidFill>
                <a:latin typeface="Aptos"/>
                <a:ea typeface="Aptos"/>
                <a:cs typeface="Aptos"/>
              </a:defRPr>
            </a:pPr>
            <a:r>
              <a:rPr sz="1350" b="0">
                <a:solidFill>
                  <a:srgbClr val="475467"/>
                </a:solidFill>
                <a:latin typeface="Aptos"/>
                <a:ea typeface="Aptos"/>
                <a:cs typeface="Aptos"/>
              </a:rPr>
              <a:t>Why are headline APY values hard to compare?</a:t>
            </a:r>
          </a:p>
        </p:txBody>
      </p:sp>
      <p:sp>
        <p:nvSpPr>
          <p:cNvPr id="10" name="">
            <a:extLst xmlns:a="http://schemas.openxmlformats.org/drawingml/2006/main">
              <a:ext uri="{FF2B5EF4-FFF2-40B4-BE49-F238E27FC236}">
                <a16:creationId xmlns:a16="http://schemas.microsoft.com/office/drawing/2014/main" id="{D30C55C9-7FB0-4D3B-96CB-E500027851C6}"/>
              </a:ext>
            </a:extLst>
          </p:cNvPr>
          <p:cNvSpPr>
            <a:spLocks xmlns:a="http://schemas.openxmlformats.org/drawingml/2006/main" noGrp="1"/>
          </p:cNvSpPr>
          <p:nvPr/>
        </p:nvSpPr>
        <p:spPr>
          <a:xfrm xmlns:a="http://schemas.openxmlformats.org/drawingml/2006/main">
            <a:off x="3810000" y="1771650"/>
            <a:ext cx="7943850" cy="4057650"/>
          </a:xfrm>
          <a:prstGeom xmlns:a="http://schemas.openxmlformats.org/drawingml/2006/main" prst="roundRect">
            <a:avLst>
              <a:gd name="adj" fmla="val 6103"/>
            </a:avLst>
          </a:prstGeom>
          <a:solidFill xmlns:a="http://schemas.openxmlformats.org/drawingml/2006/main">
            <a:srgbClr val="FFFFFF"/>
          </a:solidFill>
          <a:ln xmlns:a="http://schemas.openxmlformats.org/drawingml/2006/main" w="9525">
            <a:solidFill>
              <a:srgbClr val="DCE4F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3F2D1687-F4EE-45BF-8E7F-1826127B161D}"/>
              </a:ext>
            </a:extLst>
          </p:cNvPr>
          <p:cNvSpPr>
            <a:spLocks xmlns:a="http://schemas.openxmlformats.org/drawingml/2006/main" noGrp="1"/>
          </p:cNvSpPr>
          <p:nvPr/>
        </p:nvSpPr>
        <p:spPr>
          <a:xfrm xmlns:a="http://schemas.openxmlformats.org/drawingml/2006/main">
            <a:off x="4019550" y="1943100"/>
            <a:ext cx="819150" cy="57150"/>
          </a:xfrm>
          <a:prstGeom xmlns:a="http://schemas.openxmlformats.org/drawingml/2006/main" prst="roundRect">
            <a:avLst>
              <a:gd name="adj" fmla="val 50000"/>
            </a:avLst>
          </a:prstGeom>
          <a:gradFill xmlns:a="http://schemas.openxmlformats.org/drawingml/2006/main">
            <a:gsLst>
              <a:gs pos="0">
                <a:srgbClr val="FF6B9D"/>
              </a:gs>
              <a:gs pos="100000">
                <a:srgbClr val="23C9D8"/>
              </a:gs>
            </a:gsLst>
            <a:lin ang="0"/>
          </a:gradFill>
          <a:ln xmlns:a="http://schemas.openxmlformats.org/drawingml/2006/main" w="0">
            <a:gradFill>
              <a:gsLst>
                <a:gs pos="0">
                  <a:srgbClr val="FF6B9D"/>
                </a:gs>
                <a:gs pos="100000">
                  <a:srgbClr val="23C9D8"/>
                </a:gs>
              </a:gsLst>
              <a:lin ang="0"/>
            </a:gra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59b2d4c7076640b0"/>
          <a:stretch xmlns:a="http://schemas.openxmlformats.org/drawingml/2006/main"/>
        </p:blipFill>
        <p:spPr>
          <a:xfrm xmlns:a="http://schemas.openxmlformats.org/drawingml/2006/main">
            <a:off x="3981450" y="2095500"/>
            <a:ext cx="7600950" cy="3562350"/>
          </a:xfrm>
          <a:prstGeom xmlns:a="http://schemas.openxmlformats.org/drawingml/2006/main" prst="roundRect">
            <a:avLst>
              <a:gd name="adj" fmla="val 4278"/>
            </a:avLst>
          </a:prstGeom>
        </p:spPr>
      </p:pic>
      <p:sp>
        <p:nvSpPr>
          <p:cNvPr id="13" name="">
            <a:extLst xmlns:a="http://schemas.openxmlformats.org/drawingml/2006/main">
              <a:ext uri="{FF2B5EF4-FFF2-40B4-BE49-F238E27FC236}">
                <a16:creationId xmlns:a16="http://schemas.microsoft.com/office/drawing/2014/main" id="{A6421E6B-9DB2-417B-A2DD-FAA84275B79E}"/>
              </a:ext>
            </a:extLst>
          </p:cNvPr>
          <p:cNvSpPr>
            <a:spLocks xmlns:a="http://schemas.openxmlformats.org/drawingml/2006/main" noGrp="1"/>
          </p:cNvSpPr>
          <p:nvPr/>
        </p:nvSpPr>
        <p:spPr>
          <a:xfrm xmlns:a="http://schemas.openxmlformats.org/drawingml/2006/main">
            <a:off x="419100" y="1771650"/>
            <a:ext cx="3124200" cy="4057650"/>
          </a:xfrm>
          <a:prstGeom xmlns:a="http://schemas.openxmlformats.org/drawingml/2006/main" prst="roundRect">
            <a:avLst>
              <a:gd name="adj" fmla="val 7927"/>
            </a:avLst>
          </a:prstGeom>
          <a:gradFill xmlns:a="http://schemas.openxmlformats.org/drawingml/2006/main">
            <a:gsLst>
              <a:gs pos="0">
                <a:srgbClr val="FF6B9D">
                  <a:alpha val="17000"/>
                </a:srgbClr>
              </a:gs>
              <a:gs pos="74000">
                <a:srgbClr val="FFFFFF"/>
              </a:gs>
            </a:gsLst>
            <a:lin ang="8700000"/>
          </a:gradFill>
          <a:ln xmlns:a="http://schemas.openxmlformats.org/drawingml/2006/main" w="9525">
            <a:solidFill>
              <a:srgbClr val="FF6B9D">
                <a:alpha val="28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A01CB795-A895-4D48-83F7-C45E9F6C433D}"/>
              </a:ext>
            </a:extLst>
          </p:cNvPr>
          <p:cNvSpPr>
            <a:spLocks xmlns:a="http://schemas.openxmlformats.org/drawingml/2006/main" noGrp="1"/>
          </p:cNvSpPr>
          <p:nvPr/>
        </p:nvSpPr>
        <p:spPr>
          <a:xfrm xmlns:a="http://schemas.openxmlformats.org/drawingml/2006/main">
            <a:off x="647700" y="1981200"/>
            <a:ext cx="1733550" cy="304800"/>
          </a:xfrm>
          <a:prstGeom xmlns:a="http://schemas.openxmlformats.org/drawingml/2006/main" prst="roundRect">
            <a:avLst>
              <a:gd name="adj" fmla="val 50000"/>
            </a:avLst>
          </a:prstGeom>
          <a:solidFill xmlns:a="http://schemas.openxmlformats.org/drawingml/2006/main">
            <a:srgbClr val="FF6B9D">
              <a:alpha val="15000"/>
            </a:srgbClr>
          </a:solidFill>
          <a:ln xmlns:a="http://schemas.openxmlformats.org/drawingml/2006/main" w="9525">
            <a:solidFill>
              <a:srgbClr val="FF6B9D">
                <a:alpha val="22000"/>
              </a:srgbClr>
            </a:solidFill>
            <a:prstDash val="solid"/>
          </a:ln>
        </p:spPr>
      </p:sp>
      <p:sp>
        <p:nvSpPr>
          <p:cNvPr id="15" name="">
            <a:extLst xmlns:a="http://schemas.openxmlformats.org/drawingml/2006/main">
              <a:ext uri="{FF2B5EF4-FFF2-40B4-BE49-F238E27FC236}">
                <a16:creationId xmlns:a16="http://schemas.microsoft.com/office/drawing/2014/main" id="{8DFC9451-0CD4-4979-ABD0-159E1A487D07}"/>
              </a:ext>
            </a:extLst>
          </p:cNvPr>
          <p:cNvSpPr>
            <a:spLocks xmlns:a="http://schemas.openxmlformats.org/drawingml/2006/main" noGrp="1"/>
          </p:cNvSpPr>
          <p:nvPr/>
        </p:nvSpPr>
        <p:spPr>
          <a:xfrm xmlns:a="http://schemas.openxmlformats.org/drawingml/2006/main">
            <a:off x="762000" y="1990725"/>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B52159"/>
                </a:solidFill>
                <a:latin typeface="Aptos"/>
                <a:ea typeface="Aptos"/>
                <a:cs typeface="Aptos"/>
              </a:defRPr>
            </a:pPr>
            <a:r>
              <a:rPr sz="975" b="1">
                <a:solidFill>
                  <a:srgbClr val="B52159"/>
                </a:solidFill>
                <a:latin typeface="Aptos"/>
                <a:ea typeface="Aptos"/>
                <a:cs typeface="Aptos"/>
              </a:rPr>
              <a:t>WHAT THE CHART SAYS</a:t>
            </a:r>
          </a:p>
        </p:txBody>
      </p:sp>
      <p:sp>
        <p:nvSpPr>
          <p:cNvPr id="16" name="">
            <a:extLst xmlns:a="http://schemas.openxmlformats.org/drawingml/2006/main">
              <a:ext uri="{FF2B5EF4-FFF2-40B4-BE49-F238E27FC236}">
                <a16:creationId xmlns:a16="http://schemas.microsoft.com/office/drawing/2014/main" id="{6CF90A27-9276-4878-93C0-69AAF56CEB59}"/>
              </a:ext>
            </a:extLst>
          </p:cNvPr>
          <p:cNvSpPr>
            <a:spLocks xmlns:a="http://schemas.openxmlformats.org/drawingml/2006/main" noGrp="1"/>
          </p:cNvSpPr>
          <p:nvPr/>
        </p:nvSpPr>
        <p:spPr>
          <a:xfrm xmlns:a="http://schemas.openxmlformats.org/drawingml/2006/main">
            <a:off x="647700" y="2476500"/>
            <a:ext cx="26670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4213D"/>
                </a:solidFill>
                <a:latin typeface="Aptos"/>
                <a:ea typeface="Aptos"/>
                <a:cs typeface="Aptos"/>
              </a:defRPr>
            </a:pPr>
            <a:r>
              <a:rPr sz="1725" b="1">
                <a:solidFill>
                  <a:srgbClr val="14213D"/>
                </a:solidFill>
                <a:latin typeface="Aptos"/>
                <a:ea typeface="Aptos"/>
                <a:cs typeface="Aptos"/>
              </a:rPr>
              <a:t>Pool-day median APY is 4.29% while the pool-day mean is 8.03%.</a:t>
            </a:r>
          </a:p>
        </p:txBody>
      </p:sp>
      <p:sp>
        <p:nvSpPr>
          <p:cNvPr id="17" name="">
            <a:extLst xmlns:a="http://schemas.openxmlformats.org/drawingml/2006/main">
              <a:ext uri="{FF2B5EF4-FFF2-40B4-BE49-F238E27FC236}">
                <a16:creationId xmlns:a16="http://schemas.microsoft.com/office/drawing/2014/main" id="{7A1E820E-CED1-4354-B0F1-0AC1CEE0B7DE}"/>
              </a:ext>
            </a:extLst>
          </p:cNvPr>
          <p:cNvSpPr>
            <a:spLocks xmlns:a="http://schemas.openxmlformats.org/drawingml/2006/main" noGrp="1"/>
          </p:cNvSpPr>
          <p:nvPr/>
        </p:nvSpPr>
        <p:spPr>
          <a:xfrm xmlns:a="http://schemas.openxmlformats.org/drawingml/2006/main">
            <a:off x="647700" y="3771900"/>
            <a:ext cx="2667000" cy="9525"/>
          </a:xfrm>
          <a:prstGeom xmlns:a="http://schemas.openxmlformats.org/drawingml/2006/main" prst="line">
            <a:avLst/>
          </a:prstGeom>
          <a:noFill xmlns:a="http://schemas.openxmlformats.org/drawingml/2006/main"/>
          <a:ln xmlns:a="http://schemas.openxmlformats.org/drawingml/2006/main" w="9525">
            <a:solidFill>
              <a:srgbClr val="FF6B9D">
                <a:alpha val="30000"/>
              </a:srgbClr>
            </a:solidFill>
            <a:prstDash val="solid"/>
          </a:ln>
        </p:spPr>
      </p:sp>
      <p:sp>
        <p:nvSpPr>
          <p:cNvPr id="18" name="">
            <a:extLst xmlns:a="http://schemas.openxmlformats.org/drawingml/2006/main">
              <a:ext uri="{FF2B5EF4-FFF2-40B4-BE49-F238E27FC236}">
                <a16:creationId xmlns:a16="http://schemas.microsoft.com/office/drawing/2014/main" id="{41C6C73E-567A-44C3-8A82-08C74973079F}"/>
              </a:ext>
            </a:extLst>
          </p:cNvPr>
          <p:cNvSpPr>
            <a:spLocks xmlns:a="http://schemas.openxmlformats.org/drawingml/2006/main" noGrp="1"/>
          </p:cNvSpPr>
          <p:nvPr/>
        </p:nvSpPr>
        <p:spPr>
          <a:xfrm xmlns:a="http://schemas.openxmlformats.org/drawingml/2006/main">
            <a:off x="666750" y="4057650"/>
            <a:ext cx="95250" cy="9525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0">
            <a:solidFill>
              <a:srgbClr val="FF6B9D"/>
            </a:solidFill>
            <a:prstDash val="solid"/>
          </a:ln>
        </p:spPr>
      </p:sp>
      <p:sp>
        <p:nvSpPr>
          <p:cNvPr id="19" name="">
            <a:extLst xmlns:a="http://schemas.openxmlformats.org/drawingml/2006/main">
              <a:ext uri="{FF2B5EF4-FFF2-40B4-BE49-F238E27FC236}">
                <a16:creationId xmlns:a16="http://schemas.microsoft.com/office/drawing/2014/main" id="{9702E288-F1DB-461B-9BE3-400EB73F6076}"/>
              </a:ext>
            </a:extLst>
          </p:cNvPr>
          <p:cNvSpPr>
            <a:spLocks xmlns:a="http://schemas.openxmlformats.org/drawingml/2006/main" noGrp="1"/>
          </p:cNvSpPr>
          <p:nvPr/>
        </p:nvSpPr>
        <p:spPr>
          <a:xfrm xmlns:a="http://schemas.openxmlformats.org/drawingml/2006/main">
            <a:off x="895350" y="398145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4213D"/>
                </a:solidFill>
                <a:latin typeface="Aptos"/>
                <a:ea typeface="Aptos"/>
                <a:cs typeface="Aptos"/>
              </a:defRPr>
            </a:pPr>
            <a:r>
              <a:rPr sz="1275" b="0">
                <a:solidFill>
                  <a:srgbClr val="14213D"/>
                </a:solidFill>
                <a:latin typeface="Aptos"/>
                <a:ea typeface="Aptos"/>
                <a:cs typeface="Aptos"/>
              </a:rPr>
              <a:t>Pool-day median APY: 4.29%</a:t>
            </a:r>
          </a:p>
        </p:txBody>
      </p:sp>
      <p:sp>
        <p:nvSpPr>
          <p:cNvPr id="20" name="">
            <a:extLst xmlns:a="http://schemas.openxmlformats.org/drawingml/2006/main">
              <a:ext uri="{FF2B5EF4-FFF2-40B4-BE49-F238E27FC236}">
                <a16:creationId xmlns:a16="http://schemas.microsoft.com/office/drawing/2014/main" id="{55C4490B-9DFE-4C12-9BA8-0751C7ED9E35}"/>
              </a:ext>
            </a:extLst>
          </p:cNvPr>
          <p:cNvSpPr>
            <a:spLocks xmlns:a="http://schemas.openxmlformats.org/drawingml/2006/main" noGrp="1"/>
          </p:cNvSpPr>
          <p:nvPr/>
        </p:nvSpPr>
        <p:spPr>
          <a:xfrm xmlns:a="http://schemas.openxmlformats.org/drawingml/2006/main">
            <a:off x="666750" y="4610100"/>
            <a:ext cx="95250" cy="9525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0">
            <a:solidFill>
              <a:srgbClr val="FF6B9D"/>
            </a:solidFill>
            <a:prstDash val="solid"/>
          </a:ln>
        </p:spPr>
      </p:sp>
      <p:sp>
        <p:nvSpPr>
          <p:cNvPr id="21" name="">
            <a:extLst xmlns:a="http://schemas.openxmlformats.org/drawingml/2006/main">
              <a:ext uri="{FF2B5EF4-FFF2-40B4-BE49-F238E27FC236}">
                <a16:creationId xmlns:a16="http://schemas.microsoft.com/office/drawing/2014/main" id="{F97A2FD3-CE1E-495E-A545-AA4D6CA4EC39}"/>
              </a:ext>
            </a:extLst>
          </p:cNvPr>
          <p:cNvSpPr>
            <a:spLocks xmlns:a="http://schemas.openxmlformats.org/drawingml/2006/main" noGrp="1"/>
          </p:cNvSpPr>
          <p:nvPr/>
        </p:nvSpPr>
        <p:spPr>
          <a:xfrm xmlns:a="http://schemas.openxmlformats.org/drawingml/2006/main">
            <a:off x="895350" y="453390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4213D"/>
                </a:solidFill>
                <a:latin typeface="Aptos"/>
                <a:ea typeface="Aptos"/>
                <a:cs typeface="Aptos"/>
              </a:defRPr>
            </a:pPr>
            <a:r>
              <a:rPr sz="1275" b="0">
                <a:solidFill>
                  <a:srgbClr val="14213D"/>
                </a:solidFill>
                <a:latin typeface="Aptos"/>
                <a:ea typeface="Aptos"/>
                <a:cs typeface="Aptos"/>
              </a:rPr>
              <a:t>Pool-day mean APY: 8.03%</a:t>
            </a:r>
          </a:p>
        </p:txBody>
      </p:sp>
      <p:sp>
        <p:nvSpPr>
          <p:cNvPr id="22" name="">
            <a:extLst xmlns:a="http://schemas.openxmlformats.org/drawingml/2006/main">
              <a:ext uri="{FF2B5EF4-FFF2-40B4-BE49-F238E27FC236}">
                <a16:creationId xmlns:a16="http://schemas.microsoft.com/office/drawing/2014/main" id="{C0C529CA-F8F0-4C0D-9F75-14E76A57BEC6}"/>
              </a:ext>
            </a:extLst>
          </p:cNvPr>
          <p:cNvSpPr>
            <a:spLocks xmlns:a="http://schemas.openxmlformats.org/drawingml/2006/main" noGrp="1"/>
          </p:cNvSpPr>
          <p:nvPr/>
        </p:nvSpPr>
        <p:spPr>
          <a:xfrm xmlns:a="http://schemas.openxmlformats.org/drawingml/2006/main">
            <a:off x="666750" y="5162550"/>
            <a:ext cx="95250" cy="9525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0">
            <a:solidFill>
              <a:srgbClr val="FF6B9D"/>
            </a:solidFill>
            <a:prstDash val="solid"/>
          </a:ln>
        </p:spPr>
      </p:sp>
      <p:sp>
        <p:nvSpPr>
          <p:cNvPr id="23" name="">
            <a:extLst xmlns:a="http://schemas.openxmlformats.org/drawingml/2006/main">
              <a:ext uri="{FF2B5EF4-FFF2-40B4-BE49-F238E27FC236}">
                <a16:creationId xmlns:a16="http://schemas.microsoft.com/office/drawing/2014/main" id="{F56FD697-4DEE-4EFB-8417-8D6A24F7DA59}"/>
              </a:ext>
            </a:extLst>
          </p:cNvPr>
          <p:cNvSpPr>
            <a:spLocks xmlns:a="http://schemas.openxmlformats.org/drawingml/2006/main" noGrp="1"/>
          </p:cNvSpPr>
          <p:nvPr/>
        </p:nvSpPr>
        <p:spPr>
          <a:xfrm xmlns:a="http://schemas.openxmlformats.org/drawingml/2006/main">
            <a:off x="895350" y="508635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4213D"/>
                </a:solidFill>
                <a:latin typeface="Aptos"/>
                <a:ea typeface="Aptos"/>
                <a:cs typeface="Aptos"/>
              </a:defRPr>
            </a:pPr>
            <a:r>
              <a:rPr sz="1275" b="0">
                <a:solidFill>
                  <a:srgbClr val="14213D"/>
                </a:solidFill>
                <a:latin typeface="Aptos"/>
                <a:ea typeface="Aptos"/>
                <a:cs typeface="Aptos"/>
              </a:rPr>
              <a:t>Extreme observations are flagged and preserved</a:t>
            </a:r>
          </a:p>
        </p:txBody>
      </p:sp>
      <p:sp>
        <p:nvSpPr>
          <p:cNvPr id="24" name="">
            <a:extLst xmlns:a="http://schemas.openxmlformats.org/drawingml/2006/main">
              <a:ext uri="{FF2B5EF4-FFF2-40B4-BE49-F238E27FC236}">
                <a16:creationId xmlns:a16="http://schemas.microsoft.com/office/drawing/2014/main" id="{E8C7E81F-99AB-4611-8156-525B8BB7FBA6}"/>
              </a:ext>
            </a:extLst>
          </p:cNvPr>
          <p:cNvSpPr>
            <a:spLocks xmlns:a="http://schemas.openxmlformats.org/drawingml/2006/main" noGrp="1"/>
          </p:cNvSpPr>
          <p:nvPr/>
        </p:nvSpPr>
        <p:spPr>
          <a:xfrm xmlns:a="http://schemas.openxmlformats.org/drawingml/2006/main">
            <a:off x="419100" y="5981700"/>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475467"/>
                </a:solidFill>
                <a:latin typeface="Aptos"/>
                <a:ea typeface="Aptos"/>
                <a:cs typeface="Aptos"/>
              </a:defRPr>
            </a:pPr>
            <a:r>
              <a:rPr sz="1050" b="0">
                <a:solidFill>
                  <a:srgbClr val="475467"/>
                </a:solidFill>
                <a:latin typeface="Aptos"/>
                <a:ea typeface="Aptos"/>
                <a:cs typeface="Aptos"/>
              </a:rPr>
              <a:t>Sources: DeFiLlama, CoinGecko checks and protocol documentation. Quoted APY differs from realized return.</a:t>
            </a:r>
          </a:p>
        </p:txBody>
      </p:sp>
    </p:spTree>
    <p:extLst>
      <p:ext uri="{BB962C8B-B14F-4D97-AF65-F5344CB8AC3E}">
        <p14:creationId xmlns:p14="http://schemas.microsoft.com/office/powerpoint/2010/main" val="653526477"/>
      </p:ext>
    </p:extLst>
  </p:cSld>
</p:sld>
</file>

<file path=ppt/slides/slide6.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DC15601-7275-4F95-BB2F-38DF775065AA}"/>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8B5CF6">
              <a:alpha val="13000"/>
            </a:srgbClr>
          </a:solidFill>
          <a:ln xmlns:a="http://schemas.openxmlformats.org/drawingml/2006/main" w="9525">
            <a:solidFill>
              <a:srgbClr val="8B5CF6">
                <a:alpha val="22000"/>
              </a:srgbClr>
            </a:solidFill>
            <a:prstDash val="solid"/>
          </a:ln>
        </p:spPr>
      </p:sp>
      <p:sp>
        <p:nvSpPr>
          <p:cNvPr id="2" name="">
            <a:extLst xmlns:a="http://schemas.openxmlformats.org/drawingml/2006/main">
              <a:ext uri="{FF2B5EF4-FFF2-40B4-BE49-F238E27FC236}">
                <a16:creationId xmlns:a16="http://schemas.microsoft.com/office/drawing/2014/main" id="{07E5C97E-2976-41BB-B582-BD39548CC56F}"/>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6941C6"/>
                </a:solidFill>
                <a:latin typeface="Aptos"/>
                <a:ea typeface="Aptos"/>
                <a:cs typeface="Aptos"/>
              </a:defRPr>
            </a:pPr>
            <a:r>
              <a:rPr sz="975" b="1">
                <a:solidFill>
                  <a:srgbClr val="6941C6"/>
                </a:solidFill>
                <a:latin typeface="Aptos"/>
                <a:ea typeface="Aptos"/>
                <a:cs typeface="Aptos"/>
              </a:rPr>
              <a:t>PERSISTENCE</a:t>
            </a:r>
          </a:p>
        </p:txBody>
      </p:sp>
      <p:sp>
        <p:nvSpPr>
          <p:cNvPr id="3" name="">
            <a:extLst xmlns:a="http://schemas.openxmlformats.org/drawingml/2006/main">
              <a:ext uri="{FF2B5EF4-FFF2-40B4-BE49-F238E27FC236}">
                <a16:creationId xmlns:a16="http://schemas.microsoft.com/office/drawing/2014/main" id="{782745C1-ED57-4400-9E11-244172F4BE9F}"/>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9525">
            <a:solidFill>
              <a:srgbClr val="8B5CF6">
                <a:alpha val="22000"/>
              </a:srgbClr>
            </a:solidFill>
            <a:prstDash val="solid"/>
          </a:ln>
        </p:spPr>
      </p:sp>
      <p:sp>
        <p:nvSpPr>
          <p:cNvPr id="4" name="">
            <a:extLst xmlns:a="http://schemas.openxmlformats.org/drawingml/2006/main">
              <a:ext uri="{FF2B5EF4-FFF2-40B4-BE49-F238E27FC236}">
                <a16:creationId xmlns:a16="http://schemas.microsoft.com/office/drawing/2014/main" id="{526D84CF-E64A-4615-B27E-2E645E53DC23}"/>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06</a:t>
            </a:r>
          </a:p>
        </p:txBody>
      </p:sp>
      <p:sp>
        <p:nvSpPr>
          <p:cNvPr id="5" name="">
            <a:extLst xmlns:a="http://schemas.openxmlformats.org/drawingml/2006/main">
              <a:ext uri="{FF2B5EF4-FFF2-40B4-BE49-F238E27FC236}">
                <a16:creationId xmlns:a16="http://schemas.microsoft.com/office/drawing/2014/main" id="{DC4A9DD6-1B85-455F-A83C-23201F8B1235}"/>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475467"/>
                </a:solidFill>
                <a:latin typeface="Aptos"/>
                <a:ea typeface="Aptos"/>
                <a:cs typeface="Aptos"/>
              </a:defRPr>
            </a:pPr>
            <a:r>
              <a:rPr sz="825" b="1">
                <a:solidFill>
                  <a:srgbClr val="475467"/>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628B7DFE-11B0-4865-A2A2-05024424AB3C}"/>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87F8507F-FC26-4DA5-AD33-2ABE0C4BD10B}"/>
              </a:ext>
            </a:extLst>
          </p:cNvPr>
          <p:cNvSpPr>
            <a:spLocks xmlns:a="http://schemas.openxmlformats.org/drawingml/2006/main" noGrp="1"/>
          </p:cNvSpPr>
          <p:nvPr/>
        </p:nvSpPr>
        <p:spPr>
          <a:xfrm xmlns:a="http://schemas.openxmlformats.org/drawingml/2006/main">
            <a:off x="8420100" y="6486525"/>
            <a:ext cx="1176618" cy="3810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solidFill>
              <a:srgbClr val="8B5CF6"/>
            </a:solidFill>
            <a:prstDash val="solid"/>
          </a:ln>
        </p:spPr>
      </p:sp>
      <p:sp>
        <p:nvSpPr>
          <p:cNvPr id="8" name="">
            <a:extLst xmlns:a="http://schemas.openxmlformats.org/drawingml/2006/main">
              <a:ext uri="{FF2B5EF4-FFF2-40B4-BE49-F238E27FC236}">
                <a16:creationId xmlns:a16="http://schemas.microsoft.com/office/drawing/2014/main" id="{921CBDBB-B262-40A9-9934-C1CDBE09EE6A}"/>
              </a:ext>
            </a:extLst>
          </p:cNvPr>
          <p:cNvSpPr>
            <a:spLocks xmlns:a="http://schemas.openxmlformats.org/drawingml/2006/main" noGrp="1"/>
          </p:cNvSpPr>
          <p:nvPr/>
        </p:nvSpPr>
        <p:spPr>
          <a:xfrm xmlns:a="http://schemas.openxmlformats.org/drawingml/2006/main">
            <a:off x="419100" y="7620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4213D"/>
                </a:solidFill>
                <a:latin typeface="Aptos"/>
                <a:ea typeface="Aptos"/>
                <a:cs typeface="Aptos"/>
              </a:defRPr>
            </a:pPr>
            <a:r>
              <a:rPr sz="3000" b="1">
                <a:solidFill>
                  <a:srgbClr val="14213D"/>
                </a:solidFill>
                <a:latin typeface="Aptos"/>
                <a:ea typeface="Aptos"/>
                <a:cs typeface="Aptos"/>
              </a:rPr>
              <a:t>High yield usually behaves like a short regime</a:t>
            </a:r>
          </a:p>
        </p:txBody>
      </p:sp>
      <p:sp>
        <p:nvSpPr>
          <p:cNvPr id="9" name="">
            <a:extLst xmlns:a="http://schemas.openxmlformats.org/drawingml/2006/main">
              <a:ext uri="{FF2B5EF4-FFF2-40B4-BE49-F238E27FC236}">
                <a16:creationId xmlns:a16="http://schemas.microsoft.com/office/drawing/2014/main" id="{DA8E376D-CE8B-487C-AF69-69C754793E67}"/>
              </a:ext>
            </a:extLst>
          </p:cNvPr>
          <p:cNvSpPr>
            <a:spLocks xmlns:a="http://schemas.openxmlformats.org/drawingml/2006/main" noGrp="1"/>
          </p:cNvSpPr>
          <p:nvPr/>
        </p:nvSpPr>
        <p:spPr>
          <a:xfrm xmlns:a="http://schemas.openxmlformats.org/drawingml/2006/main">
            <a:off x="419100" y="13335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475467"/>
                </a:solidFill>
                <a:latin typeface="Aptos"/>
                <a:ea typeface="Aptos"/>
                <a:cs typeface="Aptos"/>
              </a:defRPr>
            </a:pPr>
            <a:r>
              <a:rPr sz="1350" b="0">
                <a:solidFill>
                  <a:srgbClr val="475467"/>
                </a:solidFill>
                <a:latin typeface="Aptos"/>
                <a:ea typeface="Aptos"/>
                <a:cs typeface="Aptos"/>
              </a:rPr>
              <a:t>How long do episodes at or above 10% APY last?</a:t>
            </a:r>
          </a:p>
        </p:txBody>
      </p:sp>
      <p:sp>
        <p:nvSpPr>
          <p:cNvPr id="10" name="">
            <a:extLst xmlns:a="http://schemas.openxmlformats.org/drawingml/2006/main">
              <a:ext uri="{FF2B5EF4-FFF2-40B4-BE49-F238E27FC236}">
                <a16:creationId xmlns:a16="http://schemas.microsoft.com/office/drawing/2014/main" id="{01317948-D9C2-42FC-A03F-E61A66494D79}"/>
              </a:ext>
            </a:extLst>
          </p:cNvPr>
          <p:cNvSpPr>
            <a:spLocks xmlns:a="http://schemas.openxmlformats.org/drawingml/2006/main" noGrp="1"/>
          </p:cNvSpPr>
          <p:nvPr/>
        </p:nvSpPr>
        <p:spPr>
          <a:xfrm xmlns:a="http://schemas.openxmlformats.org/drawingml/2006/main">
            <a:off x="419100" y="1771650"/>
            <a:ext cx="7943850" cy="4057650"/>
          </a:xfrm>
          <a:prstGeom xmlns:a="http://schemas.openxmlformats.org/drawingml/2006/main" prst="roundRect">
            <a:avLst>
              <a:gd name="adj" fmla="val 6103"/>
            </a:avLst>
          </a:prstGeom>
          <a:solidFill xmlns:a="http://schemas.openxmlformats.org/drawingml/2006/main">
            <a:srgbClr val="FFFFFF"/>
          </a:solidFill>
          <a:ln xmlns:a="http://schemas.openxmlformats.org/drawingml/2006/main" w="9525">
            <a:solidFill>
              <a:srgbClr val="DCE4F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8C3DCAF7-587E-49DD-889A-6FACB75EC07D}"/>
              </a:ext>
            </a:extLst>
          </p:cNvPr>
          <p:cNvSpPr>
            <a:spLocks xmlns:a="http://schemas.openxmlformats.org/drawingml/2006/main" noGrp="1"/>
          </p:cNvSpPr>
          <p:nvPr/>
        </p:nvSpPr>
        <p:spPr>
          <a:xfrm xmlns:a="http://schemas.openxmlformats.org/drawingml/2006/main">
            <a:off x="628650" y="1943100"/>
            <a:ext cx="819150" cy="57150"/>
          </a:xfrm>
          <a:prstGeom xmlns:a="http://schemas.openxmlformats.org/drawingml/2006/main" prst="roundRect">
            <a:avLst>
              <a:gd name="adj" fmla="val 50000"/>
            </a:avLst>
          </a:prstGeom>
          <a:gradFill xmlns:a="http://schemas.openxmlformats.org/drawingml/2006/main">
            <a:gsLst>
              <a:gs pos="0">
                <a:srgbClr val="8B5CF6"/>
              </a:gs>
              <a:gs pos="100000">
                <a:srgbClr val="23C9D8"/>
              </a:gs>
            </a:gsLst>
            <a:lin ang="0"/>
          </a:gradFill>
          <a:ln xmlns:a="http://schemas.openxmlformats.org/drawingml/2006/main" w="0">
            <a:gradFill>
              <a:gsLst>
                <a:gs pos="0">
                  <a:srgbClr val="8B5CF6"/>
                </a:gs>
                <a:gs pos="100000">
                  <a:srgbClr val="23C9D8"/>
                </a:gs>
              </a:gsLst>
              <a:lin ang="0"/>
            </a:gra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d6eed69663be4e99"/>
          <a:stretch xmlns:a="http://schemas.openxmlformats.org/drawingml/2006/main"/>
        </p:blipFill>
        <p:spPr>
          <a:xfrm xmlns:a="http://schemas.openxmlformats.org/drawingml/2006/main">
            <a:off x="590550" y="2095500"/>
            <a:ext cx="7600950" cy="3562350"/>
          </a:xfrm>
          <a:prstGeom xmlns:a="http://schemas.openxmlformats.org/drawingml/2006/main" prst="roundRect">
            <a:avLst>
              <a:gd name="adj" fmla="val 4278"/>
            </a:avLst>
          </a:prstGeom>
        </p:spPr>
      </p:pic>
      <p:sp>
        <p:nvSpPr>
          <p:cNvPr id="13" name="">
            <a:extLst xmlns:a="http://schemas.openxmlformats.org/drawingml/2006/main">
              <a:ext uri="{FF2B5EF4-FFF2-40B4-BE49-F238E27FC236}">
                <a16:creationId xmlns:a16="http://schemas.microsoft.com/office/drawing/2014/main" id="{8F9F2F00-E21F-42E0-9A28-9665C9970B2D}"/>
              </a:ext>
            </a:extLst>
          </p:cNvPr>
          <p:cNvSpPr>
            <a:spLocks xmlns:a="http://schemas.openxmlformats.org/drawingml/2006/main" noGrp="1"/>
          </p:cNvSpPr>
          <p:nvPr/>
        </p:nvSpPr>
        <p:spPr>
          <a:xfrm xmlns:a="http://schemas.openxmlformats.org/drawingml/2006/main">
            <a:off x="8629650" y="1771650"/>
            <a:ext cx="3124200" cy="4057650"/>
          </a:xfrm>
          <a:prstGeom xmlns:a="http://schemas.openxmlformats.org/drawingml/2006/main" prst="roundRect">
            <a:avLst>
              <a:gd name="adj" fmla="val 7927"/>
            </a:avLst>
          </a:prstGeom>
          <a:gradFill xmlns:a="http://schemas.openxmlformats.org/drawingml/2006/main">
            <a:gsLst>
              <a:gs pos="0">
                <a:srgbClr val="8B5CF6">
                  <a:alpha val="17000"/>
                </a:srgbClr>
              </a:gs>
              <a:gs pos="74000">
                <a:srgbClr val="FFFFFF"/>
              </a:gs>
            </a:gsLst>
            <a:lin ang="8700000"/>
          </a:gradFill>
          <a:ln xmlns:a="http://schemas.openxmlformats.org/drawingml/2006/main" w="9525">
            <a:solidFill>
              <a:srgbClr val="8B5CF6">
                <a:alpha val="28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E49C1390-F3AE-4774-9DCA-8F29A147096C}"/>
              </a:ext>
            </a:extLst>
          </p:cNvPr>
          <p:cNvSpPr>
            <a:spLocks xmlns:a="http://schemas.openxmlformats.org/drawingml/2006/main" noGrp="1"/>
          </p:cNvSpPr>
          <p:nvPr/>
        </p:nvSpPr>
        <p:spPr>
          <a:xfrm xmlns:a="http://schemas.openxmlformats.org/drawingml/2006/main">
            <a:off x="8858250" y="1981200"/>
            <a:ext cx="1733550" cy="304800"/>
          </a:xfrm>
          <a:prstGeom xmlns:a="http://schemas.openxmlformats.org/drawingml/2006/main" prst="roundRect">
            <a:avLst>
              <a:gd name="adj" fmla="val 50000"/>
            </a:avLst>
          </a:prstGeom>
          <a:solidFill xmlns:a="http://schemas.openxmlformats.org/drawingml/2006/main">
            <a:srgbClr val="8B5CF6">
              <a:alpha val="15000"/>
            </a:srgbClr>
          </a:solidFill>
          <a:ln xmlns:a="http://schemas.openxmlformats.org/drawingml/2006/main" w="9525">
            <a:solidFill>
              <a:srgbClr val="8B5CF6">
                <a:alpha val="22000"/>
              </a:srgbClr>
            </a:solidFill>
            <a:prstDash val="solid"/>
          </a:ln>
        </p:spPr>
      </p:sp>
      <p:sp>
        <p:nvSpPr>
          <p:cNvPr id="15" name="">
            <a:extLst xmlns:a="http://schemas.openxmlformats.org/drawingml/2006/main">
              <a:ext uri="{FF2B5EF4-FFF2-40B4-BE49-F238E27FC236}">
                <a16:creationId xmlns:a16="http://schemas.microsoft.com/office/drawing/2014/main" id="{619341F8-8DE3-4F3B-87FD-2717A7FC6815}"/>
              </a:ext>
            </a:extLst>
          </p:cNvPr>
          <p:cNvSpPr>
            <a:spLocks xmlns:a="http://schemas.openxmlformats.org/drawingml/2006/main" noGrp="1"/>
          </p:cNvSpPr>
          <p:nvPr/>
        </p:nvSpPr>
        <p:spPr>
          <a:xfrm xmlns:a="http://schemas.openxmlformats.org/drawingml/2006/main">
            <a:off x="8972550" y="1990725"/>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6941C6"/>
                </a:solidFill>
                <a:latin typeface="Aptos"/>
                <a:ea typeface="Aptos"/>
                <a:cs typeface="Aptos"/>
              </a:defRPr>
            </a:pPr>
            <a:r>
              <a:rPr sz="975" b="1">
                <a:solidFill>
                  <a:srgbClr val="6941C6"/>
                </a:solidFill>
                <a:latin typeface="Aptos"/>
                <a:ea typeface="Aptos"/>
                <a:cs typeface="Aptos"/>
              </a:rPr>
              <a:t>WHAT THE CHART SAYS</a:t>
            </a:r>
          </a:p>
        </p:txBody>
      </p:sp>
      <p:sp>
        <p:nvSpPr>
          <p:cNvPr id="16" name="">
            <a:extLst xmlns:a="http://schemas.openxmlformats.org/drawingml/2006/main">
              <a:ext uri="{FF2B5EF4-FFF2-40B4-BE49-F238E27FC236}">
                <a16:creationId xmlns:a16="http://schemas.microsoft.com/office/drawing/2014/main" id="{D97C5BFC-5BB0-4142-AC48-8F05CB167008}"/>
              </a:ext>
            </a:extLst>
          </p:cNvPr>
          <p:cNvSpPr>
            <a:spLocks xmlns:a="http://schemas.openxmlformats.org/drawingml/2006/main" noGrp="1"/>
          </p:cNvSpPr>
          <p:nvPr/>
        </p:nvSpPr>
        <p:spPr>
          <a:xfrm xmlns:a="http://schemas.openxmlformats.org/drawingml/2006/main">
            <a:off x="8858250" y="2476500"/>
            <a:ext cx="26670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4213D"/>
                </a:solidFill>
                <a:latin typeface="Aptos"/>
                <a:ea typeface="Aptos"/>
                <a:cs typeface="Aptos"/>
              </a:defRPr>
            </a:pPr>
            <a:r>
              <a:rPr sz="1725" b="1">
                <a:solidFill>
                  <a:srgbClr val="14213D"/>
                </a:solidFill>
                <a:latin typeface="Aptos"/>
                <a:ea typeface="Aptos"/>
                <a:cs typeface="Aptos"/>
              </a:rPr>
              <a:t>The median high-yield episode lasts 2 days; only 6.2% remain after 30 days.</a:t>
            </a:r>
          </a:p>
        </p:txBody>
      </p:sp>
      <p:sp>
        <p:nvSpPr>
          <p:cNvPr id="17" name="">
            <a:extLst xmlns:a="http://schemas.openxmlformats.org/drawingml/2006/main">
              <a:ext uri="{FF2B5EF4-FFF2-40B4-BE49-F238E27FC236}">
                <a16:creationId xmlns:a16="http://schemas.microsoft.com/office/drawing/2014/main" id="{C496060A-0CEB-46E6-B3C9-6CBACFC6303C}"/>
              </a:ext>
            </a:extLst>
          </p:cNvPr>
          <p:cNvSpPr>
            <a:spLocks xmlns:a="http://schemas.openxmlformats.org/drawingml/2006/main" noGrp="1"/>
          </p:cNvSpPr>
          <p:nvPr/>
        </p:nvSpPr>
        <p:spPr>
          <a:xfrm xmlns:a="http://schemas.openxmlformats.org/drawingml/2006/main">
            <a:off x="8858250" y="3771900"/>
            <a:ext cx="2667000" cy="9525"/>
          </a:xfrm>
          <a:prstGeom xmlns:a="http://schemas.openxmlformats.org/drawingml/2006/main" prst="line">
            <a:avLst/>
          </a:prstGeom>
          <a:noFill xmlns:a="http://schemas.openxmlformats.org/drawingml/2006/main"/>
          <a:ln xmlns:a="http://schemas.openxmlformats.org/drawingml/2006/main" w="9525">
            <a:solidFill>
              <a:srgbClr val="8B5CF6">
                <a:alpha val="30000"/>
              </a:srgbClr>
            </a:solidFill>
            <a:prstDash val="solid"/>
          </a:ln>
        </p:spPr>
      </p:sp>
      <p:sp>
        <p:nvSpPr>
          <p:cNvPr id="18" name="">
            <a:extLst xmlns:a="http://schemas.openxmlformats.org/drawingml/2006/main">
              <a:ext uri="{FF2B5EF4-FFF2-40B4-BE49-F238E27FC236}">
                <a16:creationId xmlns:a16="http://schemas.microsoft.com/office/drawing/2014/main" id="{B97535DC-51F3-45F6-8C8D-C83B43CD2FE6}"/>
              </a:ext>
            </a:extLst>
          </p:cNvPr>
          <p:cNvSpPr>
            <a:spLocks xmlns:a="http://schemas.openxmlformats.org/drawingml/2006/main" noGrp="1"/>
          </p:cNvSpPr>
          <p:nvPr/>
        </p:nvSpPr>
        <p:spPr>
          <a:xfrm xmlns:a="http://schemas.openxmlformats.org/drawingml/2006/main">
            <a:off x="8877300" y="4057650"/>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solidFill>
              <a:srgbClr val="8B5CF6"/>
            </a:solidFill>
            <a:prstDash val="solid"/>
          </a:ln>
        </p:spPr>
      </p:sp>
      <p:sp>
        <p:nvSpPr>
          <p:cNvPr id="19" name="">
            <a:extLst xmlns:a="http://schemas.openxmlformats.org/drawingml/2006/main">
              <a:ext uri="{FF2B5EF4-FFF2-40B4-BE49-F238E27FC236}">
                <a16:creationId xmlns:a16="http://schemas.microsoft.com/office/drawing/2014/main" id="{01F0299B-EC17-4276-A5CD-963CCC45973F}"/>
              </a:ext>
            </a:extLst>
          </p:cNvPr>
          <p:cNvSpPr>
            <a:spLocks xmlns:a="http://schemas.openxmlformats.org/drawingml/2006/main" noGrp="1"/>
          </p:cNvSpPr>
          <p:nvPr/>
        </p:nvSpPr>
        <p:spPr>
          <a:xfrm xmlns:a="http://schemas.openxmlformats.org/drawingml/2006/main">
            <a:off x="9105900" y="398145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4213D"/>
                </a:solidFill>
                <a:latin typeface="Aptos"/>
                <a:ea typeface="Aptos"/>
                <a:cs typeface="Aptos"/>
              </a:defRPr>
            </a:pPr>
            <a:r>
              <a:rPr sz="1275" b="0">
                <a:solidFill>
                  <a:srgbClr val="14213D"/>
                </a:solidFill>
                <a:latin typeface="Aptos"/>
                <a:ea typeface="Aptos"/>
                <a:cs typeface="Aptos"/>
              </a:rPr>
              <a:t>2,668 episodes at or above 10% APY</a:t>
            </a:r>
          </a:p>
        </p:txBody>
      </p:sp>
      <p:sp>
        <p:nvSpPr>
          <p:cNvPr id="20" name="">
            <a:extLst xmlns:a="http://schemas.openxmlformats.org/drawingml/2006/main">
              <a:ext uri="{FF2B5EF4-FFF2-40B4-BE49-F238E27FC236}">
                <a16:creationId xmlns:a16="http://schemas.microsoft.com/office/drawing/2014/main" id="{19B77D71-8BDF-48CE-B97E-D24DB6C0A1FA}"/>
              </a:ext>
            </a:extLst>
          </p:cNvPr>
          <p:cNvSpPr>
            <a:spLocks xmlns:a="http://schemas.openxmlformats.org/drawingml/2006/main" noGrp="1"/>
          </p:cNvSpPr>
          <p:nvPr/>
        </p:nvSpPr>
        <p:spPr>
          <a:xfrm xmlns:a="http://schemas.openxmlformats.org/drawingml/2006/main">
            <a:off x="8877300" y="4610100"/>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solidFill>
              <a:srgbClr val="8B5CF6"/>
            </a:solidFill>
            <a:prstDash val="solid"/>
          </a:ln>
        </p:spPr>
      </p:sp>
      <p:sp>
        <p:nvSpPr>
          <p:cNvPr id="21" name="">
            <a:extLst xmlns:a="http://schemas.openxmlformats.org/drawingml/2006/main">
              <a:ext uri="{FF2B5EF4-FFF2-40B4-BE49-F238E27FC236}">
                <a16:creationId xmlns:a16="http://schemas.microsoft.com/office/drawing/2014/main" id="{5A50BB8F-6CEB-4104-B675-06ABB5437A72}"/>
              </a:ext>
            </a:extLst>
          </p:cNvPr>
          <p:cNvSpPr>
            <a:spLocks xmlns:a="http://schemas.openxmlformats.org/drawingml/2006/main" noGrp="1"/>
          </p:cNvSpPr>
          <p:nvPr/>
        </p:nvSpPr>
        <p:spPr>
          <a:xfrm xmlns:a="http://schemas.openxmlformats.org/drawingml/2006/main">
            <a:off x="9105900" y="453390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4213D"/>
                </a:solidFill>
                <a:latin typeface="Aptos"/>
                <a:ea typeface="Aptos"/>
                <a:cs typeface="Aptos"/>
              </a:defRPr>
            </a:pPr>
            <a:r>
              <a:rPr sz="1275" b="0">
                <a:solidFill>
                  <a:srgbClr val="14213D"/>
                </a:solidFill>
                <a:latin typeface="Aptos"/>
                <a:ea typeface="Aptos"/>
                <a:cs typeface="Aptos"/>
              </a:rPr>
              <a:t>Median duration: 2 days</a:t>
            </a:r>
          </a:p>
        </p:txBody>
      </p:sp>
      <p:sp>
        <p:nvSpPr>
          <p:cNvPr id="22" name="">
            <a:extLst xmlns:a="http://schemas.openxmlformats.org/drawingml/2006/main">
              <a:ext uri="{FF2B5EF4-FFF2-40B4-BE49-F238E27FC236}">
                <a16:creationId xmlns:a16="http://schemas.microsoft.com/office/drawing/2014/main" id="{02113CB2-0722-4DF6-A9CA-5AFA0845227D}"/>
              </a:ext>
            </a:extLst>
          </p:cNvPr>
          <p:cNvSpPr>
            <a:spLocks xmlns:a="http://schemas.openxmlformats.org/drawingml/2006/main" noGrp="1"/>
          </p:cNvSpPr>
          <p:nvPr/>
        </p:nvSpPr>
        <p:spPr>
          <a:xfrm xmlns:a="http://schemas.openxmlformats.org/drawingml/2006/main">
            <a:off x="8877300" y="5162550"/>
            <a:ext cx="95250" cy="952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solidFill>
              <a:srgbClr val="8B5CF6"/>
            </a:solidFill>
            <a:prstDash val="solid"/>
          </a:ln>
        </p:spPr>
      </p:sp>
      <p:sp>
        <p:nvSpPr>
          <p:cNvPr id="23" name="">
            <a:extLst xmlns:a="http://schemas.openxmlformats.org/drawingml/2006/main">
              <a:ext uri="{FF2B5EF4-FFF2-40B4-BE49-F238E27FC236}">
                <a16:creationId xmlns:a16="http://schemas.microsoft.com/office/drawing/2014/main" id="{3F53E0E1-259C-4BF4-A4D1-9A416D58CCB7}"/>
              </a:ext>
            </a:extLst>
          </p:cNvPr>
          <p:cNvSpPr>
            <a:spLocks xmlns:a="http://schemas.openxmlformats.org/drawingml/2006/main" noGrp="1"/>
          </p:cNvSpPr>
          <p:nvPr/>
        </p:nvSpPr>
        <p:spPr>
          <a:xfrm xmlns:a="http://schemas.openxmlformats.org/drawingml/2006/main">
            <a:off x="9105900" y="508635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4213D"/>
                </a:solidFill>
                <a:latin typeface="Aptos"/>
                <a:ea typeface="Aptos"/>
                <a:cs typeface="Aptos"/>
              </a:defRPr>
            </a:pPr>
            <a:r>
              <a:rPr sz="1275" b="0">
                <a:solidFill>
                  <a:srgbClr val="14213D"/>
                </a:solidFill>
                <a:latin typeface="Aptos"/>
                <a:ea typeface="Aptos"/>
                <a:cs typeface="Aptos"/>
              </a:rPr>
              <a:t>6.2% survive beyond 30 days</a:t>
            </a:r>
          </a:p>
        </p:txBody>
      </p:sp>
      <p:sp>
        <p:nvSpPr>
          <p:cNvPr id="24" name="">
            <a:extLst xmlns:a="http://schemas.openxmlformats.org/drawingml/2006/main">
              <a:ext uri="{FF2B5EF4-FFF2-40B4-BE49-F238E27FC236}">
                <a16:creationId xmlns:a16="http://schemas.microsoft.com/office/drawing/2014/main" id="{A1EB5FE3-C8FC-4B7F-8D4A-DDEE820EC790}"/>
              </a:ext>
            </a:extLst>
          </p:cNvPr>
          <p:cNvSpPr>
            <a:spLocks xmlns:a="http://schemas.openxmlformats.org/drawingml/2006/main" noGrp="1"/>
          </p:cNvSpPr>
          <p:nvPr/>
        </p:nvSpPr>
        <p:spPr>
          <a:xfrm xmlns:a="http://schemas.openxmlformats.org/drawingml/2006/main">
            <a:off x="419100" y="5981700"/>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475467"/>
                </a:solidFill>
                <a:latin typeface="Aptos"/>
                <a:ea typeface="Aptos"/>
                <a:cs typeface="Aptos"/>
              </a:defRPr>
            </a:pPr>
            <a:r>
              <a:rPr sz="1050" b="0">
                <a:solidFill>
                  <a:srgbClr val="475467"/>
                </a:solidFill>
                <a:latin typeface="Aptos"/>
                <a:ea typeface="Aptos"/>
                <a:cs typeface="Aptos"/>
              </a:rPr>
              <a:t>Sources: DeFiLlama, CoinGecko checks and protocol documentation. Quoted APY differs from realized return.</a:t>
            </a:r>
          </a:p>
        </p:txBody>
      </p:sp>
    </p:spTree>
    <p:extLst>
      <p:ext uri="{BB962C8B-B14F-4D97-AF65-F5344CB8AC3E}">
        <p14:creationId xmlns:p14="http://schemas.microsoft.com/office/powerpoint/2010/main" val="320658624"/>
      </p:ext>
    </p:extLst>
  </p:cSld>
</p:sld>
</file>

<file path=ppt/slides/slide7.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43EC1A6-1FED-420C-8C7E-9F7D96364649}"/>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4F7CFF">
              <a:alpha val="13000"/>
            </a:srgbClr>
          </a:solidFill>
          <a:ln xmlns:a="http://schemas.openxmlformats.org/drawingml/2006/main" w="9525">
            <a:solidFill>
              <a:srgbClr val="4F7CFF">
                <a:alpha val="22000"/>
              </a:srgbClr>
            </a:solidFill>
            <a:prstDash val="solid"/>
          </a:ln>
        </p:spPr>
      </p:sp>
      <p:sp>
        <p:nvSpPr>
          <p:cNvPr id="2" name="">
            <a:extLst xmlns:a="http://schemas.openxmlformats.org/drawingml/2006/main">
              <a:ext uri="{FF2B5EF4-FFF2-40B4-BE49-F238E27FC236}">
                <a16:creationId xmlns:a16="http://schemas.microsoft.com/office/drawing/2014/main" id="{41F414A2-ACEE-4C78-B71F-BCDD01E333E5}"/>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3159C9"/>
                </a:solidFill>
                <a:latin typeface="Aptos"/>
                <a:ea typeface="Aptos"/>
                <a:cs typeface="Aptos"/>
              </a:defRPr>
            </a:pPr>
            <a:r>
              <a:rPr sz="975" b="1">
                <a:solidFill>
                  <a:srgbClr val="3159C9"/>
                </a:solidFill>
                <a:latin typeface="Aptos"/>
                <a:ea typeface="Aptos"/>
                <a:cs typeface="Aptos"/>
              </a:rPr>
              <a:t>RANKING STABILITY</a:t>
            </a:r>
          </a:p>
        </p:txBody>
      </p:sp>
      <p:sp>
        <p:nvSpPr>
          <p:cNvPr id="3" name="">
            <a:extLst xmlns:a="http://schemas.openxmlformats.org/drawingml/2006/main">
              <a:ext uri="{FF2B5EF4-FFF2-40B4-BE49-F238E27FC236}">
                <a16:creationId xmlns:a16="http://schemas.microsoft.com/office/drawing/2014/main" id="{DF35CDF1-2903-438B-B7F8-7652ECBCFFCC}"/>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4F7CFF"/>
          </a:solidFill>
          <a:ln xmlns:a="http://schemas.openxmlformats.org/drawingml/2006/main" w="9525">
            <a:solidFill>
              <a:srgbClr val="4F7CFF">
                <a:alpha val="22000"/>
              </a:srgbClr>
            </a:solidFill>
            <a:prstDash val="solid"/>
          </a:ln>
        </p:spPr>
      </p:sp>
      <p:sp>
        <p:nvSpPr>
          <p:cNvPr id="4" name="">
            <a:extLst xmlns:a="http://schemas.openxmlformats.org/drawingml/2006/main">
              <a:ext uri="{FF2B5EF4-FFF2-40B4-BE49-F238E27FC236}">
                <a16:creationId xmlns:a16="http://schemas.microsoft.com/office/drawing/2014/main" id="{8EE40058-76A2-4AFA-9528-8E5E0B5301E2}"/>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07</a:t>
            </a:r>
          </a:p>
        </p:txBody>
      </p:sp>
      <p:sp>
        <p:nvSpPr>
          <p:cNvPr id="5" name="">
            <a:extLst xmlns:a="http://schemas.openxmlformats.org/drawingml/2006/main">
              <a:ext uri="{FF2B5EF4-FFF2-40B4-BE49-F238E27FC236}">
                <a16:creationId xmlns:a16="http://schemas.microsoft.com/office/drawing/2014/main" id="{02DB33D8-F058-4D01-8E59-2B8F85C6B103}"/>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475467"/>
                </a:solidFill>
                <a:latin typeface="Aptos"/>
                <a:ea typeface="Aptos"/>
                <a:cs typeface="Aptos"/>
              </a:defRPr>
            </a:pPr>
            <a:r>
              <a:rPr sz="825" b="1">
                <a:solidFill>
                  <a:srgbClr val="475467"/>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796246D3-857F-4D02-BD5D-63635E58D14D}"/>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7F647E00-E752-4516-9C4F-BE77B77BF508}"/>
              </a:ext>
            </a:extLst>
          </p:cNvPr>
          <p:cNvSpPr>
            <a:spLocks xmlns:a="http://schemas.openxmlformats.org/drawingml/2006/main" noGrp="1"/>
          </p:cNvSpPr>
          <p:nvPr/>
        </p:nvSpPr>
        <p:spPr>
          <a:xfrm xmlns:a="http://schemas.openxmlformats.org/drawingml/2006/main">
            <a:off x="8420100" y="6486525"/>
            <a:ext cx="1372721" cy="38100"/>
          </a:xfrm>
          <a:prstGeom xmlns:a="http://schemas.openxmlformats.org/drawingml/2006/main" prst="roundRect">
            <a:avLst>
              <a:gd name="adj" fmla="val 50000"/>
            </a:avLst>
          </a:prstGeom>
          <a:solidFill xmlns:a="http://schemas.openxmlformats.org/drawingml/2006/main">
            <a:srgbClr val="4F7CFF"/>
          </a:solidFill>
          <a:ln xmlns:a="http://schemas.openxmlformats.org/drawingml/2006/main" w="0">
            <a:solidFill>
              <a:srgbClr val="4F7CFF"/>
            </a:solidFill>
            <a:prstDash val="solid"/>
          </a:ln>
        </p:spPr>
      </p:sp>
      <p:sp>
        <p:nvSpPr>
          <p:cNvPr id="8" name="">
            <a:extLst xmlns:a="http://schemas.openxmlformats.org/drawingml/2006/main">
              <a:ext uri="{FF2B5EF4-FFF2-40B4-BE49-F238E27FC236}">
                <a16:creationId xmlns:a16="http://schemas.microsoft.com/office/drawing/2014/main" id="{05A1D07B-BE64-4375-A286-B20A44275ADC}"/>
              </a:ext>
            </a:extLst>
          </p:cNvPr>
          <p:cNvSpPr>
            <a:spLocks xmlns:a="http://schemas.openxmlformats.org/drawingml/2006/main" noGrp="1"/>
          </p:cNvSpPr>
          <p:nvPr/>
        </p:nvSpPr>
        <p:spPr>
          <a:xfrm xmlns:a="http://schemas.openxmlformats.org/drawingml/2006/main">
            <a:off x="419100" y="7620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4213D"/>
                </a:solidFill>
                <a:latin typeface="Aptos"/>
                <a:ea typeface="Aptos"/>
                <a:cs typeface="Aptos"/>
              </a:defRPr>
            </a:pPr>
            <a:r>
              <a:rPr sz="3000" b="1">
                <a:solidFill>
                  <a:srgbClr val="14213D"/>
                </a:solidFill>
                <a:latin typeface="Aptos"/>
                <a:ea typeface="Aptos"/>
                <a:cs typeface="Aptos"/>
              </a:rPr>
              <a:t>Top-yield membership changes with horizon</a:t>
            </a:r>
          </a:p>
        </p:txBody>
      </p:sp>
      <p:sp>
        <p:nvSpPr>
          <p:cNvPr id="9" name="">
            <a:extLst xmlns:a="http://schemas.openxmlformats.org/drawingml/2006/main">
              <a:ext uri="{FF2B5EF4-FFF2-40B4-BE49-F238E27FC236}">
                <a16:creationId xmlns:a16="http://schemas.microsoft.com/office/drawing/2014/main" id="{29911B53-5538-4BB8-818A-64001F20A4C4}"/>
              </a:ext>
            </a:extLst>
          </p:cNvPr>
          <p:cNvSpPr>
            <a:spLocks xmlns:a="http://schemas.openxmlformats.org/drawingml/2006/main" noGrp="1"/>
          </p:cNvSpPr>
          <p:nvPr/>
        </p:nvSpPr>
        <p:spPr>
          <a:xfrm xmlns:a="http://schemas.openxmlformats.org/drawingml/2006/main">
            <a:off x="419100" y="13335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475467"/>
                </a:solidFill>
                <a:latin typeface="Aptos"/>
                <a:ea typeface="Aptos"/>
                <a:cs typeface="Aptos"/>
              </a:defRPr>
            </a:pPr>
            <a:r>
              <a:rPr sz="1350" b="0">
                <a:solidFill>
                  <a:srgbClr val="475467"/>
                </a:solidFill>
                <a:latin typeface="Aptos"/>
                <a:ea typeface="Aptos"/>
                <a:cs typeface="Aptos"/>
              </a:rPr>
              <a:t>Do top-yield pools stay at the top?</a:t>
            </a:r>
          </a:p>
        </p:txBody>
      </p:sp>
      <p:sp>
        <p:nvSpPr>
          <p:cNvPr id="10" name="">
            <a:extLst xmlns:a="http://schemas.openxmlformats.org/drawingml/2006/main">
              <a:ext uri="{FF2B5EF4-FFF2-40B4-BE49-F238E27FC236}">
                <a16:creationId xmlns:a16="http://schemas.microsoft.com/office/drawing/2014/main" id="{9F9625D6-8689-4EA6-A92E-F2B306EE00D8}"/>
              </a:ext>
            </a:extLst>
          </p:cNvPr>
          <p:cNvSpPr>
            <a:spLocks xmlns:a="http://schemas.openxmlformats.org/drawingml/2006/main" noGrp="1"/>
          </p:cNvSpPr>
          <p:nvPr/>
        </p:nvSpPr>
        <p:spPr>
          <a:xfrm xmlns:a="http://schemas.openxmlformats.org/drawingml/2006/main">
            <a:off x="3810000" y="1771650"/>
            <a:ext cx="7943850" cy="4057650"/>
          </a:xfrm>
          <a:prstGeom xmlns:a="http://schemas.openxmlformats.org/drawingml/2006/main" prst="roundRect">
            <a:avLst>
              <a:gd name="adj" fmla="val 6103"/>
            </a:avLst>
          </a:prstGeom>
          <a:solidFill xmlns:a="http://schemas.openxmlformats.org/drawingml/2006/main">
            <a:srgbClr val="FFFFFF"/>
          </a:solidFill>
          <a:ln xmlns:a="http://schemas.openxmlformats.org/drawingml/2006/main" w="9525">
            <a:solidFill>
              <a:srgbClr val="DCE4F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8CF46E5F-EB64-4F46-A392-026DD187F252}"/>
              </a:ext>
            </a:extLst>
          </p:cNvPr>
          <p:cNvSpPr>
            <a:spLocks xmlns:a="http://schemas.openxmlformats.org/drawingml/2006/main" noGrp="1"/>
          </p:cNvSpPr>
          <p:nvPr/>
        </p:nvSpPr>
        <p:spPr>
          <a:xfrm xmlns:a="http://schemas.openxmlformats.org/drawingml/2006/main">
            <a:off x="4019550" y="1943100"/>
            <a:ext cx="819150" cy="57150"/>
          </a:xfrm>
          <a:prstGeom xmlns:a="http://schemas.openxmlformats.org/drawingml/2006/main" prst="roundRect">
            <a:avLst>
              <a:gd name="adj" fmla="val 50000"/>
            </a:avLst>
          </a:prstGeom>
          <a:gradFill xmlns:a="http://schemas.openxmlformats.org/drawingml/2006/main">
            <a:gsLst>
              <a:gs pos="0">
                <a:srgbClr val="4F7CFF"/>
              </a:gs>
              <a:gs pos="100000">
                <a:srgbClr val="23C9D8"/>
              </a:gs>
            </a:gsLst>
            <a:lin ang="0"/>
          </a:gradFill>
          <a:ln xmlns:a="http://schemas.openxmlformats.org/drawingml/2006/main" w="0">
            <a:gradFill>
              <a:gsLst>
                <a:gs pos="0">
                  <a:srgbClr val="4F7CFF"/>
                </a:gs>
                <a:gs pos="100000">
                  <a:srgbClr val="23C9D8"/>
                </a:gs>
              </a:gsLst>
              <a:lin ang="0"/>
            </a:gra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fc289a1836da44a3"/>
          <a:stretch xmlns:a="http://schemas.openxmlformats.org/drawingml/2006/main"/>
        </p:blipFill>
        <p:spPr>
          <a:xfrm xmlns:a="http://schemas.openxmlformats.org/drawingml/2006/main">
            <a:off x="3981450" y="2128457"/>
            <a:ext cx="7600950" cy="3496437"/>
          </a:xfrm>
          <a:prstGeom xmlns:a="http://schemas.openxmlformats.org/drawingml/2006/main" prst="roundRect">
            <a:avLst>
              <a:gd name="adj" fmla="val 4278"/>
            </a:avLst>
          </a:prstGeom>
        </p:spPr>
      </p:pic>
      <p:sp>
        <p:nvSpPr>
          <p:cNvPr id="13" name="">
            <a:extLst xmlns:a="http://schemas.openxmlformats.org/drawingml/2006/main">
              <a:ext uri="{FF2B5EF4-FFF2-40B4-BE49-F238E27FC236}">
                <a16:creationId xmlns:a16="http://schemas.microsoft.com/office/drawing/2014/main" id="{BD27798A-3C30-4870-A820-82EE248FF3BF}"/>
              </a:ext>
            </a:extLst>
          </p:cNvPr>
          <p:cNvSpPr>
            <a:spLocks xmlns:a="http://schemas.openxmlformats.org/drawingml/2006/main" noGrp="1"/>
          </p:cNvSpPr>
          <p:nvPr/>
        </p:nvSpPr>
        <p:spPr>
          <a:xfrm xmlns:a="http://schemas.openxmlformats.org/drawingml/2006/main">
            <a:off x="419100" y="1771650"/>
            <a:ext cx="3124200" cy="4057650"/>
          </a:xfrm>
          <a:prstGeom xmlns:a="http://schemas.openxmlformats.org/drawingml/2006/main" prst="roundRect">
            <a:avLst>
              <a:gd name="adj" fmla="val 7927"/>
            </a:avLst>
          </a:prstGeom>
          <a:gradFill xmlns:a="http://schemas.openxmlformats.org/drawingml/2006/main">
            <a:gsLst>
              <a:gs pos="0">
                <a:srgbClr val="4F7CFF">
                  <a:alpha val="17000"/>
                </a:srgbClr>
              </a:gs>
              <a:gs pos="74000">
                <a:srgbClr val="FFFFFF"/>
              </a:gs>
            </a:gsLst>
            <a:lin ang="8700000"/>
          </a:gradFill>
          <a:ln xmlns:a="http://schemas.openxmlformats.org/drawingml/2006/main" w="9525">
            <a:solidFill>
              <a:srgbClr val="4F7CFF">
                <a:alpha val="28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F83E0E34-82C4-49E2-A9B7-2B5FE43B38C6}"/>
              </a:ext>
            </a:extLst>
          </p:cNvPr>
          <p:cNvSpPr>
            <a:spLocks xmlns:a="http://schemas.openxmlformats.org/drawingml/2006/main" noGrp="1"/>
          </p:cNvSpPr>
          <p:nvPr/>
        </p:nvSpPr>
        <p:spPr>
          <a:xfrm xmlns:a="http://schemas.openxmlformats.org/drawingml/2006/main">
            <a:off x="647700" y="1981200"/>
            <a:ext cx="1733550" cy="304800"/>
          </a:xfrm>
          <a:prstGeom xmlns:a="http://schemas.openxmlformats.org/drawingml/2006/main" prst="roundRect">
            <a:avLst>
              <a:gd name="adj" fmla="val 50000"/>
            </a:avLst>
          </a:prstGeom>
          <a:solidFill xmlns:a="http://schemas.openxmlformats.org/drawingml/2006/main">
            <a:srgbClr val="4F7CFF">
              <a:alpha val="15000"/>
            </a:srgbClr>
          </a:solidFill>
          <a:ln xmlns:a="http://schemas.openxmlformats.org/drawingml/2006/main" w="9525">
            <a:solidFill>
              <a:srgbClr val="4F7CFF">
                <a:alpha val="22000"/>
              </a:srgbClr>
            </a:solidFill>
            <a:prstDash val="solid"/>
          </a:ln>
        </p:spPr>
      </p:sp>
      <p:sp>
        <p:nvSpPr>
          <p:cNvPr id="15" name="">
            <a:extLst xmlns:a="http://schemas.openxmlformats.org/drawingml/2006/main">
              <a:ext uri="{FF2B5EF4-FFF2-40B4-BE49-F238E27FC236}">
                <a16:creationId xmlns:a16="http://schemas.microsoft.com/office/drawing/2014/main" id="{1C87FC6C-229E-4DEB-B6CD-FD85AB3636A9}"/>
              </a:ext>
            </a:extLst>
          </p:cNvPr>
          <p:cNvSpPr>
            <a:spLocks xmlns:a="http://schemas.openxmlformats.org/drawingml/2006/main" noGrp="1"/>
          </p:cNvSpPr>
          <p:nvPr/>
        </p:nvSpPr>
        <p:spPr>
          <a:xfrm xmlns:a="http://schemas.openxmlformats.org/drawingml/2006/main">
            <a:off x="762000" y="1990725"/>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3159C9"/>
                </a:solidFill>
                <a:latin typeface="Aptos"/>
                <a:ea typeface="Aptos"/>
                <a:cs typeface="Aptos"/>
              </a:defRPr>
            </a:pPr>
            <a:r>
              <a:rPr sz="975" b="1">
                <a:solidFill>
                  <a:srgbClr val="3159C9"/>
                </a:solidFill>
                <a:latin typeface="Aptos"/>
                <a:ea typeface="Aptos"/>
                <a:cs typeface="Aptos"/>
              </a:rPr>
              <a:t>WEIGHTED AVERAGE</a:t>
            </a:r>
          </a:p>
        </p:txBody>
      </p:sp>
      <p:sp>
        <p:nvSpPr>
          <p:cNvPr id="16" name="">
            <a:extLst xmlns:a="http://schemas.openxmlformats.org/drawingml/2006/main">
              <a:ext uri="{FF2B5EF4-FFF2-40B4-BE49-F238E27FC236}">
                <a16:creationId xmlns:a16="http://schemas.microsoft.com/office/drawing/2014/main" id="{120EBB21-37F7-4993-A3A0-42E1193AE651}"/>
              </a:ext>
            </a:extLst>
          </p:cNvPr>
          <p:cNvSpPr>
            <a:spLocks xmlns:a="http://schemas.openxmlformats.org/drawingml/2006/main" noGrp="1"/>
          </p:cNvSpPr>
          <p:nvPr/>
        </p:nvSpPr>
        <p:spPr>
          <a:xfrm xmlns:a="http://schemas.openxmlformats.org/drawingml/2006/main">
            <a:off x="647700" y="2476500"/>
            <a:ext cx="26670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4213D"/>
                </a:solidFill>
                <a:latin typeface="Aptos"/>
                <a:ea typeface="Aptos"/>
                <a:cs typeface="Aptos"/>
              </a:defRPr>
            </a:pPr>
            <a:r>
              <a:rPr sz="1725" b="1">
                <a:solidFill>
                  <a:srgbClr val="14213D"/>
                </a:solidFill>
                <a:latin typeface="Aptos"/>
                <a:ea typeface="Aptos"/>
                <a:cs typeface="Aptos"/>
              </a:rPr>
              <a:t>Weighted by valid date × top-k comparisons, churn rises from 13.5% after 1 day to 33.3% after 30 days.</a:t>
            </a:r>
          </a:p>
        </p:txBody>
      </p:sp>
      <p:sp>
        <p:nvSpPr>
          <p:cNvPr id="17" name="">
            <a:extLst xmlns:a="http://schemas.openxmlformats.org/drawingml/2006/main">
              <a:ext uri="{FF2B5EF4-FFF2-40B4-BE49-F238E27FC236}">
                <a16:creationId xmlns:a16="http://schemas.microsoft.com/office/drawing/2014/main" id="{DB37F8C0-D70A-4801-803E-1A83FE5276B8}"/>
              </a:ext>
            </a:extLst>
          </p:cNvPr>
          <p:cNvSpPr>
            <a:spLocks xmlns:a="http://schemas.openxmlformats.org/drawingml/2006/main" noGrp="1"/>
          </p:cNvSpPr>
          <p:nvPr/>
        </p:nvSpPr>
        <p:spPr>
          <a:xfrm xmlns:a="http://schemas.openxmlformats.org/drawingml/2006/main">
            <a:off x="647700" y="3771900"/>
            <a:ext cx="2667000" cy="9525"/>
          </a:xfrm>
          <a:prstGeom xmlns:a="http://schemas.openxmlformats.org/drawingml/2006/main" prst="line">
            <a:avLst/>
          </a:prstGeom>
          <a:noFill xmlns:a="http://schemas.openxmlformats.org/drawingml/2006/main"/>
          <a:ln xmlns:a="http://schemas.openxmlformats.org/drawingml/2006/main" w="9525">
            <a:solidFill>
              <a:srgbClr val="4F7CFF">
                <a:alpha val="30000"/>
              </a:srgbClr>
            </a:solidFill>
            <a:prstDash val="solid"/>
          </a:ln>
        </p:spPr>
      </p:sp>
      <p:sp>
        <p:nvSpPr>
          <p:cNvPr id="18" name="">
            <a:extLst xmlns:a="http://schemas.openxmlformats.org/drawingml/2006/main">
              <a:ext uri="{FF2B5EF4-FFF2-40B4-BE49-F238E27FC236}">
                <a16:creationId xmlns:a16="http://schemas.microsoft.com/office/drawing/2014/main" id="{74D24405-BB47-4E49-90A7-2258F5737F88}"/>
              </a:ext>
            </a:extLst>
          </p:cNvPr>
          <p:cNvSpPr>
            <a:spLocks xmlns:a="http://schemas.openxmlformats.org/drawingml/2006/main" noGrp="1"/>
          </p:cNvSpPr>
          <p:nvPr/>
        </p:nvSpPr>
        <p:spPr>
          <a:xfrm xmlns:a="http://schemas.openxmlformats.org/drawingml/2006/main">
            <a:off x="666750" y="4057650"/>
            <a:ext cx="95250" cy="95250"/>
          </a:xfrm>
          <a:prstGeom xmlns:a="http://schemas.openxmlformats.org/drawingml/2006/main" prst="roundRect">
            <a:avLst>
              <a:gd name="adj" fmla="val 50000"/>
            </a:avLst>
          </a:prstGeom>
          <a:solidFill xmlns:a="http://schemas.openxmlformats.org/drawingml/2006/main">
            <a:srgbClr val="4F7CFF"/>
          </a:solidFill>
          <a:ln xmlns:a="http://schemas.openxmlformats.org/drawingml/2006/main" w="0">
            <a:solidFill>
              <a:srgbClr val="4F7CFF"/>
            </a:solidFill>
            <a:prstDash val="solid"/>
          </a:ln>
        </p:spPr>
      </p:sp>
      <p:sp>
        <p:nvSpPr>
          <p:cNvPr id="19" name="">
            <a:extLst xmlns:a="http://schemas.openxmlformats.org/drawingml/2006/main">
              <a:ext uri="{FF2B5EF4-FFF2-40B4-BE49-F238E27FC236}">
                <a16:creationId xmlns:a16="http://schemas.microsoft.com/office/drawing/2014/main" id="{F3077F87-FFC8-4CE8-9B3C-DDC1CFD38E78}"/>
              </a:ext>
            </a:extLst>
          </p:cNvPr>
          <p:cNvSpPr>
            <a:spLocks xmlns:a="http://schemas.openxmlformats.org/drawingml/2006/main" noGrp="1"/>
          </p:cNvSpPr>
          <p:nvPr/>
        </p:nvSpPr>
        <p:spPr>
          <a:xfrm xmlns:a="http://schemas.openxmlformats.org/drawingml/2006/main">
            <a:off x="895350" y="398145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4213D"/>
                </a:solidFill>
                <a:latin typeface="Aptos"/>
                <a:ea typeface="Aptos"/>
                <a:cs typeface="Aptos"/>
              </a:defRPr>
            </a:pPr>
            <a:r>
              <a:rPr sz="1275" b="0">
                <a:solidFill>
                  <a:srgbClr val="14213D"/>
                </a:solidFill>
                <a:latin typeface="Aptos"/>
                <a:ea typeface="Aptos"/>
                <a:cs typeface="Aptos"/>
              </a:rPr>
              <a:t>1 day: 13.5% (n=2,669)</a:t>
            </a:r>
          </a:p>
        </p:txBody>
      </p:sp>
      <p:sp>
        <p:nvSpPr>
          <p:cNvPr id="20" name="">
            <a:extLst xmlns:a="http://schemas.openxmlformats.org/drawingml/2006/main">
              <a:ext uri="{FF2B5EF4-FFF2-40B4-BE49-F238E27FC236}">
                <a16:creationId xmlns:a16="http://schemas.microsoft.com/office/drawing/2014/main" id="{5C8A8097-1EC8-4CA1-B782-52593FAE3565}"/>
              </a:ext>
            </a:extLst>
          </p:cNvPr>
          <p:cNvSpPr>
            <a:spLocks xmlns:a="http://schemas.openxmlformats.org/drawingml/2006/main" noGrp="1"/>
          </p:cNvSpPr>
          <p:nvPr/>
        </p:nvSpPr>
        <p:spPr>
          <a:xfrm xmlns:a="http://schemas.openxmlformats.org/drawingml/2006/main">
            <a:off x="666750" y="4610100"/>
            <a:ext cx="95250" cy="95250"/>
          </a:xfrm>
          <a:prstGeom xmlns:a="http://schemas.openxmlformats.org/drawingml/2006/main" prst="roundRect">
            <a:avLst>
              <a:gd name="adj" fmla="val 50000"/>
            </a:avLst>
          </a:prstGeom>
          <a:solidFill xmlns:a="http://schemas.openxmlformats.org/drawingml/2006/main">
            <a:srgbClr val="4F7CFF"/>
          </a:solidFill>
          <a:ln xmlns:a="http://schemas.openxmlformats.org/drawingml/2006/main" w="0">
            <a:solidFill>
              <a:srgbClr val="4F7CFF"/>
            </a:solidFill>
            <a:prstDash val="solid"/>
          </a:ln>
        </p:spPr>
      </p:sp>
      <p:sp>
        <p:nvSpPr>
          <p:cNvPr id="21" name="">
            <a:extLst xmlns:a="http://schemas.openxmlformats.org/drawingml/2006/main">
              <a:ext uri="{FF2B5EF4-FFF2-40B4-BE49-F238E27FC236}">
                <a16:creationId xmlns:a16="http://schemas.microsoft.com/office/drawing/2014/main" id="{AD5BBDDD-C034-46AA-B7FC-119CE9C07E4D}"/>
              </a:ext>
            </a:extLst>
          </p:cNvPr>
          <p:cNvSpPr>
            <a:spLocks xmlns:a="http://schemas.openxmlformats.org/drawingml/2006/main" noGrp="1"/>
          </p:cNvSpPr>
          <p:nvPr/>
        </p:nvSpPr>
        <p:spPr>
          <a:xfrm xmlns:a="http://schemas.openxmlformats.org/drawingml/2006/main">
            <a:off x="895350" y="453390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4213D"/>
                </a:solidFill>
                <a:latin typeface="Aptos"/>
                <a:ea typeface="Aptos"/>
                <a:cs typeface="Aptos"/>
              </a:defRPr>
            </a:pPr>
            <a:r>
              <a:rPr sz="1275" b="0">
                <a:solidFill>
                  <a:srgbClr val="14213D"/>
                </a:solidFill>
                <a:latin typeface="Aptos"/>
                <a:ea typeface="Aptos"/>
                <a:cs typeface="Aptos"/>
              </a:rPr>
              <a:t>7 days: 23.6% (n=2,657)</a:t>
            </a:r>
          </a:p>
        </p:txBody>
      </p:sp>
      <p:sp>
        <p:nvSpPr>
          <p:cNvPr id="22" name="">
            <a:extLst xmlns:a="http://schemas.openxmlformats.org/drawingml/2006/main">
              <a:ext uri="{FF2B5EF4-FFF2-40B4-BE49-F238E27FC236}">
                <a16:creationId xmlns:a16="http://schemas.microsoft.com/office/drawing/2014/main" id="{0E1902C0-DC81-4762-9BBA-810EA00AE363}"/>
              </a:ext>
            </a:extLst>
          </p:cNvPr>
          <p:cNvSpPr>
            <a:spLocks xmlns:a="http://schemas.openxmlformats.org/drawingml/2006/main" noGrp="1"/>
          </p:cNvSpPr>
          <p:nvPr/>
        </p:nvSpPr>
        <p:spPr>
          <a:xfrm xmlns:a="http://schemas.openxmlformats.org/drawingml/2006/main">
            <a:off x="666750" y="5162550"/>
            <a:ext cx="95250" cy="95250"/>
          </a:xfrm>
          <a:prstGeom xmlns:a="http://schemas.openxmlformats.org/drawingml/2006/main" prst="roundRect">
            <a:avLst>
              <a:gd name="adj" fmla="val 50000"/>
            </a:avLst>
          </a:prstGeom>
          <a:solidFill xmlns:a="http://schemas.openxmlformats.org/drawingml/2006/main">
            <a:srgbClr val="4F7CFF"/>
          </a:solidFill>
          <a:ln xmlns:a="http://schemas.openxmlformats.org/drawingml/2006/main" w="0">
            <a:solidFill>
              <a:srgbClr val="4F7CFF"/>
            </a:solidFill>
            <a:prstDash val="solid"/>
          </a:ln>
        </p:spPr>
      </p:sp>
      <p:sp>
        <p:nvSpPr>
          <p:cNvPr id="23" name="">
            <a:extLst xmlns:a="http://schemas.openxmlformats.org/drawingml/2006/main">
              <a:ext uri="{FF2B5EF4-FFF2-40B4-BE49-F238E27FC236}">
                <a16:creationId xmlns:a16="http://schemas.microsoft.com/office/drawing/2014/main" id="{C9FE339A-4696-4246-AF5F-D73211D17E88}"/>
              </a:ext>
            </a:extLst>
          </p:cNvPr>
          <p:cNvSpPr>
            <a:spLocks xmlns:a="http://schemas.openxmlformats.org/drawingml/2006/main" noGrp="1"/>
          </p:cNvSpPr>
          <p:nvPr/>
        </p:nvSpPr>
        <p:spPr>
          <a:xfrm xmlns:a="http://schemas.openxmlformats.org/drawingml/2006/main">
            <a:off x="895350" y="5086350"/>
            <a:ext cx="2438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4213D"/>
                </a:solidFill>
                <a:latin typeface="Aptos"/>
                <a:ea typeface="Aptos"/>
                <a:cs typeface="Aptos"/>
              </a:defRPr>
            </a:pPr>
            <a:r>
              <a:rPr sz="1275" b="0">
                <a:solidFill>
                  <a:srgbClr val="14213D"/>
                </a:solidFill>
                <a:latin typeface="Aptos"/>
                <a:ea typeface="Aptos"/>
                <a:cs typeface="Aptos"/>
              </a:rPr>
              <a:t>30 days: 33.3% (n=2,612)</a:t>
            </a:r>
          </a:p>
        </p:txBody>
      </p:sp>
      <p:sp>
        <p:nvSpPr>
          <p:cNvPr id="24" name="">
            <a:extLst xmlns:a="http://schemas.openxmlformats.org/drawingml/2006/main">
              <a:ext uri="{FF2B5EF4-FFF2-40B4-BE49-F238E27FC236}">
                <a16:creationId xmlns:a16="http://schemas.microsoft.com/office/drawing/2014/main" id="{DCFBED21-AF4A-4BD2-88D4-0C24CED80BE8}"/>
              </a:ext>
            </a:extLst>
          </p:cNvPr>
          <p:cNvSpPr>
            <a:spLocks xmlns:a="http://schemas.openxmlformats.org/drawingml/2006/main" noGrp="1"/>
          </p:cNvSpPr>
          <p:nvPr/>
        </p:nvSpPr>
        <p:spPr>
          <a:xfrm xmlns:a="http://schemas.openxmlformats.org/drawingml/2006/main">
            <a:off x="419100" y="5981700"/>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475467"/>
                </a:solidFill>
                <a:latin typeface="Aptos"/>
                <a:ea typeface="Aptos"/>
                <a:cs typeface="Aptos"/>
              </a:defRPr>
            </a:pPr>
            <a:r>
              <a:rPr sz="1050" b="0">
                <a:solidFill>
                  <a:srgbClr val="475467"/>
                </a:solidFill>
                <a:latin typeface="Aptos"/>
                <a:ea typeface="Aptos"/>
                <a:cs typeface="Aptos"/>
              </a:rPr>
              <a:t>Sources: DeFiLlama, CoinGecko checks and protocol documentation. Quoted APY differs from realized return.</a:t>
            </a:r>
          </a:p>
        </p:txBody>
      </p:sp>
    </p:spTree>
    <p:extLst>
      <p:ext uri="{BB962C8B-B14F-4D97-AF65-F5344CB8AC3E}">
        <p14:creationId xmlns:p14="http://schemas.microsoft.com/office/powerpoint/2010/main" val="649939300"/>
      </p:ext>
    </p:extLst>
  </p:cSld>
</p:sld>
</file>

<file path=ppt/slides/slide8.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847322A-50A7-481A-8C9B-55C655A2FF83}"/>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2BBBAD">
              <a:alpha val="13000"/>
            </a:srgbClr>
          </a:solidFill>
          <a:ln xmlns:a="http://schemas.openxmlformats.org/drawingml/2006/main" w="9525">
            <a:solidFill>
              <a:srgbClr val="2BBBAD">
                <a:alpha val="22000"/>
              </a:srgbClr>
            </a:solidFill>
            <a:prstDash val="solid"/>
          </a:ln>
        </p:spPr>
      </p:sp>
      <p:sp>
        <p:nvSpPr>
          <p:cNvPr id="2" name="">
            <a:extLst xmlns:a="http://schemas.openxmlformats.org/drawingml/2006/main">
              <a:ext uri="{FF2B5EF4-FFF2-40B4-BE49-F238E27FC236}">
                <a16:creationId xmlns:a16="http://schemas.microsoft.com/office/drawing/2014/main" id="{4D31E19E-9AB4-48EE-BD49-B8A6208B91B4}"/>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08796F"/>
                </a:solidFill>
                <a:latin typeface="Aptos"/>
                <a:ea typeface="Aptos"/>
                <a:cs typeface="Aptos"/>
              </a:defRPr>
            </a:pPr>
            <a:r>
              <a:rPr sz="975" b="1">
                <a:solidFill>
                  <a:srgbClr val="08796F"/>
                </a:solidFill>
                <a:latin typeface="Aptos"/>
                <a:ea typeface="Aptos"/>
                <a:cs typeface="Aptos"/>
              </a:rPr>
              <a:t>MECHANISMS</a:t>
            </a:r>
          </a:p>
        </p:txBody>
      </p:sp>
      <p:sp>
        <p:nvSpPr>
          <p:cNvPr id="3" name="">
            <a:extLst xmlns:a="http://schemas.openxmlformats.org/drawingml/2006/main">
              <a:ext uri="{FF2B5EF4-FFF2-40B4-BE49-F238E27FC236}">
                <a16:creationId xmlns:a16="http://schemas.microsoft.com/office/drawing/2014/main" id="{5EACC4F9-C6EB-4097-BF14-B92DD67D9101}"/>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2BBBAD"/>
          </a:solidFill>
          <a:ln xmlns:a="http://schemas.openxmlformats.org/drawingml/2006/main" w="9525">
            <a:solidFill>
              <a:srgbClr val="2BBBAD">
                <a:alpha val="22000"/>
              </a:srgbClr>
            </a:solidFill>
            <a:prstDash val="solid"/>
          </a:ln>
        </p:spPr>
      </p:sp>
      <p:sp>
        <p:nvSpPr>
          <p:cNvPr id="4" name="">
            <a:extLst xmlns:a="http://schemas.openxmlformats.org/drawingml/2006/main">
              <a:ext uri="{FF2B5EF4-FFF2-40B4-BE49-F238E27FC236}">
                <a16:creationId xmlns:a16="http://schemas.microsoft.com/office/drawing/2014/main" id="{7D1387D4-B32F-480D-9F39-D6BDC048CB5C}"/>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08</a:t>
            </a:r>
          </a:p>
        </p:txBody>
      </p:sp>
      <p:sp>
        <p:nvSpPr>
          <p:cNvPr id="5" name="">
            <a:extLst xmlns:a="http://schemas.openxmlformats.org/drawingml/2006/main">
              <a:ext uri="{FF2B5EF4-FFF2-40B4-BE49-F238E27FC236}">
                <a16:creationId xmlns:a16="http://schemas.microsoft.com/office/drawing/2014/main" id="{3D827855-BDFE-40AA-8E11-D60964006BB5}"/>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475467"/>
                </a:solidFill>
                <a:latin typeface="Aptos"/>
                <a:ea typeface="Aptos"/>
                <a:cs typeface="Aptos"/>
              </a:defRPr>
            </a:pPr>
            <a:r>
              <a:rPr sz="825" b="1">
                <a:solidFill>
                  <a:srgbClr val="475467"/>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47D64757-8D6D-4515-9931-938160A9F483}"/>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E9B8AAD6-A7FE-43E5-B8AE-0A44D03799E7}"/>
              </a:ext>
            </a:extLst>
          </p:cNvPr>
          <p:cNvSpPr>
            <a:spLocks xmlns:a="http://schemas.openxmlformats.org/drawingml/2006/main" noGrp="1"/>
          </p:cNvSpPr>
          <p:nvPr/>
        </p:nvSpPr>
        <p:spPr>
          <a:xfrm xmlns:a="http://schemas.openxmlformats.org/drawingml/2006/main">
            <a:off x="8420100" y="6486525"/>
            <a:ext cx="1568824" cy="38100"/>
          </a:xfrm>
          <a:prstGeom xmlns:a="http://schemas.openxmlformats.org/drawingml/2006/main" prst="roundRect">
            <a:avLst>
              <a:gd name="adj" fmla="val 50000"/>
            </a:avLst>
          </a:prstGeom>
          <a:solidFill xmlns:a="http://schemas.openxmlformats.org/drawingml/2006/main">
            <a:srgbClr val="2BBBAD"/>
          </a:solidFill>
          <a:ln xmlns:a="http://schemas.openxmlformats.org/drawingml/2006/main" w="0">
            <a:solidFill>
              <a:srgbClr val="2BBBAD"/>
            </a:solidFill>
            <a:prstDash val="solid"/>
          </a:ln>
        </p:spPr>
      </p:sp>
      <p:sp>
        <p:nvSpPr>
          <p:cNvPr id="8" name="">
            <a:extLst xmlns:a="http://schemas.openxmlformats.org/drawingml/2006/main">
              <a:ext uri="{FF2B5EF4-FFF2-40B4-BE49-F238E27FC236}">
                <a16:creationId xmlns:a16="http://schemas.microsoft.com/office/drawing/2014/main" id="{25F9CBFC-1E4D-4AF1-A1F4-7DD449C7F83A}"/>
              </a:ext>
            </a:extLst>
          </p:cNvPr>
          <p:cNvSpPr>
            <a:spLocks xmlns:a="http://schemas.openxmlformats.org/drawingml/2006/main" noGrp="1"/>
          </p:cNvSpPr>
          <p:nvPr/>
        </p:nvSpPr>
        <p:spPr>
          <a:xfrm xmlns:a="http://schemas.openxmlformats.org/drawingml/2006/main">
            <a:off x="419100" y="762000"/>
            <a:ext cx="1000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4213D"/>
                </a:solidFill>
                <a:latin typeface="Aptos"/>
                <a:ea typeface="Aptos"/>
                <a:cs typeface="Aptos"/>
              </a:defRPr>
            </a:pPr>
            <a:r>
              <a:rPr sz="3000" b="1">
                <a:solidFill>
                  <a:srgbClr val="14213D"/>
                </a:solidFill>
                <a:latin typeface="Aptos"/>
                <a:ea typeface="Aptos"/>
                <a:cs typeface="Aptos"/>
              </a:rPr>
              <a:t>Mechanism changes what headline APY means</a:t>
            </a:r>
          </a:p>
        </p:txBody>
      </p:sp>
      <p:sp>
        <p:nvSpPr>
          <p:cNvPr id="9" name="">
            <a:extLst xmlns:a="http://schemas.openxmlformats.org/drawingml/2006/main">
              <a:ext uri="{FF2B5EF4-FFF2-40B4-BE49-F238E27FC236}">
                <a16:creationId xmlns:a16="http://schemas.microsoft.com/office/drawing/2014/main" id="{F7693402-16F1-495C-AEE1-AEF8E807FBBF}"/>
              </a:ext>
            </a:extLst>
          </p:cNvPr>
          <p:cNvSpPr>
            <a:spLocks xmlns:a="http://schemas.openxmlformats.org/drawingml/2006/main" noGrp="1"/>
          </p:cNvSpPr>
          <p:nvPr/>
        </p:nvSpPr>
        <p:spPr>
          <a:xfrm xmlns:a="http://schemas.openxmlformats.org/drawingml/2006/main">
            <a:off x="419100" y="13335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475467"/>
                </a:solidFill>
                <a:latin typeface="Aptos"/>
                <a:ea typeface="Aptos"/>
                <a:cs typeface="Aptos"/>
              </a:defRPr>
            </a:pPr>
            <a:r>
              <a:rPr sz="1350" b="0">
                <a:solidFill>
                  <a:srgbClr val="475467"/>
                </a:solidFill>
                <a:latin typeface="Aptos"/>
                <a:ea typeface="Aptos"/>
                <a:cs typeface="Aptos"/>
              </a:rPr>
              <a:t>What sits behind headline APY?</a:t>
            </a:r>
          </a:p>
        </p:txBody>
      </p:sp>
      <p:sp>
        <p:nvSpPr>
          <p:cNvPr id="10" name="">
            <a:extLst xmlns:a="http://schemas.openxmlformats.org/drawingml/2006/main">
              <a:ext uri="{FF2B5EF4-FFF2-40B4-BE49-F238E27FC236}">
                <a16:creationId xmlns:a16="http://schemas.microsoft.com/office/drawing/2014/main" id="{3BAB7D77-C814-4275-964A-76CB974B3CDF}"/>
              </a:ext>
            </a:extLst>
          </p:cNvPr>
          <p:cNvSpPr>
            <a:spLocks xmlns:a="http://schemas.openxmlformats.org/drawingml/2006/main" noGrp="1"/>
          </p:cNvSpPr>
          <p:nvPr/>
        </p:nvSpPr>
        <p:spPr>
          <a:xfrm xmlns:a="http://schemas.openxmlformats.org/drawingml/2006/main">
            <a:off x="419100" y="1771650"/>
            <a:ext cx="7524750" cy="4057650"/>
          </a:xfrm>
          <a:prstGeom xmlns:a="http://schemas.openxmlformats.org/drawingml/2006/main" prst="roundRect">
            <a:avLst>
              <a:gd name="adj" fmla="val 6103"/>
            </a:avLst>
          </a:prstGeom>
          <a:solidFill xmlns:a="http://schemas.openxmlformats.org/drawingml/2006/main">
            <a:srgbClr val="FFFFFF"/>
          </a:solidFill>
          <a:ln xmlns:a="http://schemas.openxmlformats.org/drawingml/2006/main" w="9525">
            <a:solidFill>
              <a:srgbClr val="DCE4F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33EB1B64-4D5D-40AF-9CC1-4524F85A2885}"/>
              </a:ext>
            </a:extLst>
          </p:cNvPr>
          <p:cNvSpPr>
            <a:spLocks xmlns:a="http://schemas.openxmlformats.org/drawingml/2006/main" noGrp="1"/>
          </p:cNvSpPr>
          <p:nvPr/>
        </p:nvSpPr>
        <p:spPr>
          <a:xfrm xmlns:a="http://schemas.openxmlformats.org/drawingml/2006/main">
            <a:off x="685800" y="1981200"/>
            <a:ext cx="533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4213D"/>
                </a:solidFill>
                <a:latin typeface="Aptos"/>
                <a:ea typeface="Aptos"/>
                <a:cs typeface="Aptos"/>
              </a:defRPr>
            </a:pPr>
            <a:r>
              <a:rPr sz="1725" b="1">
                <a:solidFill>
                  <a:srgbClr val="14213D"/>
                </a:solidFill>
                <a:latin typeface="Aptos"/>
                <a:ea typeface="Aptos"/>
                <a:cs typeface="Aptos"/>
              </a:rPr>
              <a:t>Median APY components by pool type</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9ce63e85a7c3421c"/>
          <a:stretch xmlns:a="http://schemas.openxmlformats.org/drawingml/2006/main"/>
        </p:blipFill>
        <p:spPr>
          <a:xfrm xmlns:a="http://schemas.openxmlformats.org/drawingml/2006/main">
            <a:off x="922698" y="2362200"/>
            <a:ext cx="6441354" cy="2876550"/>
          </a:xfrm>
          <a:prstGeom xmlns:a="http://schemas.openxmlformats.org/drawingml/2006/main" prst="roundRect">
            <a:avLst>
              <a:gd name="adj" fmla="val 5298"/>
            </a:avLst>
          </a:prstGeom>
        </p:spPr>
      </p:pic>
      <p:sp>
        <p:nvSpPr>
          <p:cNvPr id="13" name="">
            <a:extLst xmlns:a="http://schemas.openxmlformats.org/drawingml/2006/main">
              <a:ext uri="{FF2B5EF4-FFF2-40B4-BE49-F238E27FC236}">
                <a16:creationId xmlns:a16="http://schemas.microsoft.com/office/drawing/2014/main" id="{705A9877-2E28-4133-AFF8-531375210174}"/>
              </a:ext>
            </a:extLst>
          </p:cNvPr>
          <p:cNvSpPr>
            <a:spLocks xmlns:a="http://schemas.openxmlformats.org/drawingml/2006/main" noGrp="1"/>
          </p:cNvSpPr>
          <p:nvPr/>
        </p:nvSpPr>
        <p:spPr>
          <a:xfrm xmlns:a="http://schemas.openxmlformats.org/drawingml/2006/main">
            <a:off x="685800" y="5372100"/>
            <a:ext cx="6934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475467"/>
                </a:solidFill>
                <a:latin typeface="Aptos"/>
                <a:ea typeface="Aptos"/>
                <a:cs typeface="Aptos"/>
              </a:defRPr>
            </a:pPr>
            <a:r>
              <a:rPr sz="1125" b="0">
                <a:solidFill>
                  <a:srgbClr val="475467"/>
                </a:solidFill>
                <a:latin typeface="Aptos"/>
                <a:ea typeface="Aptos"/>
                <a:cs typeface="Aptos"/>
              </a:rPr>
              <a:t>Medians use available pool-days. Zero is observed, N/A means missing.</a:t>
            </a:r>
          </a:p>
          <a:p xmlns:a="http://schemas.openxmlformats.org/drawingml/2006/main">
            <a:pPr algn="l">
              <a:defRPr sz="1125" b="0">
                <a:solidFill>
                  <a:srgbClr val="475467"/>
                </a:solidFill>
                <a:latin typeface="Aptos"/>
                <a:ea typeface="Aptos"/>
                <a:cs typeface="Aptos"/>
              </a:defRPr>
            </a:pPr>
            <a:r>
              <a:rPr sz="1125" b="0">
                <a:solidFill>
                  <a:srgbClr val="475467"/>
                </a:solidFill>
                <a:latin typeface="Aptos"/>
                <a:ea typeface="Aptos"/>
                <a:cs typeface="Aptos"/>
              </a:rPr>
              <a:t>Component medians do not necessarily sum to median total APY.</a:t>
            </a:r>
          </a:p>
        </p:txBody>
      </p:sp>
      <p:sp>
        <p:nvSpPr>
          <p:cNvPr id="14" name="">
            <a:extLst xmlns:a="http://schemas.openxmlformats.org/drawingml/2006/main">
              <a:ext uri="{FF2B5EF4-FFF2-40B4-BE49-F238E27FC236}">
                <a16:creationId xmlns:a16="http://schemas.microsoft.com/office/drawing/2014/main" id="{DB303656-0D2C-44F4-8A62-D5910AC19359}"/>
              </a:ext>
            </a:extLst>
          </p:cNvPr>
          <p:cNvSpPr>
            <a:spLocks xmlns:a="http://schemas.openxmlformats.org/drawingml/2006/main" noGrp="1"/>
          </p:cNvSpPr>
          <p:nvPr/>
        </p:nvSpPr>
        <p:spPr>
          <a:xfrm xmlns:a="http://schemas.openxmlformats.org/drawingml/2006/main">
            <a:off x="8191500" y="1771650"/>
            <a:ext cx="3562350" cy="4057650"/>
          </a:xfrm>
          <a:prstGeom xmlns:a="http://schemas.openxmlformats.org/drawingml/2006/main" prst="roundRect">
            <a:avLst>
              <a:gd name="adj" fmla="val 6952"/>
            </a:avLst>
          </a:prstGeom>
          <a:gradFill xmlns:a="http://schemas.openxmlformats.org/drawingml/2006/main">
            <a:gsLst>
              <a:gs pos="0">
                <a:srgbClr val="2BBBAD">
                  <a:alpha val="18000"/>
                </a:srgbClr>
              </a:gs>
              <a:gs pos="78000">
                <a:srgbClr val="FFFFFF"/>
              </a:gs>
            </a:gsLst>
            <a:lin ang="8700000"/>
          </a:gradFill>
          <a:ln xmlns:a="http://schemas.openxmlformats.org/drawingml/2006/main" w="9525">
            <a:solidFill>
              <a:srgbClr val="2BBBAD">
                <a:alpha val="28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3A777F0B-0B73-4332-B3A4-F156A75E7154}"/>
              </a:ext>
            </a:extLst>
          </p:cNvPr>
          <p:cNvSpPr>
            <a:spLocks xmlns:a="http://schemas.openxmlformats.org/drawingml/2006/main" noGrp="1"/>
          </p:cNvSpPr>
          <p:nvPr/>
        </p:nvSpPr>
        <p:spPr>
          <a:xfrm xmlns:a="http://schemas.openxmlformats.org/drawingml/2006/main">
            <a:off x="8439150" y="2000250"/>
            <a:ext cx="1752600" cy="304800"/>
          </a:xfrm>
          <a:prstGeom xmlns:a="http://schemas.openxmlformats.org/drawingml/2006/main" prst="roundRect">
            <a:avLst>
              <a:gd name="adj" fmla="val 50000"/>
            </a:avLst>
          </a:prstGeom>
          <a:solidFill xmlns:a="http://schemas.openxmlformats.org/drawingml/2006/main">
            <a:srgbClr val="2BBBAD">
              <a:alpha val="15000"/>
            </a:srgbClr>
          </a:solidFill>
          <a:ln xmlns:a="http://schemas.openxmlformats.org/drawingml/2006/main" w="9525">
            <a:solidFill>
              <a:srgbClr val="2BBBAD">
                <a:alpha val="22000"/>
              </a:srgbClr>
            </a:solidFill>
            <a:prstDash val="solid"/>
          </a:ln>
        </p:spPr>
      </p:sp>
      <p:sp>
        <p:nvSpPr>
          <p:cNvPr id="16" name="">
            <a:extLst xmlns:a="http://schemas.openxmlformats.org/drawingml/2006/main">
              <a:ext uri="{FF2B5EF4-FFF2-40B4-BE49-F238E27FC236}">
                <a16:creationId xmlns:a16="http://schemas.microsoft.com/office/drawing/2014/main" id="{CBBA49FA-0241-41C2-B1DB-6EB7182B27D8}"/>
              </a:ext>
            </a:extLst>
          </p:cNvPr>
          <p:cNvSpPr>
            <a:spLocks xmlns:a="http://schemas.openxmlformats.org/drawingml/2006/main" noGrp="1"/>
          </p:cNvSpPr>
          <p:nvPr/>
        </p:nvSpPr>
        <p:spPr>
          <a:xfrm xmlns:a="http://schemas.openxmlformats.org/drawingml/2006/main">
            <a:off x="8553450" y="200977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08796F"/>
                </a:solidFill>
                <a:latin typeface="Aptos"/>
                <a:ea typeface="Aptos"/>
                <a:cs typeface="Aptos"/>
              </a:defRPr>
            </a:pPr>
            <a:r>
              <a:rPr sz="975" b="1">
                <a:solidFill>
                  <a:srgbClr val="08796F"/>
                </a:solidFill>
                <a:latin typeface="Aptos"/>
                <a:ea typeface="Aptos"/>
                <a:cs typeface="Aptos"/>
              </a:rPr>
              <a:t>INTERPRETATION</a:t>
            </a:r>
          </a:p>
        </p:txBody>
      </p:sp>
      <p:sp>
        <p:nvSpPr>
          <p:cNvPr id="17" name="">
            <a:extLst xmlns:a="http://schemas.openxmlformats.org/drawingml/2006/main">
              <a:ext uri="{FF2B5EF4-FFF2-40B4-BE49-F238E27FC236}">
                <a16:creationId xmlns:a16="http://schemas.microsoft.com/office/drawing/2014/main" id="{51B2E2EF-5F1C-4705-86A9-59630B3D66D0}"/>
              </a:ext>
            </a:extLst>
          </p:cNvPr>
          <p:cNvSpPr>
            <a:spLocks xmlns:a="http://schemas.openxmlformats.org/drawingml/2006/main" noGrp="1"/>
          </p:cNvSpPr>
          <p:nvPr/>
        </p:nvSpPr>
        <p:spPr>
          <a:xfrm xmlns:a="http://schemas.openxmlformats.org/drawingml/2006/main">
            <a:off x="8439150" y="2514600"/>
            <a:ext cx="28765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4213D"/>
                </a:solidFill>
                <a:latin typeface="Aptos"/>
                <a:ea typeface="Aptos"/>
                <a:cs typeface="Aptos"/>
              </a:defRPr>
            </a:pPr>
            <a:r>
              <a:rPr sz="1875" b="1">
                <a:solidFill>
                  <a:srgbClr val="14213D"/>
                </a:solidFill>
                <a:latin typeface="Aptos"/>
                <a:ea typeface="Aptos"/>
                <a:cs typeface="Aptos"/>
              </a:rPr>
              <a:t>Components prevent false equivalence</a:t>
            </a:r>
          </a:p>
        </p:txBody>
      </p:sp>
      <p:sp>
        <p:nvSpPr>
          <p:cNvPr id="18" name="">
            <a:extLst xmlns:a="http://schemas.openxmlformats.org/drawingml/2006/main">
              <a:ext uri="{FF2B5EF4-FFF2-40B4-BE49-F238E27FC236}">
                <a16:creationId xmlns:a16="http://schemas.microsoft.com/office/drawing/2014/main" id="{B1D60604-EBC8-43A2-BE77-3AF6910F4721}"/>
              </a:ext>
            </a:extLst>
          </p:cNvPr>
          <p:cNvSpPr>
            <a:spLocks xmlns:a="http://schemas.openxmlformats.org/drawingml/2006/main" noGrp="1"/>
          </p:cNvSpPr>
          <p:nvPr/>
        </p:nvSpPr>
        <p:spPr>
          <a:xfrm xmlns:a="http://schemas.openxmlformats.org/drawingml/2006/main">
            <a:off x="8439150" y="3314700"/>
            <a:ext cx="2876550" cy="9525"/>
          </a:xfrm>
          <a:prstGeom xmlns:a="http://schemas.openxmlformats.org/drawingml/2006/main" prst="line">
            <a:avLst/>
          </a:prstGeom>
          <a:noFill xmlns:a="http://schemas.openxmlformats.org/drawingml/2006/main"/>
          <a:ln xmlns:a="http://schemas.openxmlformats.org/drawingml/2006/main" w="9525">
            <a:solidFill>
              <a:srgbClr val="2BBBAD">
                <a:alpha val="28000"/>
              </a:srgbClr>
            </a:solidFill>
            <a:prstDash val="solid"/>
          </a:ln>
        </p:spPr>
      </p:sp>
      <p:sp>
        <p:nvSpPr>
          <p:cNvPr id="19" name="">
            <a:extLst xmlns:a="http://schemas.openxmlformats.org/drawingml/2006/main">
              <a:ext uri="{FF2B5EF4-FFF2-40B4-BE49-F238E27FC236}">
                <a16:creationId xmlns:a16="http://schemas.microsoft.com/office/drawing/2014/main" id="{13EB872C-7DC9-4886-80CC-C860A387C806}"/>
              </a:ext>
            </a:extLst>
          </p:cNvPr>
          <p:cNvSpPr>
            <a:spLocks xmlns:a="http://schemas.openxmlformats.org/drawingml/2006/main" noGrp="1"/>
          </p:cNvSpPr>
          <p:nvPr/>
        </p:nvSpPr>
        <p:spPr>
          <a:xfrm xmlns:a="http://schemas.openxmlformats.org/drawingml/2006/main">
            <a:off x="8458200" y="356235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3159C9"/>
                </a:solidFill>
                <a:latin typeface="Aptos"/>
                <a:ea typeface="Aptos"/>
                <a:cs typeface="Aptos"/>
              </a:defRPr>
            </a:pPr>
            <a:r>
              <a:rPr sz="1725" b="1">
                <a:solidFill>
                  <a:srgbClr val="3159C9"/>
                </a:solidFill>
                <a:latin typeface="Aptos"/>
                <a:ea typeface="Aptos"/>
                <a:cs typeface="Aptos"/>
              </a:rPr>
              <a:t>90.3%</a:t>
            </a:r>
          </a:p>
        </p:txBody>
      </p:sp>
      <p:sp>
        <p:nvSpPr>
          <p:cNvPr id="20" name="">
            <a:extLst xmlns:a="http://schemas.openxmlformats.org/drawingml/2006/main">
              <a:ext uri="{FF2B5EF4-FFF2-40B4-BE49-F238E27FC236}">
                <a16:creationId xmlns:a16="http://schemas.microsoft.com/office/drawing/2014/main" id="{FBA30145-CAE2-4030-8998-A22A2795C143}"/>
              </a:ext>
            </a:extLst>
          </p:cNvPr>
          <p:cNvSpPr>
            <a:spLocks xmlns:a="http://schemas.openxmlformats.org/drawingml/2006/main" noGrp="1"/>
          </p:cNvSpPr>
          <p:nvPr/>
        </p:nvSpPr>
        <p:spPr>
          <a:xfrm xmlns:a="http://schemas.openxmlformats.org/drawingml/2006/main">
            <a:off x="9639300" y="3581400"/>
            <a:ext cx="1676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14213D"/>
                </a:solidFill>
                <a:latin typeface="Aptos"/>
                <a:ea typeface="Aptos"/>
                <a:cs typeface="Aptos"/>
              </a:defRPr>
            </a:pPr>
            <a:r>
              <a:rPr sz="1125" b="0">
                <a:solidFill>
                  <a:srgbClr val="14213D"/>
                </a:solidFill>
                <a:latin typeface="Aptos"/>
                <a:ea typeface="Aptos"/>
                <a:cs typeface="Aptos"/>
              </a:rPr>
              <a:t>Base APY coverage</a:t>
            </a:r>
          </a:p>
        </p:txBody>
      </p:sp>
      <p:sp>
        <p:nvSpPr>
          <p:cNvPr id="21" name="">
            <a:extLst xmlns:a="http://schemas.openxmlformats.org/drawingml/2006/main">
              <a:ext uri="{FF2B5EF4-FFF2-40B4-BE49-F238E27FC236}">
                <a16:creationId xmlns:a16="http://schemas.microsoft.com/office/drawing/2014/main" id="{CE8F71F5-D139-498E-9C2D-64F8E5AC784A}"/>
              </a:ext>
            </a:extLst>
          </p:cNvPr>
          <p:cNvSpPr>
            <a:spLocks xmlns:a="http://schemas.openxmlformats.org/drawingml/2006/main" noGrp="1"/>
          </p:cNvSpPr>
          <p:nvPr/>
        </p:nvSpPr>
        <p:spPr>
          <a:xfrm xmlns:a="http://schemas.openxmlformats.org/drawingml/2006/main">
            <a:off x="8458200" y="41910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B52159"/>
                </a:solidFill>
                <a:latin typeface="Aptos"/>
                <a:ea typeface="Aptos"/>
                <a:cs typeface="Aptos"/>
              </a:defRPr>
            </a:pPr>
            <a:r>
              <a:rPr sz="1725" b="1">
                <a:solidFill>
                  <a:srgbClr val="B52159"/>
                </a:solidFill>
                <a:latin typeface="Aptos"/>
                <a:ea typeface="Aptos"/>
                <a:cs typeface="Aptos"/>
              </a:rPr>
              <a:t>61.6%</a:t>
            </a:r>
          </a:p>
        </p:txBody>
      </p:sp>
      <p:sp>
        <p:nvSpPr>
          <p:cNvPr id="22" name="">
            <a:extLst xmlns:a="http://schemas.openxmlformats.org/drawingml/2006/main">
              <a:ext uri="{FF2B5EF4-FFF2-40B4-BE49-F238E27FC236}">
                <a16:creationId xmlns:a16="http://schemas.microsoft.com/office/drawing/2014/main" id="{7B5460F8-4826-41EE-BFF8-1AB9B6E631F4}"/>
              </a:ext>
            </a:extLst>
          </p:cNvPr>
          <p:cNvSpPr>
            <a:spLocks xmlns:a="http://schemas.openxmlformats.org/drawingml/2006/main" noGrp="1"/>
          </p:cNvSpPr>
          <p:nvPr/>
        </p:nvSpPr>
        <p:spPr>
          <a:xfrm xmlns:a="http://schemas.openxmlformats.org/drawingml/2006/main">
            <a:off x="9639300" y="4210050"/>
            <a:ext cx="1676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14213D"/>
                </a:solidFill>
                <a:latin typeface="Aptos"/>
                <a:ea typeface="Aptos"/>
                <a:cs typeface="Aptos"/>
              </a:defRPr>
            </a:pPr>
            <a:r>
              <a:rPr sz="1125" b="0">
                <a:solidFill>
                  <a:srgbClr val="14213D"/>
                </a:solidFill>
                <a:latin typeface="Aptos"/>
                <a:ea typeface="Aptos"/>
                <a:cs typeface="Aptos"/>
              </a:rPr>
              <a:t>Reward APY coverage</a:t>
            </a:r>
          </a:p>
        </p:txBody>
      </p:sp>
      <p:sp>
        <p:nvSpPr>
          <p:cNvPr id="23" name="">
            <a:extLst xmlns:a="http://schemas.openxmlformats.org/drawingml/2006/main">
              <a:ext uri="{FF2B5EF4-FFF2-40B4-BE49-F238E27FC236}">
                <a16:creationId xmlns:a16="http://schemas.microsoft.com/office/drawing/2014/main" id="{CA6A0A72-0094-42AB-AFFD-6D0EB4FC22F7}"/>
              </a:ext>
            </a:extLst>
          </p:cNvPr>
          <p:cNvSpPr>
            <a:spLocks xmlns:a="http://schemas.openxmlformats.org/drawingml/2006/main" noGrp="1"/>
          </p:cNvSpPr>
          <p:nvPr/>
        </p:nvSpPr>
        <p:spPr>
          <a:xfrm xmlns:a="http://schemas.openxmlformats.org/drawingml/2006/main">
            <a:off x="8458200" y="4895850"/>
            <a:ext cx="28194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4213D"/>
                </a:solidFill>
                <a:latin typeface="Aptos"/>
                <a:ea typeface="Aptos"/>
                <a:cs typeface="Aptos"/>
              </a:defRPr>
            </a:pPr>
            <a:r>
              <a:rPr sz="1275" b="0">
                <a:solidFill>
                  <a:srgbClr val="14213D"/>
                </a:solidFill>
                <a:latin typeface="Aptos"/>
                <a:ea typeface="Aptos"/>
                <a:cs typeface="Aptos"/>
              </a:rPr>
              <a:t>Reward coverage varies by type: 15.9% to 91.9%. Missing values are excluded.</a:t>
            </a:r>
          </a:p>
        </p:txBody>
      </p:sp>
      <p:sp>
        <p:nvSpPr>
          <p:cNvPr id="24" name="">
            <a:extLst xmlns:a="http://schemas.openxmlformats.org/drawingml/2006/main">
              <a:ext uri="{FF2B5EF4-FFF2-40B4-BE49-F238E27FC236}">
                <a16:creationId xmlns:a16="http://schemas.microsoft.com/office/drawing/2014/main" id="{3A282852-B77A-4951-9FCE-201E07877B22}"/>
              </a:ext>
            </a:extLst>
          </p:cNvPr>
          <p:cNvSpPr>
            <a:spLocks xmlns:a="http://schemas.openxmlformats.org/drawingml/2006/main" noGrp="1"/>
          </p:cNvSpPr>
          <p:nvPr/>
        </p:nvSpPr>
        <p:spPr>
          <a:xfrm xmlns:a="http://schemas.openxmlformats.org/drawingml/2006/main">
            <a:off x="419100" y="598170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475467"/>
                </a:solidFill>
                <a:latin typeface="Aptos"/>
                <a:ea typeface="Aptos"/>
                <a:cs typeface="Aptos"/>
              </a:defRPr>
            </a:pPr>
            <a:r>
              <a:rPr sz="1050" b="0">
                <a:solidFill>
                  <a:srgbClr val="475467"/>
                </a:solidFill>
                <a:latin typeface="Aptos"/>
                <a:ea typeface="Aptos"/>
                <a:cs typeface="Aptos"/>
              </a:rPr>
              <a:t>Sources: DeFiLlama, CoinGecko and protocol documentation. Quoted APY differs from realized return.</a:t>
            </a:r>
          </a:p>
        </p:txBody>
      </p:sp>
    </p:spTree>
    <p:extLst>
      <p:ext uri="{BB962C8B-B14F-4D97-AF65-F5344CB8AC3E}">
        <p14:creationId xmlns:p14="http://schemas.microsoft.com/office/powerpoint/2010/main" val="247710326"/>
      </p:ext>
    </p:extLst>
  </p:cSld>
</p:sld>
</file>

<file path=ppt/slides/slide9.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C038F33A-0D74-4FBF-9877-74AF4F2661D9}"/>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F6B84B">
              <a:alpha val="13000"/>
            </a:srgbClr>
          </a:solidFill>
          <a:ln xmlns:a="http://schemas.openxmlformats.org/drawingml/2006/main" w="9525">
            <a:solidFill>
              <a:srgbClr val="F6B84B">
                <a:alpha val="22000"/>
              </a:srgbClr>
            </a:solidFill>
            <a:prstDash val="solid"/>
          </a:ln>
        </p:spPr>
      </p:sp>
      <p:sp>
        <p:nvSpPr>
          <p:cNvPr id="2" name="">
            <a:extLst xmlns:a="http://schemas.openxmlformats.org/drawingml/2006/main">
              <a:ext uri="{FF2B5EF4-FFF2-40B4-BE49-F238E27FC236}">
                <a16:creationId xmlns:a16="http://schemas.microsoft.com/office/drawing/2014/main" id="{3C6501F5-1E09-4773-AB8B-79C761DB5B3B}"/>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925900"/>
                </a:solidFill>
                <a:latin typeface="Aptos"/>
                <a:ea typeface="Aptos"/>
                <a:cs typeface="Aptos"/>
              </a:defRPr>
            </a:pPr>
            <a:r>
              <a:rPr sz="975" b="1">
                <a:solidFill>
                  <a:srgbClr val="925900"/>
                </a:solidFill>
                <a:latin typeface="Aptos"/>
                <a:ea typeface="Aptos"/>
                <a:cs typeface="Aptos"/>
              </a:rPr>
              <a:t>EVENT STUDY</a:t>
            </a:r>
          </a:p>
        </p:txBody>
      </p:sp>
      <p:sp>
        <p:nvSpPr>
          <p:cNvPr id="3" name="">
            <a:extLst xmlns:a="http://schemas.openxmlformats.org/drawingml/2006/main">
              <a:ext uri="{FF2B5EF4-FFF2-40B4-BE49-F238E27FC236}">
                <a16:creationId xmlns:a16="http://schemas.microsoft.com/office/drawing/2014/main" id="{D6E1C5F5-4E30-4053-B0A0-26BFF887E492}"/>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F6B84B"/>
          </a:solidFill>
          <a:ln xmlns:a="http://schemas.openxmlformats.org/drawingml/2006/main" w="9525">
            <a:solidFill>
              <a:srgbClr val="F6B84B">
                <a:alpha val="22000"/>
              </a:srgbClr>
            </a:solidFill>
            <a:prstDash val="solid"/>
          </a:ln>
        </p:spPr>
      </p:sp>
      <p:sp>
        <p:nvSpPr>
          <p:cNvPr id="4" name="">
            <a:extLst xmlns:a="http://schemas.openxmlformats.org/drawingml/2006/main">
              <a:ext uri="{FF2B5EF4-FFF2-40B4-BE49-F238E27FC236}">
                <a16:creationId xmlns:a16="http://schemas.microsoft.com/office/drawing/2014/main" id="{674F0EC2-730E-467C-9A70-C0F5C5854487}"/>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09</a:t>
            </a:r>
          </a:p>
        </p:txBody>
      </p:sp>
      <p:sp>
        <p:nvSpPr>
          <p:cNvPr id="5" name="">
            <a:extLst xmlns:a="http://schemas.openxmlformats.org/drawingml/2006/main">
              <a:ext uri="{FF2B5EF4-FFF2-40B4-BE49-F238E27FC236}">
                <a16:creationId xmlns:a16="http://schemas.microsoft.com/office/drawing/2014/main" id="{D196E3F4-0A41-4C8F-BE51-090A4B915AE1}"/>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475467"/>
                </a:solidFill>
                <a:latin typeface="Aptos"/>
                <a:ea typeface="Aptos"/>
                <a:cs typeface="Aptos"/>
              </a:defRPr>
            </a:pPr>
            <a:r>
              <a:rPr sz="825" b="1">
                <a:solidFill>
                  <a:srgbClr val="475467"/>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FA2EFE39-961C-4A73-B5B1-4AC2729A7375}"/>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84A6203A-8CF4-4256-9FA5-EF0969E66B49}"/>
              </a:ext>
            </a:extLst>
          </p:cNvPr>
          <p:cNvSpPr>
            <a:spLocks xmlns:a="http://schemas.openxmlformats.org/drawingml/2006/main" noGrp="1"/>
          </p:cNvSpPr>
          <p:nvPr/>
        </p:nvSpPr>
        <p:spPr>
          <a:xfrm xmlns:a="http://schemas.openxmlformats.org/drawingml/2006/main">
            <a:off x="8420100" y="6486525"/>
            <a:ext cx="1764926" cy="38100"/>
          </a:xfrm>
          <a:prstGeom xmlns:a="http://schemas.openxmlformats.org/drawingml/2006/main" prst="roundRect">
            <a:avLst>
              <a:gd name="adj" fmla="val 50000"/>
            </a:avLst>
          </a:prstGeom>
          <a:solidFill xmlns:a="http://schemas.openxmlformats.org/drawingml/2006/main">
            <a:srgbClr val="F6B84B"/>
          </a:solidFill>
          <a:ln xmlns:a="http://schemas.openxmlformats.org/drawingml/2006/main" w="0">
            <a:solidFill>
              <a:srgbClr val="F6B84B"/>
            </a:solidFill>
            <a:prstDash val="solid"/>
          </a:ln>
        </p:spPr>
      </p:sp>
      <p:sp>
        <p:nvSpPr>
          <p:cNvPr id="8" name="">
            <a:extLst xmlns:a="http://schemas.openxmlformats.org/drawingml/2006/main">
              <a:ext uri="{FF2B5EF4-FFF2-40B4-BE49-F238E27FC236}">
                <a16:creationId xmlns:a16="http://schemas.microsoft.com/office/drawing/2014/main" id="{08D8C0BD-7C53-401E-B9F6-E636E505CC61}"/>
              </a:ext>
            </a:extLst>
          </p:cNvPr>
          <p:cNvSpPr>
            <a:spLocks xmlns:a="http://schemas.openxmlformats.org/drawingml/2006/main" noGrp="1"/>
          </p:cNvSpPr>
          <p:nvPr/>
        </p:nvSpPr>
        <p:spPr>
          <a:xfrm xmlns:a="http://schemas.openxmlformats.org/drawingml/2006/main">
            <a:off x="419100" y="762000"/>
            <a:ext cx="971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4213D"/>
                </a:solidFill>
                <a:latin typeface="Aptos"/>
                <a:ea typeface="Aptos"/>
                <a:cs typeface="Aptos"/>
              </a:defRPr>
            </a:pPr>
            <a:r>
              <a:rPr sz="3000" b="1">
                <a:solidFill>
                  <a:srgbClr val="14213D"/>
                </a:solidFill>
                <a:latin typeface="Aptos"/>
                <a:ea typeface="Aptos"/>
                <a:cs typeface="Aptos"/>
              </a:rPr>
              <a:t>APY declines while observed TVL rises</a:t>
            </a:r>
          </a:p>
        </p:txBody>
      </p:sp>
      <p:sp>
        <p:nvSpPr>
          <p:cNvPr id="9" name="">
            <a:extLst xmlns:a="http://schemas.openxmlformats.org/drawingml/2006/main">
              <a:ext uri="{FF2B5EF4-FFF2-40B4-BE49-F238E27FC236}">
                <a16:creationId xmlns:a16="http://schemas.microsoft.com/office/drawing/2014/main" id="{2C5A92BA-5D7E-4B2A-9D95-9471E5766C7E}"/>
              </a:ext>
            </a:extLst>
          </p:cNvPr>
          <p:cNvSpPr>
            <a:spLocks xmlns:a="http://schemas.openxmlformats.org/drawingml/2006/main" noGrp="1"/>
          </p:cNvSpPr>
          <p:nvPr/>
        </p:nvSpPr>
        <p:spPr>
          <a:xfrm xmlns:a="http://schemas.openxmlformats.org/drawingml/2006/main">
            <a:off x="419100" y="1333500"/>
            <a:ext cx="876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475467"/>
                </a:solidFill>
                <a:latin typeface="Aptos"/>
                <a:ea typeface="Aptos"/>
                <a:cs typeface="Aptos"/>
              </a:defRPr>
            </a:pPr>
            <a:r>
              <a:rPr sz="1350" b="0">
                <a:solidFill>
                  <a:srgbClr val="475467"/>
                </a:solidFill>
                <a:latin typeface="Aptos"/>
                <a:ea typeface="Aptos"/>
                <a:cs typeface="Aptos"/>
              </a:rPr>
              <a:t>What happens after an observed APY jump?</a:t>
            </a:r>
          </a:p>
        </p:txBody>
      </p:sp>
      <p:sp>
        <p:nvSpPr>
          <p:cNvPr id="10" name="">
            <a:extLst xmlns:a="http://schemas.openxmlformats.org/drawingml/2006/main">
              <a:ext uri="{FF2B5EF4-FFF2-40B4-BE49-F238E27FC236}">
                <a16:creationId xmlns:a16="http://schemas.microsoft.com/office/drawing/2014/main" id="{208786E4-5C81-4658-B6EE-5EB0C605761A}"/>
              </a:ext>
            </a:extLst>
          </p:cNvPr>
          <p:cNvSpPr>
            <a:spLocks xmlns:a="http://schemas.openxmlformats.org/drawingml/2006/main" noGrp="1"/>
          </p:cNvSpPr>
          <p:nvPr/>
        </p:nvSpPr>
        <p:spPr>
          <a:xfrm xmlns:a="http://schemas.openxmlformats.org/drawingml/2006/main">
            <a:off x="419100" y="1771650"/>
            <a:ext cx="7696200" cy="18859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CE4F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E77D1770-EFB1-4F31-9870-381EDD5CD715}"/>
              </a:ext>
            </a:extLst>
          </p:cNvPr>
          <p:cNvSpPr>
            <a:spLocks xmlns:a="http://schemas.openxmlformats.org/drawingml/2006/main" noGrp="1"/>
          </p:cNvSpPr>
          <p:nvPr/>
        </p:nvSpPr>
        <p:spPr>
          <a:xfrm xmlns:a="http://schemas.openxmlformats.org/drawingml/2006/main">
            <a:off x="666750" y="1943100"/>
            <a:ext cx="161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4213D"/>
                </a:solidFill>
                <a:latin typeface="Aptos"/>
                <a:ea typeface="Aptos"/>
                <a:cs typeface="Aptos"/>
              </a:defRPr>
            </a:pPr>
            <a:r>
              <a:rPr sz="1575" b="1">
                <a:solidFill>
                  <a:srgbClr val="14213D"/>
                </a:solidFill>
                <a:latin typeface="Aptos"/>
                <a:ea typeface="Aptos"/>
                <a:cs typeface="Aptos"/>
              </a:rPr>
              <a:t>Median quoted</a:t>
            </a:r>
          </a:p>
          <a:p xmlns:a="http://schemas.openxmlformats.org/drawingml/2006/main">
            <a:pPr algn="l">
              <a:defRPr sz="1575" b="1">
                <a:solidFill>
                  <a:srgbClr val="14213D"/>
                </a:solidFill>
                <a:latin typeface="Aptos"/>
                <a:ea typeface="Aptos"/>
                <a:cs typeface="Aptos"/>
              </a:defRPr>
            </a:pPr>
            <a:r>
              <a:rPr sz="1575" b="1">
                <a:solidFill>
                  <a:srgbClr val="14213D"/>
                </a:solidFill>
                <a:latin typeface="Aptos"/>
                <a:ea typeface="Aptos"/>
                <a:cs typeface="Aptos"/>
              </a:rPr>
              <a:t>APY</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4ea410f4956a49bc"/>
          <a:stretch xmlns:a="http://schemas.openxmlformats.org/drawingml/2006/main"/>
        </p:blipFill>
        <p:spPr>
          <a:xfrm xmlns:a="http://schemas.openxmlformats.org/drawingml/2006/main">
            <a:off x="2524839" y="1885950"/>
            <a:ext cx="5161122" cy="1543050"/>
          </a:xfrm>
          <a:prstGeom xmlns:a="http://schemas.openxmlformats.org/drawingml/2006/main" prst="roundRect">
            <a:avLst>
              <a:gd name="adj" fmla="val 9877"/>
            </a:avLst>
          </a:prstGeom>
        </p:spPr>
      </p:pic>
      <p:sp>
        <p:nvSpPr>
          <p:cNvPr id="13" name="">
            <a:extLst xmlns:a="http://schemas.openxmlformats.org/drawingml/2006/main">
              <a:ext uri="{FF2B5EF4-FFF2-40B4-BE49-F238E27FC236}">
                <a16:creationId xmlns:a16="http://schemas.microsoft.com/office/drawing/2014/main" id="{5B428C02-0873-443F-A2A7-958F7918AFA1}"/>
              </a:ext>
            </a:extLst>
          </p:cNvPr>
          <p:cNvSpPr>
            <a:spLocks xmlns:a="http://schemas.openxmlformats.org/drawingml/2006/main" noGrp="1"/>
          </p:cNvSpPr>
          <p:nvPr/>
        </p:nvSpPr>
        <p:spPr>
          <a:xfrm xmlns:a="http://schemas.openxmlformats.org/drawingml/2006/main">
            <a:off x="419100" y="3848100"/>
            <a:ext cx="7696200" cy="19812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9525">
            <a:solidFill>
              <a:srgbClr val="DCE4F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E2A3F0EB-30F9-4685-90D8-2A05058C6EED}"/>
              </a:ext>
            </a:extLst>
          </p:cNvPr>
          <p:cNvSpPr>
            <a:spLocks xmlns:a="http://schemas.openxmlformats.org/drawingml/2006/main" noGrp="1"/>
          </p:cNvSpPr>
          <p:nvPr/>
        </p:nvSpPr>
        <p:spPr>
          <a:xfrm xmlns:a="http://schemas.openxmlformats.org/drawingml/2006/main">
            <a:off x="666750" y="4038600"/>
            <a:ext cx="161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4213D"/>
                </a:solidFill>
                <a:latin typeface="Aptos"/>
                <a:ea typeface="Aptos"/>
                <a:cs typeface="Aptos"/>
              </a:defRPr>
            </a:pPr>
            <a:r>
              <a:rPr sz="1575" b="1">
                <a:solidFill>
                  <a:srgbClr val="14213D"/>
                </a:solidFill>
                <a:latin typeface="Aptos"/>
                <a:ea typeface="Aptos"/>
                <a:cs typeface="Aptos"/>
              </a:rPr>
              <a:t>Median normalized</a:t>
            </a:r>
          </a:p>
          <a:p xmlns:a="http://schemas.openxmlformats.org/drawingml/2006/main">
            <a:pPr algn="l">
              <a:defRPr sz="1575" b="1">
                <a:solidFill>
                  <a:srgbClr val="14213D"/>
                </a:solidFill>
                <a:latin typeface="Aptos"/>
                <a:ea typeface="Aptos"/>
                <a:cs typeface="Aptos"/>
              </a:defRPr>
            </a:pPr>
            <a:r>
              <a:rPr sz="1575" b="1">
                <a:solidFill>
                  <a:srgbClr val="14213D"/>
                </a:solidFill>
                <a:latin typeface="Aptos"/>
                <a:ea typeface="Aptos"/>
                <a:cs typeface="Aptos"/>
              </a:rPr>
              <a:t>TVL</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e2a49f7ec98d452d"/>
          <a:stretch xmlns:a="http://schemas.openxmlformats.org/drawingml/2006/main"/>
        </p:blipFill>
        <p:spPr>
          <a:xfrm xmlns:a="http://schemas.openxmlformats.org/drawingml/2006/main">
            <a:off x="2400300" y="3963266"/>
            <a:ext cx="5410200" cy="1617518"/>
          </a:xfrm>
          <a:prstGeom xmlns:a="http://schemas.openxmlformats.org/drawingml/2006/main" prst="roundRect">
            <a:avLst>
              <a:gd name="adj" fmla="val 9412"/>
            </a:avLst>
          </a:prstGeom>
        </p:spPr>
      </p:pic>
      <p:sp>
        <p:nvSpPr>
          <p:cNvPr id="16" name="">
            <a:extLst xmlns:a="http://schemas.openxmlformats.org/drawingml/2006/main">
              <a:ext uri="{FF2B5EF4-FFF2-40B4-BE49-F238E27FC236}">
                <a16:creationId xmlns:a16="http://schemas.microsoft.com/office/drawing/2014/main" id="{8CF06A48-9DD3-4FE3-9905-7DA499C35C99}"/>
              </a:ext>
            </a:extLst>
          </p:cNvPr>
          <p:cNvSpPr>
            <a:spLocks xmlns:a="http://schemas.openxmlformats.org/drawingml/2006/main" noGrp="1"/>
          </p:cNvSpPr>
          <p:nvPr/>
        </p:nvSpPr>
        <p:spPr>
          <a:xfrm xmlns:a="http://schemas.openxmlformats.org/drawingml/2006/main">
            <a:off x="8382000" y="1771650"/>
            <a:ext cx="3371850" cy="4057650"/>
          </a:xfrm>
          <a:prstGeom xmlns:a="http://schemas.openxmlformats.org/drawingml/2006/main" prst="roundRect">
            <a:avLst>
              <a:gd name="adj" fmla="val 7345"/>
            </a:avLst>
          </a:prstGeom>
          <a:gradFill xmlns:a="http://schemas.openxmlformats.org/drawingml/2006/main">
            <a:gsLst>
              <a:gs pos="0">
                <a:srgbClr val="F6B84B">
                  <a:alpha val="20000"/>
                </a:srgbClr>
              </a:gs>
              <a:gs pos="80000">
                <a:srgbClr val="FFFFFF"/>
              </a:gs>
            </a:gsLst>
            <a:lin ang="8700000"/>
          </a:gradFill>
          <a:ln xmlns:a="http://schemas.openxmlformats.org/drawingml/2006/main" w="9525">
            <a:solidFill>
              <a:srgbClr val="F6B84B">
                <a:alpha val="3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B957E35A-5054-4B91-8E9F-19BCDA6A51B9}"/>
              </a:ext>
            </a:extLst>
          </p:cNvPr>
          <p:cNvSpPr>
            <a:spLocks xmlns:a="http://schemas.openxmlformats.org/drawingml/2006/main" noGrp="1"/>
          </p:cNvSpPr>
          <p:nvPr/>
        </p:nvSpPr>
        <p:spPr>
          <a:xfrm xmlns:a="http://schemas.openxmlformats.org/drawingml/2006/main">
            <a:off x="8629650" y="2000250"/>
            <a:ext cx="1676400" cy="304800"/>
          </a:xfrm>
          <a:prstGeom xmlns:a="http://schemas.openxmlformats.org/drawingml/2006/main" prst="roundRect">
            <a:avLst>
              <a:gd name="adj" fmla="val 50000"/>
            </a:avLst>
          </a:prstGeom>
          <a:solidFill xmlns:a="http://schemas.openxmlformats.org/drawingml/2006/main">
            <a:srgbClr val="F6B84B">
              <a:alpha val="18000"/>
            </a:srgbClr>
          </a:solidFill>
          <a:ln xmlns:a="http://schemas.openxmlformats.org/drawingml/2006/main" w="9525">
            <a:solidFill>
              <a:srgbClr val="F6B84B">
                <a:alpha val="22000"/>
              </a:srgbClr>
            </a:solidFill>
            <a:prstDash val="solid"/>
          </a:ln>
        </p:spPr>
      </p:sp>
      <p:sp>
        <p:nvSpPr>
          <p:cNvPr id="18" name="">
            <a:extLst xmlns:a="http://schemas.openxmlformats.org/drawingml/2006/main">
              <a:ext uri="{FF2B5EF4-FFF2-40B4-BE49-F238E27FC236}">
                <a16:creationId xmlns:a16="http://schemas.microsoft.com/office/drawing/2014/main" id="{615AEA7B-62B4-4065-9CA0-6C9D128360F7}"/>
              </a:ext>
            </a:extLst>
          </p:cNvPr>
          <p:cNvSpPr>
            <a:spLocks xmlns:a="http://schemas.openxmlformats.org/drawingml/2006/main" noGrp="1"/>
          </p:cNvSpPr>
          <p:nvPr/>
        </p:nvSpPr>
        <p:spPr>
          <a:xfrm xmlns:a="http://schemas.openxmlformats.org/drawingml/2006/main">
            <a:off x="8743950" y="2009775"/>
            <a:ext cx="1447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A76500"/>
                </a:solidFill>
                <a:latin typeface="Aptos"/>
                <a:ea typeface="Aptos"/>
                <a:cs typeface="Aptos"/>
              </a:defRPr>
            </a:pPr>
            <a:r>
              <a:rPr sz="975" b="1">
                <a:solidFill>
                  <a:srgbClr val="A76500"/>
                </a:solidFill>
                <a:latin typeface="Aptos"/>
                <a:ea typeface="Aptos"/>
                <a:cs typeface="Aptos"/>
              </a:rPr>
              <a:t>OBSERVED RESULT</a:t>
            </a:r>
          </a:p>
        </p:txBody>
      </p:sp>
      <p:sp>
        <p:nvSpPr>
          <p:cNvPr id="19" name="">
            <a:extLst xmlns:a="http://schemas.openxmlformats.org/drawingml/2006/main">
              <a:ext uri="{FF2B5EF4-FFF2-40B4-BE49-F238E27FC236}">
                <a16:creationId xmlns:a16="http://schemas.microsoft.com/office/drawing/2014/main" id="{77130229-0B0D-48D4-81D5-DDCB12834207}"/>
              </a:ext>
            </a:extLst>
          </p:cNvPr>
          <p:cNvSpPr>
            <a:spLocks xmlns:a="http://schemas.openxmlformats.org/drawingml/2006/main" noGrp="1"/>
          </p:cNvSpPr>
          <p:nvPr/>
        </p:nvSpPr>
        <p:spPr>
          <a:xfrm xmlns:a="http://schemas.openxmlformats.org/drawingml/2006/main">
            <a:off x="8629650" y="2533650"/>
            <a:ext cx="2724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4213D"/>
                </a:solidFill>
                <a:latin typeface="Aptos"/>
                <a:ea typeface="Aptos"/>
                <a:cs typeface="Aptos"/>
              </a:defRPr>
            </a:pPr>
            <a:r>
              <a:rPr sz="2025" b="1">
                <a:solidFill>
                  <a:srgbClr val="14213D"/>
                </a:solidFill>
                <a:latin typeface="Aptos"/>
                <a:ea typeface="Aptos"/>
                <a:cs typeface="Aptos"/>
              </a:rPr>
              <a:t>18.09% to 8.24%</a:t>
            </a:r>
          </a:p>
        </p:txBody>
      </p:sp>
      <p:sp>
        <p:nvSpPr>
          <p:cNvPr id="20" name="">
            <a:extLst xmlns:a="http://schemas.openxmlformats.org/drawingml/2006/main">
              <a:ext uri="{FF2B5EF4-FFF2-40B4-BE49-F238E27FC236}">
                <a16:creationId xmlns:a16="http://schemas.microsoft.com/office/drawing/2014/main" id="{20F8D848-FFD8-47EB-80AA-A26063E7D975}"/>
              </a:ext>
            </a:extLst>
          </p:cNvPr>
          <p:cNvSpPr>
            <a:spLocks xmlns:a="http://schemas.openxmlformats.org/drawingml/2006/main" noGrp="1"/>
          </p:cNvSpPr>
          <p:nvPr/>
        </p:nvSpPr>
        <p:spPr>
          <a:xfrm xmlns:a="http://schemas.openxmlformats.org/drawingml/2006/main">
            <a:off x="8629650" y="3028950"/>
            <a:ext cx="2705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475467"/>
                </a:solidFill>
                <a:latin typeface="Aptos"/>
                <a:ea typeface="Aptos"/>
                <a:cs typeface="Aptos"/>
              </a:defRPr>
            </a:pPr>
            <a:r>
              <a:rPr sz="1200" b="0">
                <a:solidFill>
                  <a:srgbClr val="475467"/>
                </a:solidFill>
                <a:latin typeface="Aptos"/>
                <a:ea typeface="Aptos"/>
                <a:cs typeface="Aptos"/>
              </a:rPr>
              <a:t>Median APY from event day to day 30</a:t>
            </a:r>
          </a:p>
        </p:txBody>
      </p:sp>
      <p:sp>
        <p:nvSpPr>
          <p:cNvPr id="21" name="">
            <a:extLst xmlns:a="http://schemas.openxmlformats.org/drawingml/2006/main">
              <a:ext uri="{FF2B5EF4-FFF2-40B4-BE49-F238E27FC236}">
                <a16:creationId xmlns:a16="http://schemas.microsoft.com/office/drawing/2014/main" id="{EFEA6E80-8E48-476B-B41E-44DE606CFAF5}"/>
              </a:ext>
            </a:extLst>
          </p:cNvPr>
          <p:cNvSpPr>
            <a:spLocks xmlns:a="http://schemas.openxmlformats.org/drawingml/2006/main" noGrp="1"/>
          </p:cNvSpPr>
          <p:nvPr/>
        </p:nvSpPr>
        <p:spPr>
          <a:xfrm xmlns:a="http://schemas.openxmlformats.org/drawingml/2006/main">
            <a:off x="8629650" y="3638550"/>
            <a:ext cx="2686050" cy="9525"/>
          </a:xfrm>
          <a:prstGeom xmlns:a="http://schemas.openxmlformats.org/drawingml/2006/main" prst="line">
            <a:avLst/>
          </a:prstGeom>
          <a:noFill xmlns:a="http://schemas.openxmlformats.org/drawingml/2006/main"/>
          <a:ln xmlns:a="http://schemas.openxmlformats.org/drawingml/2006/main" w="9525">
            <a:solidFill>
              <a:srgbClr val="F6B84B">
                <a:alpha val="32000"/>
              </a:srgbClr>
            </a:solidFill>
            <a:prstDash val="solid"/>
          </a:ln>
        </p:spPr>
      </p:sp>
      <p:sp>
        <p:nvSpPr>
          <p:cNvPr id="22" name="">
            <a:extLst xmlns:a="http://schemas.openxmlformats.org/drawingml/2006/main">
              <a:ext uri="{FF2B5EF4-FFF2-40B4-BE49-F238E27FC236}">
                <a16:creationId xmlns:a16="http://schemas.microsoft.com/office/drawing/2014/main" id="{3D45AC17-98E5-428E-BFC6-6E94979F095A}"/>
              </a:ext>
            </a:extLst>
          </p:cNvPr>
          <p:cNvSpPr>
            <a:spLocks xmlns:a="http://schemas.openxmlformats.org/drawingml/2006/main" noGrp="1"/>
          </p:cNvSpPr>
          <p:nvPr/>
        </p:nvSpPr>
        <p:spPr>
          <a:xfrm xmlns:a="http://schemas.openxmlformats.org/drawingml/2006/main">
            <a:off x="8648700" y="371475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925900"/>
                </a:solidFill>
                <a:latin typeface="Aptos"/>
                <a:ea typeface="Aptos"/>
                <a:cs typeface="Aptos"/>
              </a:defRPr>
            </a:pPr>
            <a:r>
              <a:rPr sz="1725" b="1">
                <a:solidFill>
                  <a:srgbClr val="925900"/>
                </a:solidFill>
                <a:latin typeface="Aptos"/>
                <a:ea typeface="Aptos"/>
                <a:cs typeface="Aptos"/>
              </a:rPr>
              <a:t>450</a:t>
            </a:r>
          </a:p>
        </p:txBody>
      </p:sp>
      <p:sp>
        <p:nvSpPr>
          <p:cNvPr id="23" name="">
            <a:extLst xmlns:a="http://schemas.openxmlformats.org/drawingml/2006/main">
              <a:ext uri="{FF2B5EF4-FFF2-40B4-BE49-F238E27FC236}">
                <a16:creationId xmlns:a16="http://schemas.microsoft.com/office/drawing/2014/main" id="{75909D29-CB48-438E-99BE-5226EAD92418}"/>
              </a:ext>
            </a:extLst>
          </p:cNvPr>
          <p:cNvSpPr>
            <a:spLocks xmlns:a="http://schemas.openxmlformats.org/drawingml/2006/main" noGrp="1"/>
          </p:cNvSpPr>
          <p:nvPr/>
        </p:nvSpPr>
        <p:spPr>
          <a:xfrm xmlns:a="http://schemas.openxmlformats.org/drawingml/2006/main">
            <a:off x="9829800" y="3733800"/>
            <a:ext cx="1676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14213D"/>
                </a:solidFill>
                <a:latin typeface="Aptos"/>
                <a:ea typeface="Aptos"/>
                <a:cs typeface="Aptos"/>
              </a:defRPr>
            </a:pPr>
            <a:r>
              <a:rPr sz="1125" b="0">
                <a:solidFill>
                  <a:srgbClr val="14213D"/>
                </a:solidFill>
                <a:latin typeface="Aptos"/>
                <a:ea typeface="Aptos"/>
                <a:cs typeface="Aptos"/>
              </a:rPr>
              <a:t>Events at day 0</a:t>
            </a:r>
          </a:p>
        </p:txBody>
      </p:sp>
      <p:sp>
        <p:nvSpPr>
          <p:cNvPr id="24" name="">
            <a:extLst xmlns:a="http://schemas.openxmlformats.org/drawingml/2006/main">
              <a:ext uri="{FF2B5EF4-FFF2-40B4-BE49-F238E27FC236}">
                <a16:creationId xmlns:a16="http://schemas.microsoft.com/office/drawing/2014/main" id="{9A2CD800-C6C9-427F-BA3B-A853FB204B94}"/>
              </a:ext>
            </a:extLst>
          </p:cNvPr>
          <p:cNvSpPr>
            <a:spLocks xmlns:a="http://schemas.openxmlformats.org/drawingml/2006/main" noGrp="1"/>
          </p:cNvSpPr>
          <p:nvPr/>
        </p:nvSpPr>
        <p:spPr>
          <a:xfrm xmlns:a="http://schemas.openxmlformats.org/drawingml/2006/main">
            <a:off x="8648700" y="4276725"/>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08796F"/>
                </a:solidFill>
                <a:latin typeface="Aptos"/>
                <a:ea typeface="Aptos"/>
                <a:cs typeface="Aptos"/>
              </a:defRPr>
            </a:pPr>
            <a:r>
              <a:rPr sz="1725" b="1">
                <a:solidFill>
                  <a:srgbClr val="08796F"/>
                </a:solidFill>
                <a:latin typeface="Aptos"/>
                <a:ea typeface="Aptos"/>
                <a:cs typeface="Aptos"/>
              </a:rPr>
              <a:t>1.69x</a:t>
            </a:r>
          </a:p>
        </p:txBody>
      </p:sp>
      <p:sp>
        <p:nvSpPr>
          <p:cNvPr id="25" name="">
            <a:extLst xmlns:a="http://schemas.openxmlformats.org/drawingml/2006/main">
              <a:ext uri="{FF2B5EF4-FFF2-40B4-BE49-F238E27FC236}">
                <a16:creationId xmlns:a16="http://schemas.microsoft.com/office/drawing/2014/main" id="{347DD8CE-027F-41F3-8349-D60EF3985E19}"/>
              </a:ext>
            </a:extLst>
          </p:cNvPr>
          <p:cNvSpPr>
            <a:spLocks xmlns:a="http://schemas.openxmlformats.org/drawingml/2006/main" noGrp="1"/>
          </p:cNvSpPr>
          <p:nvPr/>
        </p:nvSpPr>
        <p:spPr>
          <a:xfrm xmlns:a="http://schemas.openxmlformats.org/drawingml/2006/main">
            <a:off x="9829800" y="4295775"/>
            <a:ext cx="1676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14213D"/>
                </a:solidFill>
                <a:latin typeface="Aptos"/>
                <a:ea typeface="Aptos"/>
                <a:cs typeface="Aptos"/>
              </a:defRPr>
            </a:pPr>
            <a:r>
              <a:rPr sz="1125" b="0">
                <a:solidFill>
                  <a:srgbClr val="14213D"/>
                </a:solidFill>
                <a:latin typeface="Aptos"/>
                <a:ea typeface="Aptos"/>
                <a:cs typeface="Aptos"/>
              </a:rPr>
              <a:t>Median TVL / day-0 TVL at day 30</a:t>
            </a:r>
          </a:p>
        </p:txBody>
      </p:sp>
      <p:sp>
        <p:nvSpPr>
          <p:cNvPr id="26" name="">
            <a:extLst xmlns:a="http://schemas.openxmlformats.org/drawingml/2006/main">
              <a:ext uri="{FF2B5EF4-FFF2-40B4-BE49-F238E27FC236}">
                <a16:creationId xmlns:a16="http://schemas.microsoft.com/office/drawing/2014/main" id="{E465523E-706D-4F38-BBD4-FC67EDE2AAE0}"/>
              </a:ext>
            </a:extLst>
          </p:cNvPr>
          <p:cNvSpPr>
            <a:spLocks xmlns:a="http://schemas.openxmlformats.org/drawingml/2006/main" noGrp="1"/>
          </p:cNvSpPr>
          <p:nvPr/>
        </p:nvSpPr>
        <p:spPr>
          <a:xfrm xmlns:a="http://schemas.openxmlformats.org/drawingml/2006/main">
            <a:off x="8648700" y="4933950"/>
            <a:ext cx="26479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4213D"/>
                </a:solidFill>
                <a:latin typeface="Aptos"/>
                <a:ea typeface="Aptos"/>
                <a:cs typeface="Aptos"/>
              </a:defRPr>
            </a:pPr>
            <a:r>
              <a:rPr sz="1200" b="1">
                <a:solidFill>
                  <a:srgbClr val="14213D"/>
                </a:solidFill>
                <a:latin typeface="Aptos"/>
                <a:ea typeface="Aptos"/>
                <a:cs typeface="Aptos"/>
              </a:rPr>
              <a:t>Same-event check (n=439): APY 17.96% to 8.24%, TVL 1.69x. Descriptive, non-causal.</a:t>
            </a:r>
          </a:p>
        </p:txBody>
      </p:sp>
      <p:sp>
        <p:nvSpPr>
          <p:cNvPr id="27" name="">
            <a:extLst xmlns:a="http://schemas.openxmlformats.org/drawingml/2006/main">
              <a:ext uri="{FF2B5EF4-FFF2-40B4-BE49-F238E27FC236}">
                <a16:creationId xmlns:a16="http://schemas.microsoft.com/office/drawing/2014/main" id="{F45AFC8F-6FCC-4120-B92A-B0F999CBC94F}"/>
              </a:ext>
            </a:extLst>
          </p:cNvPr>
          <p:cNvSpPr>
            <a:spLocks xmlns:a="http://schemas.openxmlformats.org/drawingml/2006/main" noGrp="1"/>
          </p:cNvSpPr>
          <p:nvPr/>
        </p:nvSpPr>
        <p:spPr>
          <a:xfrm xmlns:a="http://schemas.openxmlformats.org/drawingml/2006/main">
            <a:off x="419100" y="5981700"/>
            <a:ext cx="1133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475467"/>
                </a:solidFill>
                <a:latin typeface="Aptos"/>
                <a:ea typeface="Aptos"/>
                <a:cs typeface="Aptos"/>
              </a:defRPr>
            </a:pPr>
            <a:r>
              <a:rPr sz="1125" b="0">
                <a:solidFill>
                  <a:srgbClr val="475467"/>
                </a:solidFill>
                <a:latin typeface="Aptos"/>
                <a:ea typeface="Aptos"/>
                <a:cs typeface="Aptos"/>
              </a:rPr>
              <a:t>Source: DeFiLlama. Consecutive-day jumps only. Events: 394 at -7d, 450 at 0d, 439 at +30d. Composition varies by day.</a:t>
            </a:r>
          </a:p>
        </p:txBody>
      </p:sp>
    </p:spTree>
    <p:extLst>
      <p:ext uri="{BB962C8B-B14F-4D97-AF65-F5344CB8AC3E}">
        <p14:creationId xmlns:p14="http://schemas.microsoft.com/office/powerpoint/2010/main" val="1188507100"/>
      </p:ext>
    </p:extLst>
  </p:cSld>
</p:sld>
</file>

<file path=ppt/slides/slide10.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5DB70AE2-2F7B-409A-A721-F9BE7D2A307B}"/>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FF6B9D">
              <a:alpha val="13000"/>
            </a:srgbClr>
          </a:solidFill>
          <a:ln xmlns:a="http://schemas.openxmlformats.org/drawingml/2006/main" w="9525">
            <a:solidFill>
              <a:srgbClr val="FF6B9D">
                <a:alpha val="22000"/>
              </a:srgbClr>
            </a:solidFill>
            <a:prstDash val="solid"/>
          </a:ln>
        </p:spPr>
      </p:sp>
      <p:sp>
        <p:nvSpPr>
          <p:cNvPr id="2" name="">
            <a:extLst xmlns:a="http://schemas.openxmlformats.org/drawingml/2006/main">
              <a:ext uri="{FF2B5EF4-FFF2-40B4-BE49-F238E27FC236}">
                <a16:creationId xmlns:a16="http://schemas.microsoft.com/office/drawing/2014/main" id="{9559E841-C36D-4659-A69C-1D7A5EEFD1C7}"/>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B52159"/>
                </a:solidFill>
                <a:latin typeface="Aptos"/>
                <a:ea typeface="Aptos"/>
                <a:cs typeface="Aptos"/>
              </a:defRPr>
            </a:pPr>
            <a:r>
              <a:rPr sz="975" b="1">
                <a:solidFill>
                  <a:srgbClr val="B52159"/>
                </a:solidFill>
                <a:latin typeface="Aptos"/>
                <a:ea typeface="Aptos"/>
                <a:cs typeface="Aptos"/>
              </a:rPr>
              <a:t>PEG STRESS</a:t>
            </a:r>
          </a:p>
        </p:txBody>
      </p:sp>
      <p:sp>
        <p:nvSpPr>
          <p:cNvPr id="3" name="">
            <a:extLst xmlns:a="http://schemas.openxmlformats.org/drawingml/2006/main">
              <a:ext uri="{FF2B5EF4-FFF2-40B4-BE49-F238E27FC236}">
                <a16:creationId xmlns:a16="http://schemas.microsoft.com/office/drawing/2014/main" id="{BC067BFF-27B5-4076-A15A-E8531B608AD9}"/>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9525">
            <a:solidFill>
              <a:srgbClr val="FF6B9D">
                <a:alpha val="22000"/>
              </a:srgbClr>
            </a:solidFill>
            <a:prstDash val="solid"/>
          </a:ln>
        </p:spPr>
      </p:sp>
      <p:sp>
        <p:nvSpPr>
          <p:cNvPr id="4" name="">
            <a:extLst xmlns:a="http://schemas.openxmlformats.org/drawingml/2006/main">
              <a:ext uri="{FF2B5EF4-FFF2-40B4-BE49-F238E27FC236}">
                <a16:creationId xmlns:a16="http://schemas.microsoft.com/office/drawing/2014/main" id="{C94EA0F8-364C-4873-9937-F24B9F9A0AF1}"/>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10</a:t>
            </a:r>
          </a:p>
        </p:txBody>
      </p:sp>
      <p:sp>
        <p:nvSpPr>
          <p:cNvPr id="5" name="">
            <a:extLst xmlns:a="http://schemas.openxmlformats.org/drawingml/2006/main">
              <a:ext uri="{FF2B5EF4-FFF2-40B4-BE49-F238E27FC236}">
                <a16:creationId xmlns:a16="http://schemas.microsoft.com/office/drawing/2014/main" id="{6F729CB1-3D33-4DBA-A10E-1EB40A3DF811}"/>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475467"/>
                </a:solidFill>
                <a:latin typeface="Aptos"/>
                <a:ea typeface="Aptos"/>
                <a:cs typeface="Aptos"/>
              </a:defRPr>
            </a:pPr>
            <a:r>
              <a:rPr sz="825" b="1">
                <a:solidFill>
                  <a:srgbClr val="475467"/>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41E5F084-180E-403F-AA89-0A29A749E228}"/>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1C7853E0-74B0-4D37-8B79-9997F2DCCDEB}"/>
              </a:ext>
            </a:extLst>
          </p:cNvPr>
          <p:cNvSpPr>
            <a:spLocks xmlns:a="http://schemas.openxmlformats.org/drawingml/2006/main" noGrp="1"/>
          </p:cNvSpPr>
          <p:nvPr/>
        </p:nvSpPr>
        <p:spPr>
          <a:xfrm xmlns:a="http://schemas.openxmlformats.org/drawingml/2006/main">
            <a:off x="8420100" y="6486525"/>
            <a:ext cx="1961029" cy="3810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0">
            <a:solidFill>
              <a:srgbClr val="FF6B9D"/>
            </a:solidFill>
            <a:prstDash val="solid"/>
          </a:ln>
        </p:spPr>
      </p:sp>
      <p:sp>
        <p:nvSpPr>
          <p:cNvPr id="8" name="">
            <a:extLst xmlns:a="http://schemas.openxmlformats.org/drawingml/2006/main">
              <a:ext uri="{FF2B5EF4-FFF2-40B4-BE49-F238E27FC236}">
                <a16:creationId xmlns:a16="http://schemas.microsoft.com/office/drawing/2014/main" id="{B4CD856E-45BA-4828-B994-1CB9E42AF322}"/>
              </a:ext>
            </a:extLst>
          </p:cNvPr>
          <p:cNvSpPr>
            <a:spLocks xmlns:a="http://schemas.openxmlformats.org/drawingml/2006/main" noGrp="1"/>
          </p:cNvSpPr>
          <p:nvPr/>
        </p:nvSpPr>
        <p:spPr>
          <a:xfrm xmlns:a="http://schemas.openxmlformats.org/drawingml/2006/main">
            <a:off x="419100" y="76200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4213D"/>
                </a:solidFill>
                <a:latin typeface="Aptos"/>
                <a:ea typeface="Aptos"/>
                <a:cs typeface="Aptos"/>
              </a:defRPr>
            </a:pPr>
            <a:r>
              <a:rPr sz="3000" b="1">
                <a:solidFill>
                  <a:srgbClr val="14213D"/>
                </a:solidFill>
                <a:latin typeface="Aptos"/>
                <a:ea typeface="Aptos"/>
                <a:cs typeface="Aptos"/>
              </a:rPr>
              <a:t>Peg stress changes the denominator behind yield</a:t>
            </a:r>
          </a:p>
        </p:txBody>
      </p:sp>
      <p:sp>
        <p:nvSpPr>
          <p:cNvPr id="9" name="">
            <a:extLst xmlns:a="http://schemas.openxmlformats.org/drawingml/2006/main">
              <a:ext uri="{FF2B5EF4-FFF2-40B4-BE49-F238E27FC236}">
                <a16:creationId xmlns:a16="http://schemas.microsoft.com/office/drawing/2014/main" id="{ED42580A-53CD-423C-8572-4F6B47A14417}"/>
              </a:ext>
            </a:extLst>
          </p:cNvPr>
          <p:cNvSpPr>
            <a:spLocks xmlns:a="http://schemas.openxmlformats.org/drawingml/2006/main" noGrp="1"/>
          </p:cNvSpPr>
          <p:nvPr/>
        </p:nvSpPr>
        <p:spPr>
          <a:xfrm xmlns:a="http://schemas.openxmlformats.org/drawingml/2006/main">
            <a:off x="419100" y="13335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475467"/>
                </a:solidFill>
                <a:latin typeface="Aptos"/>
                <a:ea typeface="Aptos"/>
                <a:cs typeface="Aptos"/>
              </a:defRPr>
            </a:pPr>
            <a:r>
              <a:rPr sz="1350" b="0">
                <a:solidFill>
                  <a:srgbClr val="475467"/>
                </a:solidFill>
                <a:latin typeface="Aptos"/>
                <a:ea typeface="Aptos"/>
                <a:cs typeface="Aptos"/>
              </a:rPr>
              <a:t>What changed during the March 2023 USDC depeg?</a:t>
            </a:r>
          </a:p>
        </p:txBody>
      </p:sp>
      <p:sp>
        <p:nvSpPr>
          <p:cNvPr id="10" name="">
            <a:extLst xmlns:a="http://schemas.openxmlformats.org/drawingml/2006/main">
              <a:ext uri="{FF2B5EF4-FFF2-40B4-BE49-F238E27FC236}">
                <a16:creationId xmlns:a16="http://schemas.microsoft.com/office/drawing/2014/main" id="{37C6D5F2-B84D-40A6-B9B0-A17B4D097643}"/>
              </a:ext>
            </a:extLst>
          </p:cNvPr>
          <p:cNvSpPr>
            <a:spLocks xmlns:a="http://schemas.openxmlformats.org/drawingml/2006/main" noGrp="1"/>
          </p:cNvSpPr>
          <p:nvPr/>
        </p:nvSpPr>
        <p:spPr>
          <a:xfrm xmlns:a="http://schemas.openxmlformats.org/drawingml/2006/main">
            <a:off x="419100" y="1771650"/>
            <a:ext cx="7696200" cy="18859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9525">
            <a:solidFill>
              <a:srgbClr val="DCE4F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458EEF1C-C04C-43A5-B693-DCD46FBBB4E7}"/>
              </a:ext>
            </a:extLst>
          </p:cNvPr>
          <p:cNvSpPr>
            <a:spLocks xmlns:a="http://schemas.openxmlformats.org/drawingml/2006/main" noGrp="1"/>
          </p:cNvSpPr>
          <p:nvPr/>
        </p:nvSpPr>
        <p:spPr>
          <a:xfrm xmlns:a="http://schemas.openxmlformats.org/drawingml/2006/main">
            <a:off x="666750" y="1943100"/>
            <a:ext cx="1619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4213D"/>
                </a:solidFill>
                <a:latin typeface="Aptos"/>
                <a:ea typeface="Aptos"/>
                <a:cs typeface="Aptos"/>
              </a:defRPr>
            </a:pPr>
            <a:r>
              <a:rPr sz="1575" b="1">
                <a:solidFill>
                  <a:srgbClr val="14213D"/>
                </a:solidFill>
                <a:latin typeface="Aptos"/>
                <a:ea typeface="Aptos"/>
                <a:cs typeface="Aptos"/>
              </a:rPr>
              <a:t>USDC price</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ce78693807524eb5"/>
          <a:stretch xmlns:a="http://schemas.openxmlformats.org/drawingml/2006/main"/>
        </p:blipFill>
        <p:spPr>
          <a:xfrm xmlns:a="http://schemas.openxmlformats.org/drawingml/2006/main">
            <a:off x="2524839" y="1885950"/>
            <a:ext cx="5161122" cy="1543050"/>
          </a:xfrm>
          <a:prstGeom xmlns:a="http://schemas.openxmlformats.org/drawingml/2006/main" prst="roundRect">
            <a:avLst>
              <a:gd name="adj" fmla="val 9877"/>
            </a:avLst>
          </a:prstGeom>
        </p:spPr>
      </p:pic>
      <p:sp>
        <p:nvSpPr>
          <p:cNvPr id="13" name="">
            <a:extLst xmlns:a="http://schemas.openxmlformats.org/drawingml/2006/main">
              <a:ext uri="{FF2B5EF4-FFF2-40B4-BE49-F238E27FC236}">
                <a16:creationId xmlns:a16="http://schemas.microsoft.com/office/drawing/2014/main" id="{C289888B-9A0D-413C-A6C8-C5F40EA8464E}"/>
              </a:ext>
            </a:extLst>
          </p:cNvPr>
          <p:cNvSpPr>
            <a:spLocks xmlns:a="http://schemas.openxmlformats.org/drawingml/2006/main" noGrp="1"/>
          </p:cNvSpPr>
          <p:nvPr/>
        </p:nvSpPr>
        <p:spPr>
          <a:xfrm xmlns:a="http://schemas.openxmlformats.org/drawingml/2006/main">
            <a:off x="419100" y="3848100"/>
            <a:ext cx="7696200" cy="19812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w="9525">
            <a:solidFill>
              <a:srgbClr val="DCE4F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911E5628-593D-4402-BE82-B27A3369A8BF}"/>
              </a:ext>
            </a:extLst>
          </p:cNvPr>
          <p:cNvSpPr>
            <a:spLocks xmlns:a="http://schemas.openxmlformats.org/drawingml/2006/main" noGrp="1"/>
          </p:cNvSpPr>
          <p:nvPr/>
        </p:nvSpPr>
        <p:spPr>
          <a:xfrm xmlns:a="http://schemas.openxmlformats.org/drawingml/2006/main">
            <a:off x="666750" y="4038600"/>
            <a:ext cx="161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417"/>
          </a:bodyPr>
          <a:lstStyle xmlns:a="http://schemas.openxmlformats.org/drawingml/2006/main"/>
          <a:p xmlns:a="http://schemas.openxmlformats.org/drawingml/2006/main">
            <a:pPr algn="l">
              <a:defRPr sz="1575" b="1">
                <a:solidFill>
                  <a:srgbClr val="14213D"/>
                </a:solidFill>
                <a:latin typeface="Aptos"/>
                <a:ea typeface="Aptos"/>
                <a:cs typeface="Aptos"/>
              </a:defRPr>
            </a:pPr>
            <a:r>
              <a:rPr sz="1575" b="1">
                <a:solidFill>
                  <a:srgbClr val="14213D"/>
                </a:solidFill>
                <a:latin typeface="Aptos"/>
                <a:ea typeface="Aptos"/>
                <a:cs typeface="Aptos"/>
              </a:rPr>
              <a:t>Median exposed-pool</a:t>
            </a:r>
          </a:p>
          <a:p xmlns:a="http://schemas.openxmlformats.org/drawingml/2006/main">
            <a:pPr algn="l">
              <a:defRPr sz="1575" b="1">
                <a:solidFill>
                  <a:srgbClr val="14213D"/>
                </a:solidFill>
                <a:latin typeface="Aptos"/>
                <a:ea typeface="Aptos"/>
                <a:cs typeface="Aptos"/>
              </a:defRPr>
            </a:pPr>
            <a:r>
              <a:rPr sz="1575" b="1">
                <a:solidFill>
                  <a:srgbClr val="14213D"/>
                </a:solidFill>
                <a:latin typeface="Aptos"/>
                <a:ea typeface="Aptos"/>
                <a:cs typeface="Aptos"/>
              </a:rPr>
              <a:t>APY (%)</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e605f476776e40f5"/>
          <a:stretch xmlns:a="http://schemas.openxmlformats.org/drawingml/2006/main"/>
        </p:blipFill>
        <p:spPr>
          <a:xfrm xmlns:a="http://schemas.openxmlformats.org/drawingml/2006/main">
            <a:off x="2400300" y="3963266"/>
            <a:ext cx="5410200" cy="1617518"/>
          </a:xfrm>
          <a:prstGeom xmlns:a="http://schemas.openxmlformats.org/drawingml/2006/main" prst="roundRect">
            <a:avLst>
              <a:gd name="adj" fmla="val 9412"/>
            </a:avLst>
          </a:prstGeom>
        </p:spPr>
      </p:pic>
      <p:sp>
        <p:nvSpPr>
          <p:cNvPr id="16" name="">
            <a:extLst xmlns:a="http://schemas.openxmlformats.org/drawingml/2006/main">
              <a:ext uri="{FF2B5EF4-FFF2-40B4-BE49-F238E27FC236}">
                <a16:creationId xmlns:a16="http://schemas.microsoft.com/office/drawing/2014/main" id="{1695A089-A0FD-4714-822F-130423A71832}"/>
              </a:ext>
            </a:extLst>
          </p:cNvPr>
          <p:cNvSpPr>
            <a:spLocks xmlns:a="http://schemas.openxmlformats.org/drawingml/2006/main" noGrp="1"/>
          </p:cNvSpPr>
          <p:nvPr/>
        </p:nvSpPr>
        <p:spPr>
          <a:xfrm xmlns:a="http://schemas.openxmlformats.org/drawingml/2006/main">
            <a:off x="8382000" y="1771650"/>
            <a:ext cx="3371850" cy="4057650"/>
          </a:xfrm>
          <a:prstGeom xmlns:a="http://schemas.openxmlformats.org/drawingml/2006/main" prst="roundRect">
            <a:avLst>
              <a:gd name="adj" fmla="val 7345"/>
            </a:avLst>
          </a:prstGeom>
          <a:gradFill xmlns:a="http://schemas.openxmlformats.org/drawingml/2006/main">
            <a:gsLst>
              <a:gs pos="0">
                <a:srgbClr val="FF6B9D">
                  <a:alpha val="20000"/>
                </a:srgbClr>
              </a:gs>
              <a:gs pos="80000">
                <a:srgbClr val="FFFFFF"/>
              </a:gs>
            </a:gsLst>
            <a:lin ang="8700000"/>
          </a:gradFill>
          <a:ln xmlns:a="http://schemas.openxmlformats.org/drawingml/2006/main" w="9525">
            <a:solidFill>
              <a:srgbClr val="FF6B9D">
                <a:alpha val="3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58FB5B6C-71F1-4FA3-A2E7-A6AE02D7EC79}"/>
              </a:ext>
            </a:extLst>
          </p:cNvPr>
          <p:cNvSpPr>
            <a:spLocks xmlns:a="http://schemas.openxmlformats.org/drawingml/2006/main" noGrp="1"/>
          </p:cNvSpPr>
          <p:nvPr/>
        </p:nvSpPr>
        <p:spPr>
          <a:xfrm xmlns:a="http://schemas.openxmlformats.org/drawingml/2006/main">
            <a:off x="8629650" y="2000250"/>
            <a:ext cx="1695450" cy="304800"/>
          </a:xfrm>
          <a:prstGeom xmlns:a="http://schemas.openxmlformats.org/drawingml/2006/main" prst="roundRect">
            <a:avLst>
              <a:gd name="adj" fmla="val 50000"/>
            </a:avLst>
          </a:prstGeom>
          <a:solidFill xmlns:a="http://schemas.openxmlformats.org/drawingml/2006/main">
            <a:srgbClr val="FF6B9D">
              <a:alpha val="17000"/>
            </a:srgbClr>
          </a:solidFill>
          <a:ln xmlns:a="http://schemas.openxmlformats.org/drawingml/2006/main" w="9525">
            <a:solidFill>
              <a:srgbClr val="FF6B9D">
                <a:alpha val="22000"/>
              </a:srgbClr>
            </a:solidFill>
            <a:prstDash val="solid"/>
          </a:ln>
        </p:spPr>
      </p:sp>
      <p:sp>
        <p:nvSpPr>
          <p:cNvPr id="18" name="">
            <a:extLst xmlns:a="http://schemas.openxmlformats.org/drawingml/2006/main">
              <a:ext uri="{FF2B5EF4-FFF2-40B4-BE49-F238E27FC236}">
                <a16:creationId xmlns:a16="http://schemas.microsoft.com/office/drawing/2014/main" id="{476BCDBE-734C-44D3-8A39-BDB8E20E5A4E}"/>
              </a:ext>
            </a:extLst>
          </p:cNvPr>
          <p:cNvSpPr>
            <a:spLocks xmlns:a="http://schemas.openxmlformats.org/drawingml/2006/main" noGrp="1"/>
          </p:cNvSpPr>
          <p:nvPr/>
        </p:nvSpPr>
        <p:spPr>
          <a:xfrm xmlns:a="http://schemas.openxmlformats.org/drawingml/2006/main">
            <a:off x="8743950" y="2009775"/>
            <a:ext cx="1466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B52159"/>
                </a:solidFill>
                <a:latin typeface="Aptos"/>
                <a:ea typeface="Aptos"/>
                <a:cs typeface="Aptos"/>
              </a:defRPr>
            </a:pPr>
            <a:r>
              <a:rPr sz="900" b="1">
                <a:solidFill>
                  <a:srgbClr val="B52159"/>
                </a:solidFill>
                <a:latin typeface="Aptos"/>
                <a:ea typeface="Aptos"/>
                <a:cs typeface="Aptos"/>
              </a:rPr>
              <a:t>USDC / 12 MAR 2023</a:t>
            </a:r>
          </a:p>
        </p:txBody>
      </p:sp>
      <p:sp>
        <p:nvSpPr>
          <p:cNvPr id="19" name="">
            <a:extLst xmlns:a="http://schemas.openxmlformats.org/drawingml/2006/main">
              <a:ext uri="{FF2B5EF4-FFF2-40B4-BE49-F238E27FC236}">
                <a16:creationId xmlns:a16="http://schemas.microsoft.com/office/drawing/2014/main" id="{E8941EF0-CB86-4A27-AFD5-75B5632604AB}"/>
              </a:ext>
            </a:extLst>
          </p:cNvPr>
          <p:cNvSpPr>
            <a:spLocks xmlns:a="http://schemas.openxmlformats.org/drawingml/2006/main" noGrp="1"/>
          </p:cNvSpPr>
          <p:nvPr/>
        </p:nvSpPr>
        <p:spPr>
          <a:xfrm xmlns:a="http://schemas.openxmlformats.org/drawingml/2006/main">
            <a:off x="8629650" y="2533650"/>
            <a:ext cx="2724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550" b="1">
                <a:solidFill>
                  <a:srgbClr val="14213D"/>
                </a:solidFill>
                <a:latin typeface="Aptos"/>
                <a:ea typeface="Aptos"/>
                <a:cs typeface="Aptos"/>
              </a:defRPr>
            </a:pPr>
            <a:r>
              <a:rPr sz="2550" b="1">
                <a:solidFill>
                  <a:srgbClr val="14213D"/>
                </a:solidFill>
                <a:latin typeface="Aptos"/>
                <a:ea typeface="Aptos"/>
                <a:cs typeface="Aptos"/>
              </a:rPr>
              <a:t>$0.9611</a:t>
            </a:r>
          </a:p>
        </p:txBody>
      </p:sp>
      <p:sp>
        <p:nvSpPr>
          <p:cNvPr id="20" name="">
            <a:extLst xmlns:a="http://schemas.openxmlformats.org/drawingml/2006/main">
              <a:ext uri="{FF2B5EF4-FFF2-40B4-BE49-F238E27FC236}">
                <a16:creationId xmlns:a16="http://schemas.microsoft.com/office/drawing/2014/main" id="{B7A7D7FD-FC9A-40A6-B7E5-20DC573470E1}"/>
              </a:ext>
            </a:extLst>
          </p:cNvPr>
          <p:cNvSpPr>
            <a:spLocks xmlns:a="http://schemas.openxmlformats.org/drawingml/2006/main" noGrp="1"/>
          </p:cNvSpPr>
          <p:nvPr/>
        </p:nvSpPr>
        <p:spPr>
          <a:xfrm xmlns:a="http://schemas.openxmlformats.org/drawingml/2006/main">
            <a:off x="8629650" y="3028950"/>
            <a:ext cx="2686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475467"/>
                </a:solidFill>
                <a:latin typeface="Aptos"/>
                <a:ea typeface="Aptos"/>
                <a:cs typeface="Aptos"/>
              </a:defRPr>
            </a:pPr>
            <a:r>
              <a:rPr sz="1200" b="0">
                <a:solidFill>
                  <a:srgbClr val="475467"/>
                </a:solidFill>
                <a:latin typeface="Aptos"/>
                <a:ea typeface="Aptos"/>
                <a:cs typeface="Aptos"/>
              </a:rPr>
              <a:t>Minimum daily observation in this window</a:t>
            </a:r>
          </a:p>
        </p:txBody>
      </p:sp>
      <p:sp>
        <p:nvSpPr>
          <p:cNvPr id="21" name="">
            <a:extLst xmlns:a="http://schemas.openxmlformats.org/drawingml/2006/main">
              <a:ext uri="{FF2B5EF4-FFF2-40B4-BE49-F238E27FC236}">
                <a16:creationId xmlns:a16="http://schemas.microsoft.com/office/drawing/2014/main" id="{2599AD81-7E4A-40E4-A36D-327CDA1FF011}"/>
              </a:ext>
            </a:extLst>
          </p:cNvPr>
          <p:cNvSpPr>
            <a:spLocks xmlns:a="http://schemas.openxmlformats.org/drawingml/2006/main" noGrp="1"/>
          </p:cNvSpPr>
          <p:nvPr/>
        </p:nvSpPr>
        <p:spPr>
          <a:xfrm xmlns:a="http://schemas.openxmlformats.org/drawingml/2006/main">
            <a:off x="8629650" y="3638550"/>
            <a:ext cx="2686050" cy="9525"/>
          </a:xfrm>
          <a:prstGeom xmlns:a="http://schemas.openxmlformats.org/drawingml/2006/main" prst="line">
            <a:avLst/>
          </a:prstGeom>
          <a:noFill xmlns:a="http://schemas.openxmlformats.org/drawingml/2006/main"/>
          <a:ln xmlns:a="http://schemas.openxmlformats.org/drawingml/2006/main" w="9525">
            <a:solidFill>
              <a:srgbClr val="FF6B9D">
                <a:alpha val="32000"/>
              </a:srgbClr>
            </a:solidFill>
            <a:prstDash val="solid"/>
          </a:ln>
        </p:spPr>
      </p:sp>
      <p:sp>
        <p:nvSpPr>
          <p:cNvPr id="22" name="">
            <a:extLst xmlns:a="http://schemas.openxmlformats.org/drawingml/2006/main">
              <a:ext uri="{FF2B5EF4-FFF2-40B4-BE49-F238E27FC236}">
                <a16:creationId xmlns:a16="http://schemas.microsoft.com/office/drawing/2014/main" id="{C8858984-6FCE-4252-A9C6-EEBAAE0E4F94}"/>
              </a:ext>
            </a:extLst>
          </p:cNvPr>
          <p:cNvSpPr>
            <a:spLocks xmlns:a="http://schemas.openxmlformats.org/drawingml/2006/main" noGrp="1"/>
          </p:cNvSpPr>
          <p:nvPr/>
        </p:nvSpPr>
        <p:spPr>
          <a:xfrm xmlns:a="http://schemas.openxmlformats.org/drawingml/2006/main">
            <a:off x="8648700" y="386715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B52159"/>
                </a:solidFill>
                <a:latin typeface="Aptos"/>
                <a:ea typeface="Aptos"/>
                <a:cs typeface="Aptos"/>
              </a:defRPr>
            </a:pPr>
            <a:r>
              <a:rPr sz="1725" b="1">
                <a:solidFill>
                  <a:srgbClr val="B52159"/>
                </a:solidFill>
                <a:latin typeface="Aptos"/>
                <a:ea typeface="Aptos"/>
                <a:cs typeface="Aptos"/>
              </a:rPr>
              <a:t>+1.38 pp</a:t>
            </a:r>
          </a:p>
        </p:txBody>
      </p:sp>
      <p:sp>
        <p:nvSpPr>
          <p:cNvPr id="23" name="">
            <a:extLst xmlns:a="http://schemas.openxmlformats.org/drawingml/2006/main">
              <a:ext uri="{FF2B5EF4-FFF2-40B4-BE49-F238E27FC236}">
                <a16:creationId xmlns:a16="http://schemas.microsoft.com/office/drawing/2014/main" id="{2947C0CD-0BB1-4E76-B9BB-240DE45C7C47}"/>
              </a:ext>
            </a:extLst>
          </p:cNvPr>
          <p:cNvSpPr>
            <a:spLocks xmlns:a="http://schemas.openxmlformats.org/drawingml/2006/main" noGrp="1"/>
          </p:cNvSpPr>
          <p:nvPr/>
        </p:nvSpPr>
        <p:spPr>
          <a:xfrm xmlns:a="http://schemas.openxmlformats.org/drawingml/2006/main">
            <a:off x="9829800" y="3886200"/>
            <a:ext cx="1676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14213D"/>
                </a:solidFill>
                <a:latin typeface="Aptos"/>
                <a:ea typeface="Aptos"/>
                <a:cs typeface="Aptos"/>
              </a:defRPr>
            </a:pPr>
            <a:r>
              <a:rPr sz="1125" b="0">
                <a:solidFill>
                  <a:srgbClr val="14213D"/>
                </a:solidFill>
                <a:latin typeface="Aptos"/>
                <a:ea typeface="Aptos"/>
                <a:cs typeface="Aptos"/>
              </a:rPr>
              <a:t>Median APY, day -1 to day 0</a:t>
            </a:r>
          </a:p>
        </p:txBody>
      </p:sp>
      <p:sp>
        <p:nvSpPr>
          <p:cNvPr id="24" name="">
            <a:extLst xmlns:a="http://schemas.openxmlformats.org/drawingml/2006/main">
              <a:ext uri="{FF2B5EF4-FFF2-40B4-BE49-F238E27FC236}">
                <a16:creationId xmlns:a16="http://schemas.microsoft.com/office/drawing/2014/main" id="{B273CB38-56F6-4FEB-A443-E8731E2928CC}"/>
              </a:ext>
            </a:extLst>
          </p:cNvPr>
          <p:cNvSpPr>
            <a:spLocks xmlns:a="http://schemas.openxmlformats.org/drawingml/2006/main" noGrp="1"/>
          </p:cNvSpPr>
          <p:nvPr/>
        </p:nvSpPr>
        <p:spPr>
          <a:xfrm xmlns:a="http://schemas.openxmlformats.org/drawingml/2006/main">
            <a:off x="8648700" y="4572000"/>
            <a:ext cx="1123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3159C9"/>
                </a:solidFill>
                <a:latin typeface="Aptos"/>
                <a:ea typeface="Aptos"/>
                <a:cs typeface="Aptos"/>
              </a:defRPr>
            </a:pPr>
            <a:r>
              <a:rPr sz="1725" b="1">
                <a:solidFill>
                  <a:srgbClr val="3159C9"/>
                </a:solidFill>
                <a:latin typeface="Aptos"/>
                <a:ea typeface="Aptos"/>
                <a:cs typeface="Aptos"/>
              </a:rPr>
              <a:t>9-10</a:t>
            </a:r>
          </a:p>
        </p:txBody>
      </p:sp>
      <p:sp>
        <p:nvSpPr>
          <p:cNvPr id="25" name="">
            <a:extLst xmlns:a="http://schemas.openxmlformats.org/drawingml/2006/main">
              <a:ext uri="{FF2B5EF4-FFF2-40B4-BE49-F238E27FC236}">
                <a16:creationId xmlns:a16="http://schemas.microsoft.com/office/drawing/2014/main" id="{167CCE75-F038-4925-97FF-C40BA661CA82}"/>
              </a:ext>
            </a:extLst>
          </p:cNvPr>
          <p:cNvSpPr>
            <a:spLocks xmlns:a="http://schemas.openxmlformats.org/drawingml/2006/main" noGrp="1"/>
          </p:cNvSpPr>
          <p:nvPr/>
        </p:nvSpPr>
        <p:spPr>
          <a:xfrm xmlns:a="http://schemas.openxmlformats.org/drawingml/2006/main">
            <a:off x="9829800" y="4591050"/>
            <a:ext cx="1676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14213D"/>
                </a:solidFill>
                <a:latin typeface="Aptos"/>
                <a:ea typeface="Aptos"/>
                <a:cs typeface="Aptos"/>
              </a:defRPr>
            </a:pPr>
            <a:r>
              <a:rPr sz="1125" b="0">
                <a:solidFill>
                  <a:srgbClr val="14213D"/>
                </a:solidFill>
                <a:latin typeface="Aptos"/>
                <a:ea typeface="Aptos"/>
                <a:cs typeface="Aptos"/>
              </a:rPr>
              <a:t>Pools per day (9 at day 0)</a:t>
            </a:r>
          </a:p>
        </p:txBody>
      </p:sp>
      <p:sp>
        <p:nvSpPr>
          <p:cNvPr id="26" name="">
            <a:extLst xmlns:a="http://schemas.openxmlformats.org/drawingml/2006/main">
              <a:ext uri="{FF2B5EF4-FFF2-40B4-BE49-F238E27FC236}">
                <a16:creationId xmlns:a16="http://schemas.microsoft.com/office/drawing/2014/main" id="{0133754D-066F-45DF-8AE1-58F198D26012}"/>
              </a:ext>
            </a:extLst>
          </p:cNvPr>
          <p:cNvSpPr>
            <a:spLocks xmlns:a="http://schemas.openxmlformats.org/drawingml/2006/main" noGrp="1"/>
          </p:cNvSpPr>
          <p:nvPr/>
        </p:nvSpPr>
        <p:spPr>
          <a:xfrm xmlns:a="http://schemas.openxmlformats.org/drawingml/2006/main">
            <a:off x="8648700" y="5219700"/>
            <a:ext cx="2647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4213D"/>
                </a:solidFill>
                <a:latin typeface="Aptos"/>
                <a:ea typeface="Aptos"/>
                <a:cs typeface="Aptos"/>
              </a:defRPr>
            </a:pPr>
            <a:r>
              <a:rPr sz="1125" b="1">
                <a:solidFill>
                  <a:srgbClr val="14213D"/>
                </a:solidFill>
                <a:latin typeface="Aptos"/>
                <a:ea typeface="Aptos"/>
                <a:cs typeface="Aptos"/>
              </a:rPr>
              <a:t>Changing pool composition. One descriptive case, without a control group.</a:t>
            </a:r>
          </a:p>
        </p:txBody>
      </p:sp>
      <p:sp>
        <p:nvSpPr>
          <p:cNvPr id="27" name="">
            <a:extLst xmlns:a="http://schemas.openxmlformats.org/drawingml/2006/main">
              <a:ext uri="{FF2B5EF4-FFF2-40B4-BE49-F238E27FC236}">
                <a16:creationId xmlns:a16="http://schemas.microsoft.com/office/drawing/2014/main" id="{F0A7E442-8A60-465A-AAE5-845E20F1834C}"/>
              </a:ext>
            </a:extLst>
          </p:cNvPr>
          <p:cNvSpPr>
            <a:spLocks xmlns:a="http://schemas.openxmlformats.org/drawingml/2006/main" noGrp="1"/>
          </p:cNvSpPr>
          <p:nvPr/>
        </p:nvSpPr>
        <p:spPr>
          <a:xfrm xmlns:a="http://schemas.openxmlformats.org/drawingml/2006/main">
            <a:off x="419100" y="598170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475467"/>
                </a:solidFill>
                <a:latin typeface="Aptos"/>
                <a:ea typeface="Aptos"/>
                <a:cs typeface="Aptos"/>
              </a:defRPr>
            </a:pPr>
            <a:r>
              <a:rPr sz="1050" b="0">
                <a:solidFill>
                  <a:srgbClr val="475467"/>
                </a:solidFill>
                <a:latin typeface="Aptos"/>
                <a:ea typeface="Aptos"/>
                <a:cs typeface="Aptos"/>
              </a:rPr>
              <a:t>Sources: DeFiLlama, CoinGecko and protocol documentation. Quoted APY differs from realized return.</a:t>
            </a:r>
          </a:p>
        </p:txBody>
      </p:sp>
    </p:spTree>
    <p:extLst>
      <p:ext uri="{BB962C8B-B14F-4D97-AF65-F5344CB8AC3E}">
        <p14:creationId xmlns:p14="http://schemas.microsoft.com/office/powerpoint/2010/main" val="959020514"/>
      </p:ext>
    </p:extLst>
  </p:cSld>
</p:sld>
</file>

<file path=ppt/slides/slide11.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5A940B2-85FB-4AA4-9B0B-3CC773A702FD}"/>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8B5CF6">
              <a:alpha val="13000"/>
            </a:srgbClr>
          </a:solidFill>
          <a:ln xmlns:a="http://schemas.openxmlformats.org/drawingml/2006/main" w="9525">
            <a:solidFill>
              <a:srgbClr val="8B5CF6">
                <a:alpha val="22000"/>
              </a:srgbClr>
            </a:solidFill>
            <a:prstDash val="solid"/>
          </a:ln>
        </p:spPr>
      </p:sp>
      <p:sp>
        <p:nvSpPr>
          <p:cNvPr id="2" name="">
            <a:extLst xmlns:a="http://schemas.openxmlformats.org/drawingml/2006/main">
              <a:ext uri="{FF2B5EF4-FFF2-40B4-BE49-F238E27FC236}">
                <a16:creationId xmlns:a16="http://schemas.microsoft.com/office/drawing/2014/main" id="{5620E320-3437-4EF5-A367-78425B0E138E}"/>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6941C6"/>
                </a:solidFill>
                <a:latin typeface="Aptos"/>
                <a:ea typeface="Aptos"/>
                <a:cs typeface="Aptos"/>
              </a:defRPr>
            </a:pPr>
            <a:r>
              <a:rPr sz="975" b="1">
                <a:solidFill>
                  <a:srgbClr val="6941C6"/>
                </a:solidFill>
                <a:latin typeface="Aptos"/>
                <a:ea typeface="Aptos"/>
                <a:cs typeface="Aptos"/>
              </a:rPr>
              <a:t>JOINT SCREEN</a:t>
            </a:r>
          </a:p>
        </p:txBody>
      </p:sp>
      <p:sp>
        <p:nvSpPr>
          <p:cNvPr id="3" name="">
            <a:extLst xmlns:a="http://schemas.openxmlformats.org/drawingml/2006/main">
              <a:ext uri="{FF2B5EF4-FFF2-40B4-BE49-F238E27FC236}">
                <a16:creationId xmlns:a16="http://schemas.microsoft.com/office/drawing/2014/main" id="{05B0BB5A-7F49-4C0C-BFE7-EA0C27D1CACE}"/>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9525">
            <a:solidFill>
              <a:srgbClr val="8B5CF6">
                <a:alpha val="22000"/>
              </a:srgbClr>
            </a:solidFill>
            <a:prstDash val="solid"/>
          </a:ln>
        </p:spPr>
      </p:sp>
      <p:sp>
        <p:nvSpPr>
          <p:cNvPr id="4" name="">
            <a:extLst xmlns:a="http://schemas.openxmlformats.org/drawingml/2006/main">
              <a:ext uri="{FF2B5EF4-FFF2-40B4-BE49-F238E27FC236}">
                <a16:creationId xmlns:a16="http://schemas.microsoft.com/office/drawing/2014/main" id="{728DA15D-3325-4423-851B-8C3A11B98470}"/>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11</a:t>
            </a:r>
          </a:p>
        </p:txBody>
      </p:sp>
      <p:sp>
        <p:nvSpPr>
          <p:cNvPr id="5" name="">
            <a:extLst xmlns:a="http://schemas.openxmlformats.org/drawingml/2006/main">
              <a:ext uri="{FF2B5EF4-FFF2-40B4-BE49-F238E27FC236}">
                <a16:creationId xmlns:a16="http://schemas.microsoft.com/office/drawing/2014/main" id="{FB7709F2-47BC-479F-8D73-7F1F0AFB5CD5}"/>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475467"/>
                </a:solidFill>
                <a:latin typeface="Aptos"/>
                <a:ea typeface="Aptos"/>
                <a:cs typeface="Aptos"/>
              </a:defRPr>
            </a:pPr>
            <a:r>
              <a:rPr sz="825" b="1">
                <a:solidFill>
                  <a:srgbClr val="475467"/>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5C98308E-4BBF-4EBD-8370-742E87E606A6}"/>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15582395-7B31-412F-B063-9CE700D087A9}"/>
              </a:ext>
            </a:extLst>
          </p:cNvPr>
          <p:cNvSpPr>
            <a:spLocks xmlns:a="http://schemas.openxmlformats.org/drawingml/2006/main" noGrp="1"/>
          </p:cNvSpPr>
          <p:nvPr/>
        </p:nvSpPr>
        <p:spPr>
          <a:xfrm xmlns:a="http://schemas.openxmlformats.org/drawingml/2006/main">
            <a:off x="8420100" y="6486525"/>
            <a:ext cx="2157132" cy="3810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solidFill>
              <a:srgbClr val="8B5CF6"/>
            </a:solidFill>
            <a:prstDash val="solid"/>
          </a:ln>
        </p:spPr>
      </p:sp>
      <p:sp>
        <p:nvSpPr>
          <p:cNvPr id="8" name="">
            <a:extLst xmlns:a="http://schemas.openxmlformats.org/drawingml/2006/main">
              <a:ext uri="{FF2B5EF4-FFF2-40B4-BE49-F238E27FC236}">
                <a16:creationId xmlns:a16="http://schemas.microsoft.com/office/drawing/2014/main" id="{70115234-DC8B-4361-98A2-FB32D5F25CD2}"/>
              </a:ext>
            </a:extLst>
          </p:cNvPr>
          <p:cNvSpPr>
            <a:spLocks xmlns:a="http://schemas.openxmlformats.org/drawingml/2006/main" noGrp="1"/>
          </p:cNvSpPr>
          <p:nvPr/>
        </p:nvSpPr>
        <p:spPr>
          <a:xfrm xmlns:a="http://schemas.openxmlformats.org/drawingml/2006/main">
            <a:off x="419100" y="7620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4213D"/>
                </a:solidFill>
                <a:latin typeface="Aptos"/>
                <a:ea typeface="Aptos"/>
                <a:cs typeface="Aptos"/>
              </a:defRPr>
            </a:pPr>
            <a:r>
              <a:rPr sz="3000" b="1">
                <a:solidFill>
                  <a:srgbClr val="14213D"/>
                </a:solidFill>
                <a:latin typeface="Aptos"/>
                <a:ea typeface="Aptos"/>
                <a:cs typeface="Aptos"/>
              </a:rPr>
              <a:t>Only 15.2% clear all three descriptive thresholds</a:t>
            </a:r>
          </a:p>
        </p:txBody>
      </p:sp>
      <p:sp>
        <p:nvSpPr>
          <p:cNvPr id="9" name="">
            <a:extLst xmlns:a="http://schemas.openxmlformats.org/drawingml/2006/main">
              <a:ext uri="{FF2B5EF4-FFF2-40B4-BE49-F238E27FC236}">
                <a16:creationId xmlns:a16="http://schemas.microsoft.com/office/drawing/2014/main" id="{BC4E5AF3-831F-4589-8A6C-88436DD48876}"/>
              </a:ext>
            </a:extLst>
          </p:cNvPr>
          <p:cNvSpPr>
            <a:spLocks xmlns:a="http://schemas.openxmlformats.org/drawingml/2006/main" noGrp="1"/>
          </p:cNvSpPr>
          <p:nvPr/>
        </p:nvSpPr>
        <p:spPr>
          <a:xfrm xmlns:a="http://schemas.openxmlformats.org/drawingml/2006/main">
            <a:off x="419100" y="1333500"/>
            <a:ext cx="895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475467"/>
                </a:solidFill>
                <a:latin typeface="Aptos"/>
                <a:ea typeface="Aptos"/>
                <a:cs typeface="Aptos"/>
              </a:defRPr>
            </a:pPr>
            <a:r>
              <a:rPr sz="1350" b="0">
                <a:solidFill>
                  <a:srgbClr val="475467"/>
                </a:solidFill>
                <a:latin typeface="Aptos"/>
                <a:ea typeface="Aptos"/>
                <a:cs typeface="Aptos"/>
              </a:rPr>
              <a:t>Which pools combine APY, persistence and capacity?</a:t>
            </a:r>
          </a:p>
        </p:txBody>
      </p:sp>
      <p:sp>
        <p:nvSpPr>
          <p:cNvPr id="10" name="">
            <a:extLst xmlns:a="http://schemas.openxmlformats.org/drawingml/2006/main">
              <a:ext uri="{FF2B5EF4-FFF2-40B4-BE49-F238E27FC236}">
                <a16:creationId xmlns:a16="http://schemas.microsoft.com/office/drawing/2014/main" id="{E2E99C90-BCCE-42C6-91AA-3FB0910F2A3C}"/>
              </a:ext>
            </a:extLst>
          </p:cNvPr>
          <p:cNvSpPr>
            <a:spLocks xmlns:a="http://schemas.openxmlformats.org/drawingml/2006/main" noGrp="1"/>
          </p:cNvSpPr>
          <p:nvPr/>
        </p:nvSpPr>
        <p:spPr>
          <a:xfrm xmlns:a="http://schemas.openxmlformats.org/drawingml/2006/main">
            <a:off x="419100" y="1771650"/>
            <a:ext cx="3143250" cy="4057650"/>
          </a:xfrm>
          <a:prstGeom xmlns:a="http://schemas.openxmlformats.org/drawingml/2006/main" prst="roundRect">
            <a:avLst>
              <a:gd name="adj" fmla="val 7879"/>
            </a:avLst>
          </a:prstGeom>
          <a:gradFill xmlns:a="http://schemas.openxmlformats.org/drawingml/2006/main">
            <a:gsLst>
              <a:gs pos="0">
                <a:srgbClr val="8B5CF6">
                  <a:alpha val="20000"/>
                </a:srgbClr>
              </a:gs>
              <a:gs pos="78000">
                <a:srgbClr val="FFFFFF"/>
              </a:gs>
            </a:gsLst>
            <a:lin ang="8700000"/>
          </a:gradFill>
          <a:ln xmlns:a="http://schemas.openxmlformats.org/drawingml/2006/main" w="9525">
            <a:solidFill>
              <a:srgbClr val="8B5CF6">
                <a:alpha val="3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DFF657BB-9809-4354-B6E4-582CF84E4BAA}"/>
              </a:ext>
            </a:extLst>
          </p:cNvPr>
          <p:cNvSpPr>
            <a:spLocks xmlns:a="http://schemas.openxmlformats.org/drawingml/2006/main" noGrp="1"/>
          </p:cNvSpPr>
          <p:nvPr/>
        </p:nvSpPr>
        <p:spPr>
          <a:xfrm xmlns:a="http://schemas.openxmlformats.org/drawingml/2006/main">
            <a:off x="647700" y="2000250"/>
            <a:ext cx="1809750" cy="304800"/>
          </a:xfrm>
          <a:prstGeom xmlns:a="http://schemas.openxmlformats.org/drawingml/2006/main" prst="roundRect">
            <a:avLst>
              <a:gd name="adj" fmla="val 50000"/>
            </a:avLst>
          </a:prstGeom>
          <a:solidFill xmlns:a="http://schemas.openxmlformats.org/drawingml/2006/main">
            <a:srgbClr val="8B5CF6">
              <a:alpha val="16000"/>
            </a:srgbClr>
          </a:solidFill>
          <a:ln xmlns:a="http://schemas.openxmlformats.org/drawingml/2006/main" w="9525">
            <a:solidFill>
              <a:srgbClr val="8B5CF6">
                <a:alpha val="22000"/>
              </a:srgbClr>
            </a:solidFill>
            <a:prstDash val="solid"/>
          </a:ln>
        </p:spPr>
      </p:sp>
      <p:sp>
        <p:nvSpPr>
          <p:cNvPr id="12" name="">
            <a:extLst xmlns:a="http://schemas.openxmlformats.org/drawingml/2006/main">
              <a:ext uri="{FF2B5EF4-FFF2-40B4-BE49-F238E27FC236}">
                <a16:creationId xmlns:a16="http://schemas.microsoft.com/office/drawing/2014/main" id="{BF1B1122-0A91-4726-AA65-E890E01D4A13}"/>
              </a:ext>
            </a:extLst>
          </p:cNvPr>
          <p:cNvSpPr>
            <a:spLocks xmlns:a="http://schemas.openxmlformats.org/drawingml/2006/main" noGrp="1"/>
          </p:cNvSpPr>
          <p:nvPr/>
        </p:nvSpPr>
        <p:spPr>
          <a:xfrm xmlns:a="http://schemas.openxmlformats.org/drawingml/2006/main">
            <a:off x="762000" y="2009775"/>
            <a:ext cx="1581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6941C6"/>
                </a:solidFill>
                <a:latin typeface="Aptos"/>
                <a:ea typeface="Aptos"/>
                <a:cs typeface="Aptos"/>
              </a:defRPr>
            </a:pPr>
            <a:r>
              <a:rPr sz="900" b="1">
                <a:solidFill>
                  <a:srgbClr val="6941C6"/>
                </a:solidFill>
                <a:latin typeface="Aptos"/>
                <a:ea typeface="Aptos"/>
                <a:cs typeface="Aptos"/>
              </a:rPr>
              <a:t>THREE-MEDIAN SCREEN</a:t>
            </a:r>
          </a:p>
        </p:txBody>
      </p:sp>
      <p:sp>
        <p:nvSpPr>
          <p:cNvPr id="13" name="">
            <a:extLst xmlns:a="http://schemas.openxmlformats.org/drawingml/2006/main">
              <a:ext uri="{FF2B5EF4-FFF2-40B4-BE49-F238E27FC236}">
                <a16:creationId xmlns:a16="http://schemas.microsoft.com/office/drawing/2014/main" id="{D9FFC431-0C6E-4460-B1D0-ECAB60E34BC3}"/>
              </a:ext>
            </a:extLst>
          </p:cNvPr>
          <p:cNvSpPr>
            <a:spLocks xmlns:a="http://schemas.openxmlformats.org/drawingml/2006/main" noGrp="1"/>
          </p:cNvSpPr>
          <p:nvPr/>
        </p:nvSpPr>
        <p:spPr>
          <a:xfrm xmlns:a="http://schemas.openxmlformats.org/drawingml/2006/main">
            <a:off x="647700" y="2533650"/>
            <a:ext cx="2457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1">
                <a:solidFill>
                  <a:srgbClr val="14213D"/>
                </a:solidFill>
                <a:latin typeface="Aptos"/>
                <a:ea typeface="Aptos"/>
                <a:cs typeface="Aptos"/>
              </a:defRPr>
            </a:pPr>
            <a:r>
              <a:rPr sz="2325" b="1">
                <a:solidFill>
                  <a:srgbClr val="14213D"/>
                </a:solidFill>
                <a:latin typeface="Aptos"/>
                <a:ea typeface="Aptos"/>
                <a:cs typeface="Aptos"/>
              </a:rPr>
              <a:t>38 of 250 pools</a:t>
            </a:r>
          </a:p>
        </p:txBody>
      </p:sp>
      <p:sp>
        <p:nvSpPr>
          <p:cNvPr id="14" name="">
            <a:extLst xmlns:a="http://schemas.openxmlformats.org/drawingml/2006/main">
              <a:ext uri="{FF2B5EF4-FFF2-40B4-BE49-F238E27FC236}">
                <a16:creationId xmlns:a16="http://schemas.microsoft.com/office/drawing/2014/main" id="{DA2BF214-4646-4724-8967-DA3B372D0D0C}"/>
              </a:ext>
            </a:extLst>
          </p:cNvPr>
          <p:cNvSpPr>
            <a:spLocks xmlns:a="http://schemas.openxmlformats.org/drawingml/2006/main" noGrp="1"/>
          </p:cNvSpPr>
          <p:nvPr/>
        </p:nvSpPr>
        <p:spPr>
          <a:xfrm xmlns:a="http://schemas.openxmlformats.org/drawingml/2006/main">
            <a:off x="647700" y="3028950"/>
            <a:ext cx="24574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4213D"/>
                </a:solidFill>
                <a:latin typeface="Aptos"/>
                <a:ea typeface="Aptos"/>
                <a:cs typeface="Aptos"/>
              </a:defRPr>
            </a:pPr>
            <a:r>
              <a:rPr sz="1350" b="0">
                <a:solidFill>
                  <a:srgbClr val="14213D"/>
                </a:solidFill>
                <a:latin typeface="Aptos"/>
                <a:ea typeface="Aptos"/>
                <a:cs typeface="Aptos"/>
              </a:rPr>
              <a:t>clear APY, persistence and TVL thresholds simultaneously</a:t>
            </a:r>
          </a:p>
        </p:txBody>
      </p:sp>
      <p:sp>
        <p:nvSpPr>
          <p:cNvPr id="15" name="">
            <a:extLst xmlns:a="http://schemas.openxmlformats.org/drawingml/2006/main">
              <a:ext uri="{FF2B5EF4-FFF2-40B4-BE49-F238E27FC236}">
                <a16:creationId xmlns:a16="http://schemas.microsoft.com/office/drawing/2014/main" id="{B1280FEF-CE5D-4171-A314-BCB1662F633D}"/>
              </a:ext>
            </a:extLst>
          </p:cNvPr>
          <p:cNvSpPr>
            <a:spLocks xmlns:a="http://schemas.openxmlformats.org/drawingml/2006/main" noGrp="1"/>
          </p:cNvSpPr>
          <p:nvPr/>
        </p:nvSpPr>
        <p:spPr>
          <a:xfrm xmlns:a="http://schemas.openxmlformats.org/drawingml/2006/main">
            <a:off x="647700" y="3800475"/>
            <a:ext cx="2457450" cy="9525"/>
          </a:xfrm>
          <a:prstGeom xmlns:a="http://schemas.openxmlformats.org/drawingml/2006/main" prst="line">
            <a:avLst/>
          </a:prstGeom>
          <a:noFill xmlns:a="http://schemas.openxmlformats.org/drawingml/2006/main"/>
          <a:ln xmlns:a="http://schemas.openxmlformats.org/drawingml/2006/main" w="9525">
            <a:solidFill>
              <a:srgbClr val="8B5CF6">
                <a:alpha val="30000"/>
              </a:srgbClr>
            </a:solidFill>
            <a:prstDash val="solid"/>
          </a:ln>
        </p:spPr>
      </p:sp>
      <p:sp>
        <p:nvSpPr>
          <p:cNvPr id="16" name="">
            <a:extLst xmlns:a="http://schemas.openxmlformats.org/drawingml/2006/main">
              <a:ext uri="{FF2B5EF4-FFF2-40B4-BE49-F238E27FC236}">
                <a16:creationId xmlns:a16="http://schemas.microsoft.com/office/drawing/2014/main" id="{5C0CEE31-AB18-4483-8417-9C0B6F75B9CC}"/>
              </a:ext>
            </a:extLst>
          </p:cNvPr>
          <p:cNvSpPr>
            <a:spLocks xmlns:a="http://schemas.openxmlformats.org/drawingml/2006/main" noGrp="1"/>
          </p:cNvSpPr>
          <p:nvPr/>
        </p:nvSpPr>
        <p:spPr>
          <a:xfrm xmlns:a="http://schemas.openxmlformats.org/drawingml/2006/main">
            <a:off x="666750" y="39814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6941C6"/>
                </a:solidFill>
                <a:latin typeface="Aptos"/>
                <a:ea typeface="Aptos"/>
                <a:cs typeface="Aptos"/>
              </a:defRPr>
            </a:pPr>
            <a:r>
              <a:rPr sz="1875" b="1">
                <a:solidFill>
                  <a:srgbClr val="6941C6"/>
                </a:solidFill>
                <a:latin typeface="Aptos"/>
                <a:ea typeface="Aptos"/>
                <a:cs typeface="Aptos"/>
              </a:rPr>
              <a:t>4.47%</a:t>
            </a:r>
          </a:p>
        </p:txBody>
      </p:sp>
      <p:sp>
        <p:nvSpPr>
          <p:cNvPr id="17" name="">
            <a:extLst xmlns:a="http://schemas.openxmlformats.org/drawingml/2006/main">
              <a:ext uri="{FF2B5EF4-FFF2-40B4-BE49-F238E27FC236}">
                <a16:creationId xmlns:a16="http://schemas.microsoft.com/office/drawing/2014/main" id="{70A81736-9E71-4E4B-84F1-8DD3C753BC87}"/>
              </a:ext>
            </a:extLst>
          </p:cNvPr>
          <p:cNvSpPr>
            <a:spLocks xmlns:a="http://schemas.openxmlformats.org/drawingml/2006/main" noGrp="1"/>
          </p:cNvSpPr>
          <p:nvPr/>
        </p:nvSpPr>
        <p:spPr>
          <a:xfrm xmlns:a="http://schemas.openxmlformats.org/drawingml/2006/main">
            <a:off x="1952625" y="4038600"/>
            <a:ext cx="1371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4213D"/>
                </a:solidFill>
                <a:latin typeface="Aptos"/>
                <a:ea typeface="Aptos"/>
                <a:cs typeface="Aptos"/>
              </a:defRPr>
            </a:pPr>
            <a:r>
              <a:rPr sz="1275" b="0">
                <a:solidFill>
                  <a:srgbClr val="14213D"/>
                </a:solidFill>
                <a:latin typeface="Aptos"/>
                <a:ea typeface="Aptos"/>
                <a:cs typeface="Aptos"/>
              </a:rPr>
              <a:t>Median APY</a:t>
            </a:r>
          </a:p>
        </p:txBody>
      </p:sp>
      <p:sp>
        <p:nvSpPr>
          <p:cNvPr id="18" name="">
            <a:extLst xmlns:a="http://schemas.openxmlformats.org/drawingml/2006/main">
              <a:ext uri="{FF2B5EF4-FFF2-40B4-BE49-F238E27FC236}">
                <a16:creationId xmlns:a16="http://schemas.microsoft.com/office/drawing/2014/main" id="{90427525-E5AB-4124-89B3-3B960A6DAB7D}"/>
              </a:ext>
            </a:extLst>
          </p:cNvPr>
          <p:cNvSpPr>
            <a:spLocks xmlns:a="http://schemas.openxmlformats.org/drawingml/2006/main" noGrp="1"/>
          </p:cNvSpPr>
          <p:nvPr/>
        </p:nvSpPr>
        <p:spPr>
          <a:xfrm xmlns:a="http://schemas.openxmlformats.org/drawingml/2006/main">
            <a:off x="666750" y="44386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6941C6"/>
                </a:solidFill>
                <a:latin typeface="Aptos"/>
                <a:ea typeface="Aptos"/>
                <a:cs typeface="Aptos"/>
              </a:defRPr>
            </a:pPr>
            <a:r>
              <a:rPr sz="1875" b="1">
                <a:solidFill>
                  <a:srgbClr val="6941C6"/>
                </a:solidFill>
                <a:latin typeface="Aptos"/>
                <a:ea typeface="Aptos"/>
                <a:cs typeface="Aptos"/>
              </a:rPr>
              <a:t>6.1%</a:t>
            </a:r>
          </a:p>
        </p:txBody>
      </p:sp>
      <p:sp>
        <p:nvSpPr>
          <p:cNvPr id="19" name="">
            <a:extLst xmlns:a="http://schemas.openxmlformats.org/drawingml/2006/main">
              <a:ext uri="{FF2B5EF4-FFF2-40B4-BE49-F238E27FC236}">
                <a16:creationId xmlns:a16="http://schemas.microsoft.com/office/drawing/2014/main" id="{584157C2-CB04-454A-9322-B11A24328063}"/>
              </a:ext>
            </a:extLst>
          </p:cNvPr>
          <p:cNvSpPr>
            <a:spLocks xmlns:a="http://schemas.openxmlformats.org/drawingml/2006/main" noGrp="1"/>
          </p:cNvSpPr>
          <p:nvPr/>
        </p:nvSpPr>
        <p:spPr>
          <a:xfrm xmlns:a="http://schemas.openxmlformats.org/drawingml/2006/main">
            <a:off x="1952625" y="4495800"/>
            <a:ext cx="1371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4213D"/>
                </a:solidFill>
                <a:latin typeface="Aptos"/>
                <a:ea typeface="Aptos"/>
                <a:cs typeface="Aptos"/>
              </a:defRPr>
            </a:pPr>
            <a:r>
              <a:rPr sz="1275" b="0">
                <a:solidFill>
                  <a:srgbClr val="14213D"/>
                </a:solidFill>
                <a:latin typeface="Aptos"/>
                <a:ea typeface="Aptos"/>
                <a:cs typeface="Aptos"/>
              </a:rPr>
              <a:t>Persistence</a:t>
            </a:r>
          </a:p>
        </p:txBody>
      </p:sp>
      <p:sp>
        <p:nvSpPr>
          <p:cNvPr id="20" name="">
            <a:extLst xmlns:a="http://schemas.openxmlformats.org/drawingml/2006/main">
              <a:ext uri="{FF2B5EF4-FFF2-40B4-BE49-F238E27FC236}">
                <a16:creationId xmlns:a16="http://schemas.microsoft.com/office/drawing/2014/main" id="{B5D20224-DCC3-461E-8E63-28D9E4600383}"/>
              </a:ext>
            </a:extLst>
          </p:cNvPr>
          <p:cNvSpPr>
            <a:spLocks xmlns:a="http://schemas.openxmlformats.org/drawingml/2006/main" noGrp="1"/>
          </p:cNvSpPr>
          <p:nvPr/>
        </p:nvSpPr>
        <p:spPr>
          <a:xfrm xmlns:a="http://schemas.openxmlformats.org/drawingml/2006/main">
            <a:off x="666750" y="48958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6941C6"/>
                </a:solidFill>
                <a:latin typeface="Aptos"/>
                <a:ea typeface="Aptos"/>
                <a:cs typeface="Aptos"/>
              </a:defRPr>
            </a:pPr>
            <a:r>
              <a:rPr sz="1875" b="1">
                <a:solidFill>
                  <a:srgbClr val="6941C6"/>
                </a:solidFill>
                <a:latin typeface="Aptos"/>
                <a:ea typeface="Aptos"/>
                <a:cs typeface="Aptos"/>
              </a:rPr>
              <a:t>$17.74M</a:t>
            </a:r>
          </a:p>
        </p:txBody>
      </p:sp>
      <p:sp>
        <p:nvSpPr>
          <p:cNvPr id="21" name="">
            <a:extLst xmlns:a="http://schemas.openxmlformats.org/drawingml/2006/main">
              <a:ext uri="{FF2B5EF4-FFF2-40B4-BE49-F238E27FC236}">
                <a16:creationId xmlns:a16="http://schemas.microsoft.com/office/drawing/2014/main" id="{D04B9285-D42C-46D8-BFB0-EA65D8422746}"/>
              </a:ext>
            </a:extLst>
          </p:cNvPr>
          <p:cNvSpPr>
            <a:spLocks xmlns:a="http://schemas.openxmlformats.org/drawingml/2006/main" noGrp="1"/>
          </p:cNvSpPr>
          <p:nvPr/>
        </p:nvSpPr>
        <p:spPr>
          <a:xfrm xmlns:a="http://schemas.openxmlformats.org/drawingml/2006/main">
            <a:off x="1952625" y="4953000"/>
            <a:ext cx="1371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14213D"/>
                </a:solidFill>
                <a:latin typeface="Aptos"/>
                <a:ea typeface="Aptos"/>
                <a:cs typeface="Aptos"/>
              </a:defRPr>
            </a:pPr>
            <a:r>
              <a:rPr sz="1275" b="0">
                <a:solidFill>
                  <a:srgbClr val="14213D"/>
                </a:solidFill>
                <a:latin typeface="Aptos"/>
                <a:ea typeface="Aptos"/>
                <a:cs typeface="Aptos"/>
              </a:rPr>
              <a:t>Median TVL</a:t>
            </a:r>
          </a:p>
        </p:txBody>
      </p:sp>
      <p:sp>
        <p:nvSpPr>
          <p:cNvPr id="22" name="">
            <a:extLst xmlns:a="http://schemas.openxmlformats.org/drawingml/2006/main">
              <a:ext uri="{FF2B5EF4-FFF2-40B4-BE49-F238E27FC236}">
                <a16:creationId xmlns:a16="http://schemas.microsoft.com/office/drawing/2014/main" id="{BF1CABCD-ADB1-4F05-83EA-BDF0FAC77730}"/>
              </a:ext>
            </a:extLst>
          </p:cNvPr>
          <p:cNvSpPr>
            <a:spLocks xmlns:a="http://schemas.openxmlformats.org/drawingml/2006/main" noGrp="1"/>
          </p:cNvSpPr>
          <p:nvPr/>
        </p:nvSpPr>
        <p:spPr>
          <a:xfrm xmlns:a="http://schemas.openxmlformats.org/drawingml/2006/main">
            <a:off x="666750" y="5381625"/>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475467"/>
                </a:solidFill>
                <a:latin typeface="Aptos"/>
                <a:ea typeface="Aptos"/>
                <a:cs typeface="Aptos"/>
              </a:defRPr>
            </a:pPr>
            <a:r>
              <a:rPr sz="1050" b="1">
                <a:solidFill>
                  <a:srgbClr val="475467"/>
                </a:solidFill>
                <a:latin typeface="Aptos"/>
                <a:ea typeface="Aptos"/>
                <a:cs typeface="Aptos"/>
              </a:rPr>
              <a:t>Inclusive thresholds. Bubble area encodes TVL. Descriptive screen.</a:t>
            </a:r>
          </a:p>
        </p:txBody>
      </p:sp>
      <p:sp>
        <p:nvSpPr>
          <p:cNvPr id="23" name="">
            <a:extLst xmlns:a="http://schemas.openxmlformats.org/drawingml/2006/main">
              <a:ext uri="{FF2B5EF4-FFF2-40B4-BE49-F238E27FC236}">
                <a16:creationId xmlns:a16="http://schemas.microsoft.com/office/drawing/2014/main" id="{3F32560F-E7FB-4456-BB8B-B6DD810C9B8B}"/>
              </a:ext>
            </a:extLst>
          </p:cNvPr>
          <p:cNvSpPr>
            <a:spLocks xmlns:a="http://schemas.openxmlformats.org/drawingml/2006/main" noGrp="1"/>
          </p:cNvSpPr>
          <p:nvPr/>
        </p:nvSpPr>
        <p:spPr>
          <a:xfrm xmlns:a="http://schemas.openxmlformats.org/drawingml/2006/main">
            <a:off x="3810000" y="1771650"/>
            <a:ext cx="7943850" cy="4057650"/>
          </a:xfrm>
          <a:prstGeom xmlns:a="http://schemas.openxmlformats.org/drawingml/2006/main" prst="roundRect">
            <a:avLst>
              <a:gd name="adj" fmla="val 6103"/>
            </a:avLst>
          </a:prstGeom>
          <a:solidFill xmlns:a="http://schemas.openxmlformats.org/drawingml/2006/main">
            <a:srgbClr val="FFFFFF"/>
          </a:solidFill>
          <a:ln xmlns:a="http://schemas.openxmlformats.org/drawingml/2006/main" w="9525">
            <a:solidFill>
              <a:srgbClr val="DCE4F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2b23bbc7bfd244dc"/>
          <a:stretch xmlns:a="http://schemas.openxmlformats.org/drawingml/2006/main"/>
        </p:blipFill>
        <p:spPr>
          <a:xfrm xmlns:a="http://schemas.openxmlformats.org/drawingml/2006/main">
            <a:off x="4095750" y="2000250"/>
            <a:ext cx="7334250" cy="3429000"/>
          </a:xfrm>
          <a:prstGeom xmlns:a="http://schemas.openxmlformats.org/drawingml/2006/main" prst="roundRect">
            <a:avLst>
              <a:gd name="adj" fmla="val 4444"/>
            </a:avLst>
          </a:prstGeom>
        </p:spPr>
      </p:pic>
      <p:sp>
        <p:nvSpPr>
          <p:cNvPr id="25" name="">
            <a:extLst xmlns:a="http://schemas.openxmlformats.org/drawingml/2006/main">
              <a:ext uri="{FF2B5EF4-FFF2-40B4-BE49-F238E27FC236}">
                <a16:creationId xmlns:a16="http://schemas.microsoft.com/office/drawing/2014/main" id="{F4C8F9F3-DDB2-4923-AFA2-AC121B9D6D0C}"/>
              </a:ext>
            </a:extLst>
          </p:cNvPr>
          <p:cNvSpPr>
            <a:spLocks xmlns:a="http://schemas.openxmlformats.org/drawingml/2006/main" noGrp="1"/>
          </p:cNvSpPr>
          <p:nvPr/>
        </p:nvSpPr>
        <p:spPr>
          <a:xfrm xmlns:a="http://schemas.openxmlformats.org/drawingml/2006/main">
            <a:off x="419100" y="5981700"/>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475467"/>
                </a:solidFill>
                <a:latin typeface="Aptos"/>
                <a:ea typeface="Aptos"/>
                <a:cs typeface="Aptos"/>
              </a:defRPr>
            </a:pPr>
            <a:r>
              <a:rPr sz="1050" b="0">
                <a:solidFill>
                  <a:srgbClr val="475467"/>
                </a:solidFill>
                <a:latin typeface="Aptos"/>
                <a:ea typeface="Aptos"/>
                <a:cs typeface="Aptos"/>
              </a:rPr>
              <a:t>Sources: DeFiLlama, CoinGecko and protocol documentation. Quoted APY differs from realized return.</a:t>
            </a:r>
          </a:p>
        </p:txBody>
      </p:sp>
    </p:spTree>
    <p:extLst>
      <p:ext uri="{BB962C8B-B14F-4D97-AF65-F5344CB8AC3E}">
        <p14:creationId xmlns:p14="http://schemas.microsoft.com/office/powerpoint/2010/main" val="1555740485"/>
      </p:ext>
    </p:extLst>
  </p:cSld>
</p:sld>
</file>

<file path=ppt/slides/slide12.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CE2331B-EFAF-4473-8061-8C1B146FB026}"/>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8B5CF6">
              <a:alpha val="13000"/>
            </a:srgbClr>
          </a:solidFill>
          <a:ln xmlns:a="http://schemas.openxmlformats.org/drawingml/2006/main" w="9525">
            <a:solidFill>
              <a:srgbClr val="8B5CF6">
                <a:alpha val="22000"/>
              </a:srgbClr>
            </a:solidFill>
            <a:prstDash val="solid"/>
          </a:ln>
        </p:spPr>
      </p:sp>
      <p:sp>
        <p:nvSpPr>
          <p:cNvPr id="2" name="">
            <a:extLst xmlns:a="http://schemas.openxmlformats.org/drawingml/2006/main">
              <a:ext uri="{FF2B5EF4-FFF2-40B4-BE49-F238E27FC236}">
                <a16:creationId xmlns:a16="http://schemas.microsoft.com/office/drawing/2014/main" id="{EFC88D7C-25AB-404E-A8BA-58ABF97C8658}"/>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6941C6"/>
                </a:solidFill>
                <a:latin typeface="Aptos"/>
                <a:ea typeface="Aptos"/>
                <a:cs typeface="Aptos"/>
              </a:defRPr>
            </a:pPr>
            <a:r>
              <a:rPr sz="975" b="1">
                <a:solidFill>
                  <a:srgbClr val="6941C6"/>
                </a:solidFill>
                <a:latin typeface="Aptos"/>
                <a:ea typeface="Aptos"/>
                <a:cs typeface="Aptos"/>
              </a:rPr>
              <a:t>ROBUSTNESS</a:t>
            </a:r>
          </a:p>
        </p:txBody>
      </p:sp>
      <p:sp>
        <p:nvSpPr>
          <p:cNvPr id="3" name="">
            <a:extLst xmlns:a="http://schemas.openxmlformats.org/drawingml/2006/main">
              <a:ext uri="{FF2B5EF4-FFF2-40B4-BE49-F238E27FC236}">
                <a16:creationId xmlns:a16="http://schemas.microsoft.com/office/drawing/2014/main" id="{0AD3D0B8-12C6-4719-B796-557EA9D72EAB}"/>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9525">
            <a:solidFill>
              <a:srgbClr val="8B5CF6">
                <a:alpha val="22000"/>
              </a:srgbClr>
            </a:solidFill>
            <a:prstDash val="solid"/>
          </a:ln>
        </p:spPr>
      </p:sp>
      <p:sp>
        <p:nvSpPr>
          <p:cNvPr id="4" name="">
            <a:extLst xmlns:a="http://schemas.openxmlformats.org/drawingml/2006/main">
              <a:ext uri="{FF2B5EF4-FFF2-40B4-BE49-F238E27FC236}">
                <a16:creationId xmlns:a16="http://schemas.microsoft.com/office/drawing/2014/main" id="{F3A8DAA1-0152-4094-B800-EF1847820E4B}"/>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12</a:t>
            </a:r>
          </a:p>
        </p:txBody>
      </p:sp>
      <p:sp>
        <p:nvSpPr>
          <p:cNvPr id="5" name="">
            <a:extLst xmlns:a="http://schemas.openxmlformats.org/drawingml/2006/main">
              <a:ext uri="{FF2B5EF4-FFF2-40B4-BE49-F238E27FC236}">
                <a16:creationId xmlns:a16="http://schemas.microsoft.com/office/drawing/2014/main" id="{DA719614-45BC-40BB-8D89-2508D60F2341}"/>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475467"/>
                </a:solidFill>
                <a:latin typeface="Aptos"/>
                <a:ea typeface="Aptos"/>
                <a:cs typeface="Aptos"/>
              </a:defRPr>
            </a:pPr>
            <a:r>
              <a:rPr sz="825" b="1">
                <a:solidFill>
                  <a:srgbClr val="475467"/>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A4AD366F-036F-403E-BD12-C48311BB05E6}"/>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98E7604B-0AFB-45C2-8B56-099873CA7B6F}"/>
              </a:ext>
            </a:extLst>
          </p:cNvPr>
          <p:cNvSpPr>
            <a:spLocks xmlns:a="http://schemas.openxmlformats.org/drawingml/2006/main" noGrp="1"/>
          </p:cNvSpPr>
          <p:nvPr/>
        </p:nvSpPr>
        <p:spPr>
          <a:xfrm xmlns:a="http://schemas.openxmlformats.org/drawingml/2006/main">
            <a:off x="8420100" y="6486525"/>
            <a:ext cx="2353235" cy="3810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solidFill>
              <a:srgbClr val="8B5CF6"/>
            </a:solidFill>
            <a:prstDash val="solid"/>
          </a:ln>
        </p:spPr>
      </p:sp>
      <p:sp>
        <p:nvSpPr>
          <p:cNvPr id="8" name="">
            <a:extLst xmlns:a="http://schemas.openxmlformats.org/drawingml/2006/main">
              <a:ext uri="{FF2B5EF4-FFF2-40B4-BE49-F238E27FC236}">
                <a16:creationId xmlns:a16="http://schemas.microsoft.com/office/drawing/2014/main" id="{47862656-1E82-4FA4-A447-3205504FE6F4}"/>
              </a:ext>
            </a:extLst>
          </p:cNvPr>
          <p:cNvSpPr>
            <a:spLocks xmlns:a="http://schemas.openxmlformats.org/drawingml/2006/main" noGrp="1"/>
          </p:cNvSpPr>
          <p:nvPr/>
        </p:nvSpPr>
        <p:spPr>
          <a:xfrm xmlns:a="http://schemas.openxmlformats.org/drawingml/2006/main">
            <a:off x="419100" y="762000"/>
            <a:ext cx="1076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4213D"/>
                </a:solidFill>
                <a:latin typeface="Aptos"/>
                <a:ea typeface="Aptos"/>
                <a:cs typeface="Aptos"/>
              </a:defRPr>
            </a:pPr>
            <a:r>
              <a:rPr sz="3000" b="1">
                <a:solidFill>
                  <a:srgbClr val="14213D"/>
                </a:solidFill>
                <a:latin typeface="Aptos"/>
                <a:ea typeface="Aptos"/>
                <a:cs typeface="Aptos"/>
              </a:rPr>
              <a:t>The main duration result survives alternative thresholds</a:t>
            </a:r>
          </a:p>
        </p:txBody>
      </p:sp>
      <p:sp>
        <p:nvSpPr>
          <p:cNvPr id="9" name="">
            <a:extLst xmlns:a="http://schemas.openxmlformats.org/drawingml/2006/main">
              <a:ext uri="{FF2B5EF4-FFF2-40B4-BE49-F238E27FC236}">
                <a16:creationId xmlns:a16="http://schemas.microsoft.com/office/drawing/2014/main" id="{0FC37991-AAC9-48C6-9B96-008E479890E7}"/>
              </a:ext>
            </a:extLst>
          </p:cNvPr>
          <p:cNvSpPr>
            <a:spLocks xmlns:a="http://schemas.openxmlformats.org/drawingml/2006/main" noGrp="1"/>
          </p:cNvSpPr>
          <p:nvPr/>
        </p:nvSpPr>
        <p:spPr>
          <a:xfrm xmlns:a="http://schemas.openxmlformats.org/drawingml/2006/main">
            <a:off x="419100" y="1333500"/>
            <a:ext cx="914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475467"/>
                </a:solidFill>
                <a:latin typeface="Aptos"/>
                <a:ea typeface="Aptos"/>
                <a:cs typeface="Aptos"/>
              </a:defRPr>
            </a:pPr>
            <a:r>
              <a:rPr sz="1350" b="0">
                <a:solidFill>
                  <a:srgbClr val="475467"/>
                </a:solidFill>
                <a:latin typeface="Aptos"/>
                <a:ea typeface="Aptos"/>
                <a:cs typeface="Aptos"/>
              </a:rPr>
              <a:t>Does the short-episode conclusion depend on one threshold?</a:t>
            </a:r>
          </a:p>
        </p:txBody>
      </p:sp>
      <p:sp>
        <p:nvSpPr>
          <p:cNvPr id="10" name="">
            <a:extLst xmlns:a="http://schemas.openxmlformats.org/drawingml/2006/main">
              <a:ext uri="{FF2B5EF4-FFF2-40B4-BE49-F238E27FC236}">
                <a16:creationId xmlns:a16="http://schemas.microsoft.com/office/drawing/2014/main" id="{5AE2C6E7-542D-49A4-98D6-69689DCC6D7F}"/>
              </a:ext>
            </a:extLst>
          </p:cNvPr>
          <p:cNvSpPr>
            <a:spLocks xmlns:a="http://schemas.openxmlformats.org/drawingml/2006/main" noGrp="1"/>
          </p:cNvSpPr>
          <p:nvPr/>
        </p:nvSpPr>
        <p:spPr>
          <a:xfrm xmlns:a="http://schemas.openxmlformats.org/drawingml/2006/main">
            <a:off x="419100" y="1771650"/>
            <a:ext cx="7239000" cy="4057650"/>
          </a:xfrm>
          <a:prstGeom xmlns:a="http://schemas.openxmlformats.org/drawingml/2006/main" prst="roundRect">
            <a:avLst>
              <a:gd name="adj" fmla="val 6103"/>
            </a:avLst>
          </a:prstGeom>
          <a:solidFill xmlns:a="http://schemas.openxmlformats.org/drawingml/2006/main">
            <a:srgbClr val="FFFFFF"/>
          </a:solidFill>
          <a:ln xmlns:a="http://schemas.openxmlformats.org/drawingml/2006/main" w="9525">
            <a:solidFill>
              <a:srgbClr val="DCE4F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FC034C5B-9812-4E3F-909D-A4ED99C669BA}"/>
              </a:ext>
            </a:extLst>
          </p:cNvPr>
          <p:cNvSpPr>
            <a:spLocks xmlns:a="http://schemas.openxmlformats.org/drawingml/2006/main" noGrp="1"/>
          </p:cNvSpPr>
          <p:nvPr/>
        </p:nvSpPr>
        <p:spPr>
          <a:xfrm xmlns:a="http://schemas.openxmlformats.org/drawingml/2006/main">
            <a:off x="685800" y="2000250"/>
            <a:ext cx="581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4213D"/>
                </a:solidFill>
                <a:latin typeface="Aptos"/>
                <a:ea typeface="Aptos"/>
                <a:cs typeface="Aptos"/>
              </a:defRPr>
            </a:pPr>
            <a:r>
              <a:rPr sz="1725" b="1">
                <a:solidFill>
                  <a:srgbClr val="14213D"/>
                </a:solidFill>
                <a:latin typeface="Aptos"/>
                <a:ea typeface="Aptos"/>
                <a:cs typeface="Aptos"/>
              </a:rPr>
              <a:t>Episode count changes; median duration does not</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38f2d00b65204192"/>
          <a:stretch xmlns:a="http://schemas.openxmlformats.org/drawingml/2006/main"/>
        </p:blipFill>
        <p:spPr>
          <a:xfrm xmlns:a="http://schemas.openxmlformats.org/drawingml/2006/main">
            <a:off x="800100" y="2476500"/>
            <a:ext cx="4095750" cy="2724150"/>
          </a:xfrm>
          <a:prstGeom xmlns:a="http://schemas.openxmlformats.org/drawingml/2006/main" prst="roundRect">
            <a:avLst>
              <a:gd name="adj" fmla="val 5594"/>
            </a:avLst>
          </a:prstGeom>
        </p:spPr>
      </p:pic>
      <p:sp>
        <p:nvSpPr>
          <p:cNvPr id="13" name="">
            <a:extLst xmlns:a="http://schemas.openxmlformats.org/drawingml/2006/main">
              <a:ext uri="{FF2B5EF4-FFF2-40B4-BE49-F238E27FC236}">
                <a16:creationId xmlns:a16="http://schemas.microsoft.com/office/drawing/2014/main" id="{646A6953-4F43-4DB9-9D33-C6B5DAA24719}"/>
              </a:ext>
            </a:extLst>
          </p:cNvPr>
          <p:cNvSpPr>
            <a:spLocks xmlns:a="http://schemas.openxmlformats.org/drawingml/2006/main" noGrp="1"/>
          </p:cNvSpPr>
          <p:nvPr/>
        </p:nvSpPr>
        <p:spPr>
          <a:xfrm xmlns:a="http://schemas.openxmlformats.org/drawingml/2006/main">
            <a:off x="5257800" y="29527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600" b="1">
                <a:solidFill>
                  <a:srgbClr val="8B5CF6"/>
                </a:solidFill>
                <a:latin typeface="Aptos"/>
                <a:ea typeface="Aptos"/>
                <a:cs typeface="Aptos"/>
              </a:defRPr>
            </a:pPr>
            <a:r>
              <a:rPr sz="3600" b="1">
                <a:solidFill>
                  <a:srgbClr val="8B5CF6"/>
                </a:solidFill>
                <a:latin typeface="Aptos"/>
                <a:ea typeface="Aptos"/>
                <a:cs typeface="Aptos"/>
              </a:rPr>
              <a:t>2 days</a:t>
            </a:r>
          </a:p>
        </p:txBody>
      </p:sp>
      <p:sp>
        <p:nvSpPr>
          <p:cNvPr id="14" name="">
            <a:extLst xmlns:a="http://schemas.openxmlformats.org/drawingml/2006/main">
              <a:ext uri="{FF2B5EF4-FFF2-40B4-BE49-F238E27FC236}">
                <a16:creationId xmlns:a16="http://schemas.microsoft.com/office/drawing/2014/main" id="{9A89F796-D106-4AD3-8770-BFA4000F1874}"/>
              </a:ext>
            </a:extLst>
          </p:cNvPr>
          <p:cNvSpPr>
            <a:spLocks xmlns:a="http://schemas.openxmlformats.org/drawingml/2006/main" noGrp="1"/>
          </p:cNvSpPr>
          <p:nvPr/>
        </p:nvSpPr>
        <p:spPr>
          <a:xfrm xmlns:a="http://schemas.openxmlformats.org/drawingml/2006/main">
            <a:off x="5238750" y="3638550"/>
            <a:ext cx="19431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14213D"/>
                </a:solidFill>
                <a:latin typeface="Aptos"/>
                <a:ea typeface="Aptos"/>
                <a:cs typeface="Aptos"/>
              </a:defRPr>
            </a:pPr>
            <a:r>
              <a:rPr sz="1350" b="1">
                <a:solidFill>
                  <a:srgbClr val="14213D"/>
                </a:solidFill>
                <a:latin typeface="Aptos"/>
                <a:ea typeface="Aptos"/>
                <a:cs typeface="Aptos"/>
              </a:rPr>
              <a:t>median duration at 5%, 10% and 20% APY thresholds</a:t>
            </a:r>
          </a:p>
        </p:txBody>
      </p:sp>
      <p:sp>
        <p:nvSpPr>
          <p:cNvPr id="15" name="">
            <a:extLst xmlns:a="http://schemas.openxmlformats.org/drawingml/2006/main">
              <a:ext uri="{FF2B5EF4-FFF2-40B4-BE49-F238E27FC236}">
                <a16:creationId xmlns:a16="http://schemas.microsoft.com/office/drawing/2014/main" id="{9B5E5951-E754-4E04-A238-2584B1D79EB4}"/>
              </a:ext>
            </a:extLst>
          </p:cNvPr>
          <p:cNvSpPr>
            <a:spLocks xmlns:a="http://schemas.openxmlformats.org/drawingml/2006/main" noGrp="1"/>
          </p:cNvSpPr>
          <p:nvPr/>
        </p:nvSpPr>
        <p:spPr>
          <a:xfrm xmlns:a="http://schemas.openxmlformats.org/drawingml/2006/main">
            <a:off x="5219700" y="46291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125" b="0">
                <a:solidFill>
                  <a:srgbClr val="475467"/>
                </a:solidFill>
                <a:latin typeface="Aptos"/>
                <a:ea typeface="Aptos"/>
                <a:cs typeface="Aptos"/>
              </a:defRPr>
            </a:pPr>
            <a:r>
              <a:rPr sz="1125" b="0">
                <a:solidFill>
                  <a:srgbClr val="475467"/>
                </a:solidFill>
                <a:latin typeface="Aptos"/>
                <a:ea typeface="Aptos"/>
                <a:cs typeface="Aptos"/>
              </a:rPr>
              <a:t>Counts: 3,688 | 2,668 | 964</a:t>
            </a:r>
          </a:p>
        </p:txBody>
      </p:sp>
      <p:sp>
        <p:nvSpPr>
          <p:cNvPr id="16" name="">
            <a:extLst xmlns:a="http://schemas.openxmlformats.org/drawingml/2006/main">
              <a:ext uri="{FF2B5EF4-FFF2-40B4-BE49-F238E27FC236}">
                <a16:creationId xmlns:a16="http://schemas.microsoft.com/office/drawing/2014/main" id="{5291CB67-73A3-4F21-9353-DBB01C43012B}"/>
              </a:ext>
            </a:extLst>
          </p:cNvPr>
          <p:cNvSpPr>
            <a:spLocks xmlns:a="http://schemas.openxmlformats.org/drawingml/2006/main" noGrp="1"/>
          </p:cNvSpPr>
          <p:nvPr/>
        </p:nvSpPr>
        <p:spPr>
          <a:xfrm xmlns:a="http://schemas.openxmlformats.org/drawingml/2006/main">
            <a:off x="7943850" y="1771650"/>
            <a:ext cx="3810000" cy="4057650"/>
          </a:xfrm>
          <a:prstGeom xmlns:a="http://schemas.openxmlformats.org/drawingml/2006/main" prst="roundRect">
            <a:avLst>
              <a:gd name="adj" fmla="val 6500"/>
            </a:avLst>
          </a:prstGeom>
          <a:gradFill xmlns:a="http://schemas.openxmlformats.org/drawingml/2006/main">
            <a:gsLst>
              <a:gs pos="0">
                <a:srgbClr val="8B5CF6">
                  <a:alpha val="18000"/>
                </a:srgbClr>
              </a:gs>
              <a:gs pos="80000">
                <a:srgbClr val="FFFFFF"/>
              </a:gs>
            </a:gsLst>
            <a:lin ang="8700000"/>
          </a:gradFill>
          <a:ln xmlns:a="http://schemas.openxmlformats.org/drawingml/2006/main" w="9525">
            <a:solidFill>
              <a:srgbClr val="8B5CF6">
                <a:alpha val="30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7C6929D7-18BE-40C0-BE20-C5ED2595B150}"/>
              </a:ext>
            </a:extLst>
          </p:cNvPr>
          <p:cNvSpPr>
            <a:spLocks xmlns:a="http://schemas.openxmlformats.org/drawingml/2006/main" noGrp="1"/>
          </p:cNvSpPr>
          <p:nvPr/>
        </p:nvSpPr>
        <p:spPr>
          <a:xfrm xmlns:a="http://schemas.openxmlformats.org/drawingml/2006/main">
            <a:off x="8191500" y="2000250"/>
            <a:ext cx="1733550" cy="304800"/>
          </a:xfrm>
          <a:prstGeom xmlns:a="http://schemas.openxmlformats.org/drawingml/2006/main" prst="roundRect">
            <a:avLst>
              <a:gd name="adj" fmla="val 50000"/>
            </a:avLst>
          </a:prstGeom>
          <a:solidFill xmlns:a="http://schemas.openxmlformats.org/drawingml/2006/main">
            <a:srgbClr val="8B5CF6">
              <a:alpha val="16000"/>
            </a:srgbClr>
          </a:solidFill>
          <a:ln xmlns:a="http://schemas.openxmlformats.org/drawingml/2006/main" w="9525">
            <a:solidFill>
              <a:srgbClr val="8B5CF6">
                <a:alpha val="22000"/>
              </a:srgbClr>
            </a:solidFill>
            <a:prstDash val="solid"/>
          </a:ln>
        </p:spPr>
      </p:sp>
      <p:sp>
        <p:nvSpPr>
          <p:cNvPr id="18" name="">
            <a:extLst xmlns:a="http://schemas.openxmlformats.org/drawingml/2006/main">
              <a:ext uri="{FF2B5EF4-FFF2-40B4-BE49-F238E27FC236}">
                <a16:creationId xmlns:a16="http://schemas.microsoft.com/office/drawing/2014/main" id="{D17D1504-A176-4655-8BAA-7CAFFAA68138}"/>
              </a:ext>
            </a:extLst>
          </p:cNvPr>
          <p:cNvSpPr>
            <a:spLocks xmlns:a="http://schemas.openxmlformats.org/drawingml/2006/main" noGrp="1"/>
          </p:cNvSpPr>
          <p:nvPr/>
        </p:nvSpPr>
        <p:spPr>
          <a:xfrm xmlns:a="http://schemas.openxmlformats.org/drawingml/2006/main">
            <a:off x="8305800" y="2009775"/>
            <a:ext cx="1504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6941C6"/>
                </a:solidFill>
                <a:latin typeface="Aptos"/>
                <a:ea typeface="Aptos"/>
                <a:cs typeface="Aptos"/>
              </a:defRPr>
            </a:pPr>
            <a:r>
              <a:rPr sz="900" b="1">
                <a:solidFill>
                  <a:srgbClr val="6941C6"/>
                </a:solidFill>
                <a:latin typeface="Aptos"/>
                <a:ea typeface="Aptos"/>
                <a:cs typeface="Aptos"/>
              </a:rPr>
              <a:t>FIVE CHECK FAMILIES</a:t>
            </a:r>
          </a:p>
        </p:txBody>
      </p:sp>
      <p:sp>
        <p:nvSpPr>
          <p:cNvPr id="19" name="">
            <a:extLst xmlns:a="http://schemas.openxmlformats.org/drawingml/2006/main">
              <a:ext uri="{FF2B5EF4-FFF2-40B4-BE49-F238E27FC236}">
                <a16:creationId xmlns:a16="http://schemas.microsoft.com/office/drawing/2014/main" id="{291C4FA8-86D4-4BE8-8A13-827F1E4371F5}"/>
              </a:ext>
            </a:extLst>
          </p:cNvPr>
          <p:cNvSpPr>
            <a:spLocks xmlns:a="http://schemas.openxmlformats.org/drawingml/2006/main" noGrp="1"/>
          </p:cNvSpPr>
          <p:nvPr/>
        </p:nvSpPr>
        <p:spPr>
          <a:xfrm xmlns:a="http://schemas.openxmlformats.org/drawingml/2006/main">
            <a:off x="8210550" y="25717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4213D"/>
                </a:solidFill>
                <a:latin typeface="Aptos"/>
                <a:ea typeface="Aptos"/>
                <a:cs typeface="Aptos"/>
              </a:defRPr>
            </a:pPr>
            <a:r>
              <a:rPr sz="1275" b="1">
                <a:solidFill>
                  <a:srgbClr val="14213D"/>
                </a:solidFill>
                <a:latin typeface="Aptos"/>
                <a:ea typeface="Aptos"/>
                <a:cs typeface="Aptos"/>
              </a:rPr>
              <a:t>APY threshold</a:t>
            </a:r>
          </a:p>
        </p:txBody>
      </p:sp>
      <p:sp>
        <p:nvSpPr>
          <p:cNvPr id="20" name="">
            <a:extLst xmlns:a="http://schemas.openxmlformats.org/drawingml/2006/main">
              <a:ext uri="{FF2B5EF4-FFF2-40B4-BE49-F238E27FC236}">
                <a16:creationId xmlns:a16="http://schemas.microsoft.com/office/drawing/2014/main" id="{1CC2DA68-7325-48A6-8A9F-27F1BBB2DDAE}"/>
              </a:ext>
            </a:extLst>
          </p:cNvPr>
          <p:cNvSpPr>
            <a:spLocks xmlns:a="http://schemas.openxmlformats.org/drawingml/2006/main" noGrp="1"/>
          </p:cNvSpPr>
          <p:nvPr/>
        </p:nvSpPr>
        <p:spPr>
          <a:xfrm xmlns:a="http://schemas.openxmlformats.org/drawingml/2006/main">
            <a:off x="9753600" y="25717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475467"/>
                </a:solidFill>
                <a:latin typeface="Aptos"/>
                <a:ea typeface="Aptos"/>
                <a:cs typeface="Aptos"/>
              </a:defRPr>
            </a:pPr>
            <a:r>
              <a:rPr sz="1200" b="0">
                <a:solidFill>
                  <a:srgbClr val="475467"/>
                </a:solidFill>
                <a:latin typeface="Aptos"/>
                <a:ea typeface="Aptos"/>
                <a:cs typeface="Aptos"/>
              </a:rPr>
              <a:t>5%, 10%, 20%</a:t>
            </a:r>
          </a:p>
        </p:txBody>
      </p:sp>
      <p:sp>
        <p:nvSpPr>
          <p:cNvPr id="21" name="">
            <a:extLst xmlns:a="http://schemas.openxmlformats.org/drawingml/2006/main">
              <a:ext uri="{FF2B5EF4-FFF2-40B4-BE49-F238E27FC236}">
                <a16:creationId xmlns:a16="http://schemas.microsoft.com/office/drawing/2014/main" id="{ECB65C1D-7F4A-402D-A81A-31CDF6D6B1B1}"/>
              </a:ext>
            </a:extLst>
          </p:cNvPr>
          <p:cNvSpPr>
            <a:spLocks xmlns:a="http://schemas.openxmlformats.org/drawingml/2006/main" noGrp="1"/>
          </p:cNvSpPr>
          <p:nvPr/>
        </p:nvSpPr>
        <p:spPr>
          <a:xfrm xmlns:a="http://schemas.openxmlformats.org/drawingml/2006/main">
            <a:off x="8210550" y="2971800"/>
            <a:ext cx="3162300" cy="9525"/>
          </a:xfrm>
          <a:prstGeom xmlns:a="http://schemas.openxmlformats.org/drawingml/2006/main" prst="line">
            <a:avLst/>
          </a:prstGeom>
          <a:noFill xmlns:a="http://schemas.openxmlformats.org/drawingml/2006/main"/>
          <a:ln xmlns:a="http://schemas.openxmlformats.org/drawingml/2006/main" w="9525">
            <a:solidFill>
              <a:srgbClr val="8B5CF6">
                <a:alpha val="24000"/>
              </a:srgbClr>
            </a:solidFill>
            <a:prstDash val="solid"/>
          </a:ln>
        </p:spPr>
      </p:sp>
      <p:sp>
        <p:nvSpPr>
          <p:cNvPr id="22" name="">
            <a:extLst xmlns:a="http://schemas.openxmlformats.org/drawingml/2006/main">
              <a:ext uri="{FF2B5EF4-FFF2-40B4-BE49-F238E27FC236}">
                <a16:creationId xmlns:a16="http://schemas.microsoft.com/office/drawing/2014/main" id="{11A430F9-4D85-4CE2-BEA5-3D5384C1DE94}"/>
              </a:ext>
            </a:extLst>
          </p:cNvPr>
          <p:cNvSpPr>
            <a:spLocks xmlns:a="http://schemas.openxmlformats.org/drawingml/2006/main" noGrp="1"/>
          </p:cNvSpPr>
          <p:nvPr/>
        </p:nvSpPr>
        <p:spPr>
          <a:xfrm xmlns:a="http://schemas.openxmlformats.org/drawingml/2006/main">
            <a:off x="8210550" y="3152775"/>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4213D"/>
                </a:solidFill>
                <a:latin typeface="Aptos"/>
                <a:ea typeface="Aptos"/>
                <a:cs typeface="Aptos"/>
              </a:defRPr>
            </a:pPr>
            <a:r>
              <a:rPr sz="1275" b="1">
                <a:solidFill>
                  <a:srgbClr val="14213D"/>
                </a:solidFill>
                <a:latin typeface="Aptos"/>
                <a:ea typeface="Aptos"/>
                <a:cs typeface="Aptos"/>
              </a:rPr>
              <a:t>Minimum TVL</a:t>
            </a:r>
          </a:p>
        </p:txBody>
      </p:sp>
      <p:sp>
        <p:nvSpPr>
          <p:cNvPr id="23" name="">
            <a:extLst xmlns:a="http://schemas.openxmlformats.org/drawingml/2006/main">
              <a:ext uri="{FF2B5EF4-FFF2-40B4-BE49-F238E27FC236}">
                <a16:creationId xmlns:a16="http://schemas.microsoft.com/office/drawing/2014/main" id="{0E6415B3-5A64-4389-A3D5-9CC191D0F0C3}"/>
              </a:ext>
            </a:extLst>
          </p:cNvPr>
          <p:cNvSpPr>
            <a:spLocks xmlns:a="http://schemas.openxmlformats.org/drawingml/2006/main" noGrp="1"/>
          </p:cNvSpPr>
          <p:nvPr/>
        </p:nvSpPr>
        <p:spPr>
          <a:xfrm xmlns:a="http://schemas.openxmlformats.org/drawingml/2006/main">
            <a:off x="9753600" y="31527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475467"/>
                </a:solidFill>
                <a:latin typeface="Aptos"/>
                <a:ea typeface="Aptos"/>
                <a:cs typeface="Aptos"/>
              </a:defRPr>
            </a:pPr>
            <a:r>
              <a:rPr sz="1200" b="0">
                <a:solidFill>
                  <a:srgbClr val="475467"/>
                </a:solidFill>
                <a:latin typeface="Aptos"/>
                <a:ea typeface="Aptos"/>
                <a:cs typeface="Aptos"/>
              </a:rPr>
              <a:t>USD 0.5M, 1M, 5M</a:t>
            </a:r>
          </a:p>
        </p:txBody>
      </p:sp>
      <p:sp>
        <p:nvSpPr>
          <p:cNvPr id="24" name="">
            <a:extLst xmlns:a="http://schemas.openxmlformats.org/drawingml/2006/main">
              <a:ext uri="{FF2B5EF4-FFF2-40B4-BE49-F238E27FC236}">
                <a16:creationId xmlns:a16="http://schemas.microsoft.com/office/drawing/2014/main" id="{F5B0F8A4-1A62-4650-8DDC-6D1DE50866AE}"/>
              </a:ext>
            </a:extLst>
          </p:cNvPr>
          <p:cNvSpPr>
            <a:spLocks xmlns:a="http://schemas.openxmlformats.org/drawingml/2006/main" noGrp="1"/>
          </p:cNvSpPr>
          <p:nvPr/>
        </p:nvSpPr>
        <p:spPr>
          <a:xfrm xmlns:a="http://schemas.openxmlformats.org/drawingml/2006/main">
            <a:off x="8210550" y="3552825"/>
            <a:ext cx="3162300" cy="9525"/>
          </a:xfrm>
          <a:prstGeom xmlns:a="http://schemas.openxmlformats.org/drawingml/2006/main" prst="line">
            <a:avLst/>
          </a:prstGeom>
          <a:noFill xmlns:a="http://schemas.openxmlformats.org/drawingml/2006/main"/>
          <a:ln xmlns:a="http://schemas.openxmlformats.org/drawingml/2006/main" w="9525">
            <a:solidFill>
              <a:srgbClr val="8B5CF6">
                <a:alpha val="24000"/>
              </a:srgbClr>
            </a:solidFill>
            <a:prstDash val="solid"/>
          </a:ln>
        </p:spPr>
      </p:sp>
      <p:sp>
        <p:nvSpPr>
          <p:cNvPr id="25" name="">
            <a:extLst xmlns:a="http://schemas.openxmlformats.org/drawingml/2006/main">
              <a:ext uri="{FF2B5EF4-FFF2-40B4-BE49-F238E27FC236}">
                <a16:creationId xmlns:a16="http://schemas.microsoft.com/office/drawing/2014/main" id="{7F8D430D-8CD6-4D0C-B120-36119995D33F}"/>
              </a:ext>
            </a:extLst>
          </p:cNvPr>
          <p:cNvSpPr>
            <a:spLocks xmlns:a="http://schemas.openxmlformats.org/drawingml/2006/main" noGrp="1"/>
          </p:cNvSpPr>
          <p:nvPr/>
        </p:nvSpPr>
        <p:spPr>
          <a:xfrm xmlns:a="http://schemas.openxmlformats.org/drawingml/2006/main">
            <a:off x="8210550" y="37338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4213D"/>
                </a:solidFill>
                <a:latin typeface="Aptos"/>
                <a:ea typeface="Aptos"/>
                <a:cs typeface="Aptos"/>
              </a:defRPr>
            </a:pPr>
            <a:r>
              <a:rPr sz="1275" b="1">
                <a:solidFill>
                  <a:srgbClr val="14213D"/>
                </a:solidFill>
                <a:latin typeface="Aptos"/>
                <a:ea typeface="Aptos"/>
                <a:cs typeface="Aptos"/>
              </a:rPr>
              <a:t>History length</a:t>
            </a:r>
          </a:p>
        </p:txBody>
      </p:sp>
      <p:sp>
        <p:nvSpPr>
          <p:cNvPr id="26" name="">
            <a:extLst xmlns:a="http://schemas.openxmlformats.org/drawingml/2006/main">
              <a:ext uri="{FF2B5EF4-FFF2-40B4-BE49-F238E27FC236}">
                <a16:creationId xmlns:a16="http://schemas.microsoft.com/office/drawing/2014/main" id="{A574058B-8678-4CA1-9D2C-1B9BEE7A80D7}"/>
              </a:ext>
            </a:extLst>
          </p:cNvPr>
          <p:cNvSpPr>
            <a:spLocks xmlns:a="http://schemas.openxmlformats.org/drawingml/2006/main" noGrp="1"/>
          </p:cNvSpPr>
          <p:nvPr/>
        </p:nvSpPr>
        <p:spPr>
          <a:xfrm xmlns:a="http://schemas.openxmlformats.org/drawingml/2006/main">
            <a:off x="9753600" y="37338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475467"/>
                </a:solidFill>
                <a:latin typeface="Aptos"/>
                <a:ea typeface="Aptos"/>
                <a:cs typeface="Aptos"/>
              </a:defRPr>
            </a:pPr>
            <a:r>
              <a:rPr sz="1200" b="0">
                <a:solidFill>
                  <a:srgbClr val="475467"/>
                </a:solidFill>
                <a:latin typeface="Aptos"/>
                <a:ea typeface="Aptos"/>
                <a:cs typeface="Aptos"/>
              </a:rPr>
              <a:t>90, 180, 365 days</a:t>
            </a:r>
          </a:p>
        </p:txBody>
      </p:sp>
      <p:sp>
        <p:nvSpPr>
          <p:cNvPr id="27" name="">
            <a:extLst xmlns:a="http://schemas.openxmlformats.org/drawingml/2006/main">
              <a:ext uri="{FF2B5EF4-FFF2-40B4-BE49-F238E27FC236}">
                <a16:creationId xmlns:a16="http://schemas.microsoft.com/office/drawing/2014/main" id="{CDE270B6-C0D3-4372-BA15-4E9EB6264855}"/>
              </a:ext>
            </a:extLst>
          </p:cNvPr>
          <p:cNvSpPr>
            <a:spLocks xmlns:a="http://schemas.openxmlformats.org/drawingml/2006/main" noGrp="1"/>
          </p:cNvSpPr>
          <p:nvPr/>
        </p:nvSpPr>
        <p:spPr>
          <a:xfrm xmlns:a="http://schemas.openxmlformats.org/drawingml/2006/main">
            <a:off x="8210550" y="4133850"/>
            <a:ext cx="3162300" cy="9525"/>
          </a:xfrm>
          <a:prstGeom xmlns:a="http://schemas.openxmlformats.org/drawingml/2006/main" prst="line">
            <a:avLst/>
          </a:prstGeom>
          <a:noFill xmlns:a="http://schemas.openxmlformats.org/drawingml/2006/main"/>
          <a:ln xmlns:a="http://schemas.openxmlformats.org/drawingml/2006/main" w="9525">
            <a:solidFill>
              <a:srgbClr val="8B5CF6">
                <a:alpha val="24000"/>
              </a:srgbClr>
            </a:solidFill>
            <a:prstDash val="solid"/>
          </a:ln>
        </p:spPr>
      </p:sp>
      <p:sp>
        <p:nvSpPr>
          <p:cNvPr id="28" name="">
            <a:extLst xmlns:a="http://schemas.openxmlformats.org/drawingml/2006/main">
              <a:ext uri="{FF2B5EF4-FFF2-40B4-BE49-F238E27FC236}">
                <a16:creationId xmlns:a16="http://schemas.microsoft.com/office/drawing/2014/main" id="{AD18C0B0-0D44-4755-B6BE-8F9423D181C5}"/>
              </a:ext>
            </a:extLst>
          </p:cNvPr>
          <p:cNvSpPr>
            <a:spLocks xmlns:a="http://schemas.openxmlformats.org/drawingml/2006/main" noGrp="1"/>
          </p:cNvSpPr>
          <p:nvPr/>
        </p:nvSpPr>
        <p:spPr>
          <a:xfrm xmlns:a="http://schemas.openxmlformats.org/drawingml/2006/main">
            <a:off x="8210550" y="4314825"/>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4213D"/>
                </a:solidFill>
                <a:latin typeface="Aptos"/>
                <a:ea typeface="Aptos"/>
                <a:cs typeface="Aptos"/>
              </a:defRPr>
            </a:pPr>
            <a:r>
              <a:rPr sz="1275" b="1">
                <a:solidFill>
                  <a:srgbClr val="14213D"/>
                </a:solidFill>
                <a:latin typeface="Aptos"/>
                <a:ea typeface="Aptos"/>
                <a:cs typeface="Aptos"/>
              </a:rPr>
              <a:t>Episode gap</a:t>
            </a:r>
          </a:p>
        </p:txBody>
      </p:sp>
      <p:sp>
        <p:nvSpPr>
          <p:cNvPr id="29" name="">
            <a:extLst xmlns:a="http://schemas.openxmlformats.org/drawingml/2006/main">
              <a:ext uri="{FF2B5EF4-FFF2-40B4-BE49-F238E27FC236}">
                <a16:creationId xmlns:a16="http://schemas.microsoft.com/office/drawing/2014/main" id="{3950E031-A672-4DED-9720-100535F51774}"/>
              </a:ext>
            </a:extLst>
          </p:cNvPr>
          <p:cNvSpPr>
            <a:spLocks xmlns:a="http://schemas.openxmlformats.org/drawingml/2006/main" noGrp="1"/>
          </p:cNvSpPr>
          <p:nvPr/>
        </p:nvSpPr>
        <p:spPr>
          <a:xfrm xmlns:a="http://schemas.openxmlformats.org/drawingml/2006/main">
            <a:off x="9753600" y="43148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475467"/>
                </a:solidFill>
                <a:latin typeface="Aptos"/>
                <a:ea typeface="Aptos"/>
                <a:cs typeface="Aptos"/>
              </a:defRPr>
            </a:pPr>
            <a:r>
              <a:rPr sz="1200" b="0">
                <a:solidFill>
                  <a:srgbClr val="475467"/>
                </a:solidFill>
                <a:latin typeface="Aptos"/>
                <a:ea typeface="Aptos"/>
                <a:cs typeface="Aptos"/>
              </a:rPr>
              <a:t>0, 1, 3 days</a:t>
            </a:r>
          </a:p>
        </p:txBody>
      </p:sp>
      <p:sp>
        <p:nvSpPr>
          <p:cNvPr id="30" name="">
            <a:extLst xmlns:a="http://schemas.openxmlformats.org/drawingml/2006/main">
              <a:ext uri="{FF2B5EF4-FFF2-40B4-BE49-F238E27FC236}">
                <a16:creationId xmlns:a16="http://schemas.microsoft.com/office/drawing/2014/main" id="{35CF3B8A-44BC-4D97-B806-E6A8FEFB57B1}"/>
              </a:ext>
            </a:extLst>
          </p:cNvPr>
          <p:cNvSpPr>
            <a:spLocks xmlns:a="http://schemas.openxmlformats.org/drawingml/2006/main" noGrp="1"/>
          </p:cNvSpPr>
          <p:nvPr/>
        </p:nvSpPr>
        <p:spPr>
          <a:xfrm xmlns:a="http://schemas.openxmlformats.org/drawingml/2006/main">
            <a:off x="8210550" y="4714875"/>
            <a:ext cx="3162300" cy="9525"/>
          </a:xfrm>
          <a:prstGeom xmlns:a="http://schemas.openxmlformats.org/drawingml/2006/main" prst="line">
            <a:avLst/>
          </a:prstGeom>
          <a:noFill xmlns:a="http://schemas.openxmlformats.org/drawingml/2006/main"/>
          <a:ln xmlns:a="http://schemas.openxmlformats.org/drawingml/2006/main" w="9525">
            <a:solidFill>
              <a:srgbClr val="8B5CF6">
                <a:alpha val="24000"/>
              </a:srgbClr>
            </a:solidFill>
            <a:prstDash val="solid"/>
          </a:ln>
        </p:spPr>
      </p:sp>
      <p:sp>
        <p:nvSpPr>
          <p:cNvPr id="31" name="">
            <a:extLst xmlns:a="http://schemas.openxmlformats.org/drawingml/2006/main">
              <a:ext uri="{FF2B5EF4-FFF2-40B4-BE49-F238E27FC236}">
                <a16:creationId xmlns:a16="http://schemas.microsoft.com/office/drawing/2014/main" id="{1A5D7472-C16F-4467-9EB9-E59FA3068830}"/>
              </a:ext>
            </a:extLst>
          </p:cNvPr>
          <p:cNvSpPr>
            <a:spLocks xmlns:a="http://schemas.openxmlformats.org/drawingml/2006/main" noGrp="1"/>
          </p:cNvSpPr>
          <p:nvPr/>
        </p:nvSpPr>
        <p:spPr>
          <a:xfrm xmlns:a="http://schemas.openxmlformats.org/drawingml/2006/main">
            <a:off x="8210550" y="48958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4213D"/>
                </a:solidFill>
                <a:latin typeface="Aptos"/>
                <a:ea typeface="Aptos"/>
                <a:cs typeface="Aptos"/>
              </a:defRPr>
            </a:pPr>
            <a:r>
              <a:rPr sz="1275" b="1">
                <a:solidFill>
                  <a:srgbClr val="14213D"/>
                </a:solidFill>
                <a:latin typeface="Aptos"/>
                <a:ea typeface="Aptos"/>
                <a:cs typeface="Aptos"/>
              </a:rPr>
              <a:t>Winsorization</a:t>
            </a:r>
          </a:p>
        </p:txBody>
      </p:sp>
      <p:sp>
        <p:nvSpPr>
          <p:cNvPr id="32" name="">
            <a:extLst xmlns:a="http://schemas.openxmlformats.org/drawingml/2006/main">
              <a:ext uri="{FF2B5EF4-FFF2-40B4-BE49-F238E27FC236}">
                <a16:creationId xmlns:a16="http://schemas.microsoft.com/office/drawing/2014/main" id="{179FD616-B221-43D9-BA99-F26E3A5BBA4C}"/>
              </a:ext>
            </a:extLst>
          </p:cNvPr>
          <p:cNvSpPr>
            <a:spLocks xmlns:a="http://schemas.openxmlformats.org/drawingml/2006/main" noGrp="1"/>
          </p:cNvSpPr>
          <p:nvPr/>
        </p:nvSpPr>
        <p:spPr>
          <a:xfrm xmlns:a="http://schemas.openxmlformats.org/drawingml/2006/main">
            <a:off x="9753600" y="48958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475467"/>
                </a:solidFill>
                <a:latin typeface="Aptos"/>
                <a:ea typeface="Aptos"/>
                <a:cs typeface="Aptos"/>
              </a:defRPr>
            </a:pPr>
            <a:r>
              <a:rPr sz="1200" b="0">
                <a:solidFill>
                  <a:srgbClr val="475467"/>
                </a:solidFill>
                <a:latin typeface="Aptos"/>
                <a:ea typeface="Aptos"/>
                <a:cs typeface="Aptos"/>
              </a:rPr>
              <a:t>p1 to p99</a:t>
            </a:r>
          </a:p>
        </p:txBody>
      </p:sp>
      <p:sp>
        <p:nvSpPr>
          <p:cNvPr id="33" name="">
            <a:extLst xmlns:a="http://schemas.openxmlformats.org/drawingml/2006/main">
              <a:ext uri="{FF2B5EF4-FFF2-40B4-BE49-F238E27FC236}">
                <a16:creationId xmlns:a16="http://schemas.microsoft.com/office/drawing/2014/main" id="{901E49CD-A56B-4B74-96A7-0322998CC670}"/>
              </a:ext>
            </a:extLst>
          </p:cNvPr>
          <p:cNvSpPr>
            <a:spLocks xmlns:a="http://schemas.openxmlformats.org/drawingml/2006/main" noGrp="1"/>
          </p:cNvSpPr>
          <p:nvPr/>
        </p:nvSpPr>
        <p:spPr>
          <a:xfrm xmlns:a="http://schemas.openxmlformats.org/drawingml/2006/main">
            <a:off x="8210550" y="53911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14213D"/>
                </a:solidFill>
                <a:latin typeface="Aptos"/>
                <a:ea typeface="Aptos"/>
                <a:cs typeface="Aptos"/>
              </a:defRPr>
            </a:pPr>
            <a:r>
              <a:rPr sz="1050" b="1">
                <a:solidFill>
                  <a:srgbClr val="14213D"/>
                </a:solidFill>
                <a:latin typeface="Aptos"/>
                <a:ea typeface="Aptos"/>
                <a:cs typeface="Aptos"/>
              </a:rPr>
              <a:t>Filters change counts. Quoted APY remains distinct from realized return.</a:t>
            </a:r>
          </a:p>
        </p:txBody>
      </p:sp>
    </p:spTree>
    <p:extLst>
      <p:ext uri="{BB962C8B-B14F-4D97-AF65-F5344CB8AC3E}">
        <p14:creationId xmlns:p14="http://schemas.microsoft.com/office/powerpoint/2010/main" val="93503167"/>
      </p:ext>
    </p:extLst>
  </p:cSld>
</p:sld>
</file>

<file path=ppt/slides/slide13.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2D053473-C172-4814-88B5-0BAF352EE18F}"/>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FF6B9D">
              <a:alpha val="13000"/>
            </a:srgbClr>
          </a:solidFill>
          <a:ln xmlns:a="http://schemas.openxmlformats.org/drawingml/2006/main" w="9525">
            <a:solidFill>
              <a:srgbClr val="FF6B9D">
                <a:alpha val="22000"/>
              </a:srgbClr>
            </a:solidFill>
            <a:prstDash val="solid"/>
          </a:ln>
        </p:spPr>
      </p:sp>
      <p:sp>
        <p:nvSpPr>
          <p:cNvPr id="2" name="">
            <a:extLst xmlns:a="http://schemas.openxmlformats.org/drawingml/2006/main">
              <a:ext uri="{FF2B5EF4-FFF2-40B4-BE49-F238E27FC236}">
                <a16:creationId xmlns:a16="http://schemas.microsoft.com/office/drawing/2014/main" id="{F8B73123-F7D8-4DD2-9AF0-5FADFD672F33}"/>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B52159"/>
                </a:solidFill>
                <a:latin typeface="Aptos"/>
                <a:ea typeface="Aptos"/>
                <a:cs typeface="Aptos"/>
              </a:defRPr>
            </a:pPr>
            <a:r>
              <a:rPr sz="975" b="1">
                <a:solidFill>
                  <a:srgbClr val="B52159"/>
                </a:solidFill>
                <a:latin typeface="Aptos"/>
                <a:ea typeface="Aptos"/>
                <a:cs typeface="Aptos"/>
              </a:rPr>
              <a:t>LIMITS / ETHICS</a:t>
            </a:r>
          </a:p>
        </p:txBody>
      </p:sp>
      <p:sp>
        <p:nvSpPr>
          <p:cNvPr id="3" name="">
            <a:extLst xmlns:a="http://schemas.openxmlformats.org/drawingml/2006/main">
              <a:ext uri="{FF2B5EF4-FFF2-40B4-BE49-F238E27FC236}">
                <a16:creationId xmlns:a16="http://schemas.microsoft.com/office/drawing/2014/main" id="{0ACC8BE9-0C24-477F-9297-CAB826DB1E49}"/>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9525">
            <a:solidFill>
              <a:srgbClr val="FF6B9D">
                <a:alpha val="22000"/>
              </a:srgbClr>
            </a:solidFill>
            <a:prstDash val="solid"/>
          </a:ln>
        </p:spPr>
      </p:sp>
      <p:sp>
        <p:nvSpPr>
          <p:cNvPr id="4" name="">
            <a:extLst xmlns:a="http://schemas.openxmlformats.org/drawingml/2006/main">
              <a:ext uri="{FF2B5EF4-FFF2-40B4-BE49-F238E27FC236}">
                <a16:creationId xmlns:a16="http://schemas.microsoft.com/office/drawing/2014/main" id="{81766C86-9AFC-482A-B1D3-C2C0DEBDF0D1}"/>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13</a:t>
            </a:r>
          </a:p>
        </p:txBody>
      </p:sp>
      <p:sp>
        <p:nvSpPr>
          <p:cNvPr id="5" name="">
            <a:extLst xmlns:a="http://schemas.openxmlformats.org/drawingml/2006/main">
              <a:ext uri="{FF2B5EF4-FFF2-40B4-BE49-F238E27FC236}">
                <a16:creationId xmlns:a16="http://schemas.microsoft.com/office/drawing/2014/main" id="{08228311-D7AD-4464-B4F7-3E01C6A55BB9}"/>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475467"/>
                </a:solidFill>
                <a:latin typeface="Aptos"/>
                <a:ea typeface="Aptos"/>
                <a:cs typeface="Aptos"/>
              </a:defRPr>
            </a:pPr>
            <a:r>
              <a:rPr sz="825" b="1">
                <a:solidFill>
                  <a:srgbClr val="475467"/>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D7AD01DD-7C47-4137-90E6-363BC0843C0C}"/>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DA467F4C-55B1-4D35-864E-37CB585E5D3A}"/>
              </a:ext>
            </a:extLst>
          </p:cNvPr>
          <p:cNvSpPr>
            <a:spLocks xmlns:a="http://schemas.openxmlformats.org/drawingml/2006/main" noGrp="1"/>
          </p:cNvSpPr>
          <p:nvPr/>
        </p:nvSpPr>
        <p:spPr>
          <a:xfrm xmlns:a="http://schemas.openxmlformats.org/drawingml/2006/main">
            <a:off x="8420100" y="6486525"/>
            <a:ext cx="2549338" cy="3810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0">
            <a:solidFill>
              <a:srgbClr val="FF6B9D"/>
            </a:solidFill>
            <a:prstDash val="solid"/>
          </a:ln>
        </p:spPr>
      </p:sp>
      <p:sp>
        <p:nvSpPr>
          <p:cNvPr id="8" name="">
            <a:extLst xmlns:a="http://schemas.openxmlformats.org/drawingml/2006/main">
              <a:ext uri="{FF2B5EF4-FFF2-40B4-BE49-F238E27FC236}">
                <a16:creationId xmlns:a16="http://schemas.microsoft.com/office/drawing/2014/main" id="{76C6BDE5-591C-4B86-B193-4EE9590B3E67}"/>
              </a:ext>
            </a:extLst>
          </p:cNvPr>
          <p:cNvSpPr>
            <a:spLocks xmlns:a="http://schemas.openxmlformats.org/drawingml/2006/main" noGrp="1"/>
          </p:cNvSpPr>
          <p:nvPr/>
        </p:nvSpPr>
        <p:spPr>
          <a:xfrm xmlns:a="http://schemas.openxmlformats.org/drawingml/2006/main">
            <a:off x="419100" y="76200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4213D"/>
                </a:solidFill>
                <a:latin typeface="Aptos"/>
                <a:ea typeface="Aptos"/>
                <a:cs typeface="Aptos"/>
              </a:defRPr>
            </a:pPr>
            <a:r>
              <a:rPr sz="3000" b="1">
                <a:solidFill>
                  <a:srgbClr val="14213D"/>
                </a:solidFill>
                <a:latin typeface="Aptos"/>
                <a:ea typeface="Aptos"/>
                <a:cs typeface="Aptos"/>
              </a:rPr>
              <a:t>Market context is not total protocol risk</a:t>
            </a:r>
          </a:p>
        </p:txBody>
      </p:sp>
      <p:sp>
        <p:nvSpPr>
          <p:cNvPr id="9" name="">
            <a:extLst xmlns:a="http://schemas.openxmlformats.org/drawingml/2006/main">
              <a:ext uri="{FF2B5EF4-FFF2-40B4-BE49-F238E27FC236}">
                <a16:creationId xmlns:a16="http://schemas.microsoft.com/office/drawing/2014/main" id="{F8C05EDA-1393-4BE5-ABB8-325B494E5718}"/>
              </a:ext>
            </a:extLst>
          </p:cNvPr>
          <p:cNvSpPr>
            <a:spLocks xmlns:a="http://schemas.openxmlformats.org/drawingml/2006/main" noGrp="1"/>
          </p:cNvSpPr>
          <p:nvPr/>
        </p:nvSpPr>
        <p:spPr>
          <a:xfrm xmlns:a="http://schemas.openxmlformats.org/drawingml/2006/main">
            <a:off x="419100" y="1333500"/>
            <a:ext cx="914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475467"/>
                </a:solidFill>
                <a:latin typeface="Aptos"/>
                <a:ea typeface="Aptos"/>
                <a:cs typeface="Aptos"/>
              </a:defRPr>
            </a:pPr>
            <a:r>
              <a:rPr sz="1350" b="0">
                <a:solidFill>
                  <a:srgbClr val="475467"/>
                </a:solidFill>
                <a:latin typeface="Aptos"/>
                <a:ea typeface="Aptos"/>
                <a:cs typeface="Aptos"/>
              </a:rPr>
              <a:t>What does the project deliberately not claim?</a:t>
            </a:r>
          </a:p>
        </p:txBody>
      </p:sp>
      <p:sp>
        <p:nvSpPr>
          <p:cNvPr id="10" name="">
            <a:extLst xmlns:a="http://schemas.openxmlformats.org/drawingml/2006/main">
              <a:ext uri="{FF2B5EF4-FFF2-40B4-BE49-F238E27FC236}">
                <a16:creationId xmlns:a16="http://schemas.microsoft.com/office/drawing/2014/main" id="{C1FF9B89-9FC8-4D07-9563-7F09CF677C1C}"/>
              </a:ext>
            </a:extLst>
          </p:cNvPr>
          <p:cNvSpPr>
            <a:spLocks xmlns:a="http://schemas.openxmlformats.org/drawingml/2006/main" noGrp="1"/>
          </p:cNvSpPr>
          <p:nvPr/>
        </p:nvSpPr>
        <p:spPr>
          <a:xfrm xmlns:a="http://schemas.openxmlformats.org/drawingml/2006/main">
            <a:off x="419100" y="1866900"/>
            <a:ext cx="5353050" cy="3752850"/>
          </a:xfrm>
          <a:prstGeom xmlns:a="http://schemas.openxmlformats.org/drawingml/2006/main" prst="roundRect">
            <a:avLst>
              <a:gd name="adj" fmla="val 7107"/>
            </a:avLst>
          </a:prstGeom>
          <a:gradFill xmlns:a="http://schemas.openxmlformats.org/drawingml/2006/main">
            <a:gsLst>
              <a:gs pos="0">
                <a:srgbClr val="2BBBAD">
                  <a:alpha val="16000"/>
                </a:srgbClr>
              </a:gs>
              <a:gs pos="82000">
                <a:srgbClr val="FFFFFF"/>
              </a:gs>
            </a:gsLst>
            <a:lin ang="8700000"/>
          </a:gradFill>
          <a:ln xmlns:a="http://schemas.openxmlformats.org/drawingml/2006/main" w="9525">
            <a:solidFill>
              <a:srgbClr val="2BBBAD">
                <a:alpha val="28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20899FD6-8A5F-4F6B-96F9-259220AE5629}"/>
              </a:ext>
            </a:extLst>
          </p:cNvPr>
          <p:cNvSpPr>
            <a:spLocks xmlns:a="http://schemas.openxmlformats.org/drawingml/2006/main" noGrp="1"/>
          </p:cNvSpPr>
          <p:nvPr/>
        </p:nvSpPr>
        <p:spPr>
          <a:xfrm xmlns:a="http://schemas.openxmlformats.org/drawingml/2006/main">
            <a:off x="685800" y="2114550"/>
            <a:ext cx="1619250" cy="323850"/>
          </a:xfrm>
          <a:prstGeom xmlns:a="http://schemas.openxmlformats.org/drawingml/2006/main" prst="roundRect">
            <a:avLst>
              <a:gd name="adj" fmla="val 50000"/>
            </a:avLst>
          </a:prstGeom>
          <a:solidFill xmlns:a="http://schemas.openxmlformats.org/drawingml/2006/main">
            <a:srgbClr val="2BBBAD">
              <a:alpha val="16000"/>
            </a:srgbClr>
          </a:solidFill>
          <a:ln xmlns:a="http://schemas.openxmlformats.org/drawingml/2006/main" w="9525">
            <a:solidFill>
              <a:srgbClr val="2BBBAD">
                <a:alpha val="22000"/>
              </a:srgbClr>
            </a:solidFill>
            <a:prstDash val="solid"/>
          </a:ln>
        </p:spPr>
      </p:sp>
      <p:sp>
        <p:nvSpPr>
          <p:cNvPr id="12" name="">
            <a:extLst xmlns:a="http://schemas.openxmlformats.org/drawingml/2006/main">
              <a:ext uri="{FF2B5EF4-FFF2-40B4-BE49-F238E27FC236}">
                <a16:creationId xmlns:a16="http://schemas.microsoft.com/office/drawing/2014/main" id="{B6A53B70-8BB9-4446-8F2A-A0C724FE9C12}"/>
              </a:ext>
            </a:extLst>
          </p:cNvPr>
          <p:cNvSpPr>
            <a:spLocks xmlns:a="http://schemas.openxmlformats.org/drawingml/2006/main" noGrp="1"/>
          </p:cNvSpPr>
          <p:nvPr/>
        </p:nvSpPr>
        <p:spPr>
          <a:xfrm xmlns:a="http://schemas.openxmlformats.org/drawingml/2006/main">
            <a:off x="800100" y="2124075"/>
            <a:ext cx="13906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08796F"/>
                </a:solidFill>
                <a:latin typeface="Aptos"/>
                <a:ea typeface="Aptos"/>
                <a:cs typeface="Aptos"/>
              </a:defRPr>
            </a:pPr>
            <a:r>
              <a:rPr sz="975" b="1">
                <a:solidFill>
                  <a:srgbClr val="08796F"/>
                </a:solidFill>
                <a:latin typeface="Aptos"/>
                <a:ea typeface="Aptos"/>
                <a:cs typeface="Aptos"/>
              </a:rPr>
              <a:t>MEASURED HERE</a:t>
            </a:r>
          </a:p>
        </p:txBody>
      </p:sp>
      <p:sp>
        <p:nvSpPr>
          <p:cNvPr id="13" name="">
            <a:extLst xmlns:a="http://schemas.openxmlformats.org/drawingml/2006/main">
              <a:ext uri="{FF2B5EF4-FFF2-40B4-BE49-F238E27FC236}">
                <a16:creationId xmlns:a16="http://schemas.microsoft.com/office/drawing/2014/main" id="{3BEF712E-F737-44F1-9511-1A96D984C418}"/>
              </a:ext>
            </a:extLst>
          </p:cNvPr>
          <p:cNvSpPr>
            <a:spLocks xmlns:a="http://schemas.openxmlformats.org/drawingml/2006/main" noGrp="1"/>
          </p:cNvSpPr>
          <p:nvPr/>
        </p:nvSpPr>
        <p:spPr>
          <a:xfrm xmlns:a="http://schemas.openxmlformats.org/drawingml/2006/main">
            <a:off x="685800" y="2647950"/>
            <a:ext cx="409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4213D"/>
                </a:solidFill>
                <a:latin typeface="Aptos"/>
                <a:ea typeface="Aptos"/>
                <a:cs typeface="Aptos"/>
              </a:defRPr>
            </a:pPr>
            <a:r>
              <a:rPr sz="2025" b="1">
                <a:solidFill>
                  <a:srgbClr val="14213D"/>
                </a:solidFill>
                <a:latin typeface="Aptos"/>
                <a:ea typeface="Aptos"/>
                <a:cs typeface="Aptos"/>
              </a:rPr>
              <a:t>What the evidence supports</a:t>
            </a:r>
          </a:p>
        </p:txBody>
      </p:sp>
      <p:sp>
        <p:nvSpPr>
          <p:cNvPr id="14" name="">
            <a:extLst xmlns:a="http://schemas.openxmlformats.org/drawingml/2006/main">
              <a:ext uri="{FF2B5EF4-FFF2-40B4-BE49-F238E27FC236}">
                <a16:creationId xmlns:a16="http://schemas.microsoft.com/office/drawing/2014/main" id="{B14EB42C-12FB-4C41-8088-A5487673EE68}"/>
              </a:ext>
            </a:extLst>
          </p:cNvPr>
          <p:cNvSpPr>
            <a:spLocks xmlns:a="http://schemas.openxmlformats.org/drawingml/2006/main" noGrp="1"/>
          </p:cNvSpPr>
          <p:nvPr/>
        </p:nvSpPr>
        <p:spPr>
          <a:xfrm xmlns:a="http://schemas.openxmlformats.org/drawingml/2006/main">
            <a:off x="723900" y="3305175"/>
            <a:ext cx="114300" cy="114300"/>
          </a:xfrm>
          <a:prstGeom xmlns:a="http://schemas.openxmlformats.org/drawingml/2006/main" prst="roundRect">
            <a:avLst>
              <a:gd name="adj" fmla="val 50000"/>
            </a:avLst>
          </a:prstGeom>
          <a:solidFill xmlns:a="http://schemas.openxmlformats.org/drawingml/2006/main">
            <a:srgbClr val="2BBBAD"/>
          </a:solidFill>
          <a:ln xmlns:a="http://schemas.openxmlformats.org/drawingml/2006/main" w="0">
            <a:solidFill>
              <a:srgbClr val="2BBBAD"/>
            </a:solidFill>
            <a:prstDash val="solid"/>
          </a:ln>
        </p:spPr>
      </p:sp>
      <p:sp>
        <p:nvSpPr>
          <p:cNvPr id="15" name="">
            <a:extLst xmlns:a="http://schemas.openxmlformats.org/drawingml/2006/main">
              <a:ext uri="{FF2B5EF4-FFF2-40B4-BE49-F238E27FC236}">
                <a16:creationId xmlns:a16="http://schemas.microsoft.com/office/drawing/2014/main" id="{61CFF749-C3E1-4238-BE66-FAD973A95034}"/>
              </a:ext>
            </a:extLst>
          </p:cNvPr>
          <p:cNvSpPr>
            <a:spLocks xmlns:a="http://schemas.openxmlformats.org/drawingml/2006/main" noGrp="1"/>
          </p:cNvSpPr>
          <p:nvPr/>
        </p:nvSpPr>
        <p:spPr>
          <a:xfrm xmlns:a="http://schemas.openxmlformats.org/drawingml/2006/main">
            <a:off x="990600" y="32575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4213D"/>
                </a:solidFill>
                <a:latin typeface="Aptos"/>
                <a:ea typeface="Aptos"/>
                <a:cs typeface="Aptos"/>
              </a:defRPr>
            </a:pPr>
            <a:r>
              <a:rPr sz="1350" b="0">
                <a:solidFill>
                  <a:srgbClr val="14213D"/>
                </a:solidFill>
                <a:latin typeface="Aptos"/>
                <a:ea typeface="Aptos"/>
                <a:cs typeface="Aptos"/>
              </a:rPr>
              <a:t>Quoted APY level and persistence</a:t>
            </a:r>
          </a:p>
        </p:txBody>
      </p:sp>
      <p:sp>
        <p:nvSpPr>
          <p:cNvPr id="16" name="">
            <a:extLst xmlns:a="http://schemas.openxmlformats.org/drawingml/2006/main">
              <a:ext uri="{FF2B5EF4-FFF2-40B4-BE49-F238E27FC236}">
                <a16:creationId xmlns:a16="http://schemas.microsoft.com/office/drawing/2014/main" id="{EA33EE9D-A922-4BE4-AAE9-32FACA7270F4}"/>
              </a:ext>
            </a:extLst>
          </p:cNvPr>
          <p:cNvSpPr>
            <a:spLocks xmlns:a="http://schemas.openxmlformats.org/drawingml/2006/main" noGrp="1"/>
          </p:cNvSpPr>
          <p:nvPr/>
        </p:nvSpPr>
        <p:spPr>
          <a:xfrm xmlns:a="http://schemas.openxmlformats.org/drawingml/2006/main">
            <a:off x="723900" y="3743325"/>
            <a:ext cx="114300" cy="114300"/>
          </a:xfrm>
          <a:prstGeom xmlns:a="http://schemas.openxmlformats.org/drawingml/2006/main" prst="roundRect">
            <a:avLst>
              <a:gd name="adj" fmla="val 50000"/>
            </a:avLst>
          </a:prstGeom>
          <a:solidFill xmlns:a="http://schemas.openxmlformats.org/drawingml/2006/main">
            <a:srgbClr val="2BBBAD"/>
          </a:solidFill>
          <a:ln xmlns:a="http://schemas.openxmlformats.org/drawingml/2006/main" w="0">
            <a:solidFill>
              <a:srgbClr val="2BBBAD"/>
            </a:solidFill>
            <a:prstDash val="solid"/>
          </a:ln>
        </p:spPr>
      </p:sp>
      <p:sp>
        <p:nvSpPr>
          <p:cNvPr id="17" name="">
            <a:extLst xmlns:a="http://schemas.openxmlformats.org/drawingml/2006/main">
              <a:ext uri="{FF2B5EF4-FFF2-40B4-BE49-F238E27FC236}">
                <a16:creationId xmlns:a16="http://schemas.microsoft.com/office/drawing/2014/main" id="{F64EFD2C-9455-4195-BD76-A1CFB73E35D3}"/>
              </a:ext>
            </a:extLst>
          </p:cNvPr>
          <p:cNvSpPr>
            <a:spLocks xmlns:a="http://schemas.openxmlformats.org/drawingml/2006/main" noGrp="1"/>
          </p:cNvSpPr>
          <p:nvPr/>
        </p:nvSpPr>
        <p:spPr>
          <a:xfrm xmlns:a="http://schemas.openxmlformats.org/drawingml/2006/main">
            <a:off x="990600" y="36957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4213D"/>
                </a:solidFill>
                <a:latin typeface="Aptos"/>
                <a:ea typeface="Aptos"/>
                <a:cs typeface="Aptos"/>
              </a:defRPr>
            </a:pPr>
            <a:r>
              <a:rPr sz="1350" b="0">
                <a:solidFill>
                  <a:srgbClr val="14213D"/>
                </a:solidFill>
                <a:latin typeface="Aptos"/>
                <a:ea typeface="Aptos"/>
                <a:cs typeface="Aptos"/>
              </a:rPr>
              <a:t>Observed TVL and reward components</a:t>
            </a:r>
          </a:p>
        </p:txBody>
      </p:sp>
      <p:sp>
        <p:nvSpPr>
          <p:cNvPr id="18" name="">
            <a:extLst xmlns:a="http://schemas.openxmlformats.org/drawingml/2006/main">
              <a:ext uri="{FF2B5EF4-FFF2-40B4-BE49-F238E27FC236}">
                <a16:creationId xmlns:a16="http://schemas.microsoft.com/office/drawing/2014/main" id="{7C971F3D-3E49-4856-930F-04D5F8C7FAD8}"/>
              </a:ext>
            </a:extLst>
          </p:cNvPr>
          <p:cNvSpPr>
            <a:spLocks xmlns:a="http://schemas.openxmlformats.org/drawingml/2006/main" noGrp="1"/>
          </p:cNvSpPr>
          <p:nvPr/>
        </p:nvSpPr>
        <p:spPr>
          <a:xfrm xmlns:a="http://schemas.openxmlformats.org/drawingml/2006/main">
            <a:off x="723900" y="4181475"/>
            <a:ext cx="114300" cy="114300"/>
          </a:xfrm>
          <a:prstGeom xmlns:a="http://schemas.openxmlformats.org/drawingml/2006/main" prst="roundRect">
            <a:avLst>
              <a:gd name="adj" fmla="val 50000"/>
            </a:avLst>
          </a:prstGeom>
          <a:solidFill xmlns:a="http://schemas.openxmlformats.org/drawingml/2006/main">
            <a:srgbClr val="2BBBAD"/>
          </a:solidFill>
          <a:ln xmlns:a="http://schemas.openxmlformats.org/drawingml/2006/main" w="0">
            <a:solidFill>
              <a:srgbClr val="2BBBAD"/>
            </a:solidFill>
            <a:prstDash val="solid"/>
          </a:ln>
        </p:spPr>
      </p:sp>
      <p:sp>
        <p:nvSpPr>
          <p:cNvPr id="19" name="">
            <a:extLst xmlns:a="http://schemas.openxmlformats.org/drawingml/2006/main">
              <a:ext uri="{FF2B5EF4-FFF2-40B4-BE49-F238E27FC236}">
                <a16:creationId xmlns:a16="http://schemas.microsoft.com/office/drawing/2014/main" id="{8F7C2A89-49F9-4C66-828B-0441C3959E6F}"/>
              </a:ext>
            </a:extLst>
          </p:cNvPr>
          <p:cNvSpPr>
            <a:spLocks xmlns:a="http://schemas.openxmlformats.org/drawingml/2006/main" noGrp="1"/>
          </p:cNvSpPr>
          <p:nvPr/>
        </p:nvSpPr>
        <p:spPr>
          <a:xfrm xmlns:a="http://schemas.openxmlformats.org/drawingml/2006/main">
            <a:off x="990600" y="41338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4213D"/>
                </a:solidFill>
                <a:latin typeface="Aptos"/>
                <a:ea typeface="Aptos"/>
                <a:cs typeface="Aptos"/>
              </a:defRPr>
            </a:pPr>
            <a:r>
              <a:rPr sz="1350" b="0">
                <a:solidFill>
                  <a:srgbClr val="14213D"/>
                </a:solidFill>
                <a:latin typeface="Aptos"/>
                <a:ea typeface="Aptos"/>
                <a:cs typeface="Aptos"/>
              </a:rPr>
              <a:t>Top-k membership stability</a:t>
            </a:r>
          </a:p>
        </p:txBody>
      </p:sp>
      <p:sp>
        <p:nvSpPr>
          <p:cNvPr id="20" name="">
            <a:extLst xmlns:a="http://schemas.openxmlformats.org/drawingml/2006/main">
              <a:ext uri="{FF2B5EF4-FFF2-40B4-BE49-F238E27FC236}">
                <a16:creationId xmlns:a16="http://schemas.microsoft.com/office/drawing/2014/main" id="{4C862AEA-F305-4423-BD14-E4C8D68541A8}"/>
              </a:ext>
            </a:extLst>
          </p:cNvPr>
          <p:cNvSpPr>
            <a:spLocks xmlns:a="http://schemas.openxmlformats.org/drawingml/2006/main" noGrp="1"/>
          </p:cNvSpPr>
          <p:nvPr/>
        </p:nvSpPr>
        <p:spPr>
          <a:xfrm xmlns:a="http://schemas.openxmlformats.org/drawingml/2006/main">
            <a:off x="723900" y="4619625"/>
            <a:ext cx="114300" cy="114300"/>
          </a:xfrm>
          <a:prstGeom xmlns:a="http://schemas.openxmlformats.org/drawingml/2006/main" prst="roundRect">
            <a:avLst>
              <a:gd name="adj" fmla="val 50000"/>
            </a:avLst>
          </a:prstGeom>
          <a:solidFill xmlns:a="http://schemas.openxmlformats.org/drawingml/2006/main">
            <a:srgbClr val="2BBBAD"/>
          </a:solidFill>
          <a:ln xmlns:a="http://schemas.openxmlformats.org/drawingml/2006/main" w="0">
            <a:solidFill>
              <a:srgbClr val="2BBBAD"/>
            </a:solidFill>
            <a:prstDash val="solid"/>
          </a:ln>
        </p:spPr>
      </p:sp>
      <p:sp>
        <p:nvSpPr>
          <p:cNvPr id="21" name="">
            <a:extLst xmlns:a="http://schemas.openxmlformats.org/drawingml/2006/main">
              <a:ext uri="{FF2B5EF4-FFF2-40B4-BE49-F238E27FC236}">
                <a16:creationId xmlns:a16="http://schemas.microsoft.com/office/drawing/2014/main" id="{678A7AFF-5A33-4F7C-960F-5A92DD874908}"/>
              </a:ext>
            </a:extLst>
          </p:cNvPr>
          <p:cNvSpPr>
            <a:spLocks xmlns:a="http://schemas.openxmlformats.org/drawingml/2006/main" noGrp="1"/>
          </p:cNvSpPr>
          <p:nvPr/>
        </p:nvSpPr>
        <p:spPr>
          <a:xfrm xmlns:a="http://schemas.openxmlformats.org/drawingml/2006/main">
            <a:off x="990600" y="4572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4213D"/>
                </a:solidFill>
                <a:latin typeface="Aptos"/>
                <a:ea typeface="Aptos"/>
                <a:cs typeface="Aptos"/>
              </a:defRPr>
            </a:pPr>
            <a:r>
              <a:rPr sz="1350" b="0">
                <a:solidFill>
                  <a:srgbClr val="14213D"/>
                </a:solidFill>
                <a:latin typeface="Aptos"/>
                <a:ea typeface="Aptos"/>
                <a:cs typeface="Aptos"/>
              </a:rPr>
              <a:t>Stablecoin peg context</a:t>
            </a:r>
          </a:p>
        </p:txBody>
      </p:sp>
      <p:sp>
        <p:nvSpPr>
          <p:cNvPr id="22" name="">
            <a:extLst xmlns:a="http://schemas.openxmlformats.org/drawingml/2006/main">
              <a:ext uri="{FF2B5EF4-FFF2-40B4-BE49-F238E27FC236}">
                <a16:creationId xmlns:a16="http://schemas.microsoft.com/office/drawing/2014/main" id="{B845ABCD-CC25-41F5-A747-43D4E54A0328}"/>
              </a:ext>
            </a:extLst>
          </p:cNvPr>
          <p:cNvSpPr>
            <a:spLocks xmlns:a="http://schemas.openxmlformats.org/drawingml/2006/main" noGrp="1"/>
          </p:cNvSpPr>
          <p:nvPr/>
        </p:nvSpPr>
        <p:spPr>
          <a:xfrm xmlns:a="http://schemas.openxmlformats.org/drawingml/2006/main">
            <a:off x="723900" y="5057775"/>
            <a:ext cx="114300" cy="114300"/>
          </a:xfrm>
          <a:prstGeom xmlns:a="http://schemas.openxmlformats.org/drawingml/2006/main" prst="roundRect">
            <a:avLst>
              <a:gd name="adj" fmla="val 50000"/>
            </a:avLst>
          </a:prstGeom>
          <a:solidFill xmlns:a="http://schemas.openxmlformats.org/drawingml/2006/main">
            <a:srgbClr val="2BBBAD"/>
          </a:solidFill>
          <a:ln xmlns:a="http://schemas.openxmlformats.org/drawingml/2006/main" w="0">
            <a:solidFill>
              <a:srgbClr val="2BBBAD"/>
            </a:solidFill>
            <a:prstDash val="solid"/>
          </a:ln>
        </p:spPr>
      </p:sp>
      <p:sp>
        <p:nvSpPr>
          <p:cNvPr id="23" name="">
            <a:extLst xmlns:a="http://schemas.openxmlformats.org/drawingml/2006/main">
              <a:ext uri="{FF2B5EF4-FFF2-40B4-BE49-F238E27FC236}">
                <a16:creationId xmlns:a16="http://schemas.microsoft.com/office/drawing/2014/main" id="{67F8DC2E-FD38-4D59-9E44-37D86955AE93}"/>
              </a:ext>
            </a:extLst>
          </p:cNvPr>
          <p:cNvSpPr>
            <a:spLocks xmlns:a="http://schemas.openxmlformats.org/drawingml/2006/main" noGrp="1"/>
          </p:cNvSpPr>
          <p:nvPr/>
        </p:nvSpPr>
        <p:spPr>
          <a:xfrm xmlns:a="http://schemas.openxmlformats.org/drawingml/2006/main">
            <a:off x="990600" y="50101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4213D"/>
                </a:solidFill>
                <a:latin typeface="Aptos"/>
                <a:ea typeface="Aptos"/>
                <a:cs typeface="Aptos"/>
              </a:defRPr>
            </a:pPr>
            <a:r>
              <a:rPr sz="1350" b="0">
                <a:solidFill>
                  <a:srgbClr val="14213D"/>
                </a:solidFill>
                <a:latin typeface="Aptos"/>
                <a:ea typeface="Aptos"/>
                <a:cs typeface="Aptos"/>
              </a:rPr>
              <a:t>Data quality and sensitivity checks</a:t>
            </a:r>
          </a:p>
        </p:txBody>
      </p:sp>
      <p:sp>
        <p:nvSpPr>
          <p:cNvPr id="24" name="">
            <a:extLst xmlns:a="http://schemas.openxmlformats.org/drawingml/2006/main">
              <a:ext uri="{FF2B5EF4-FFF2-40B4-BE49-F238E27FC236}">
                <a16:creationId xmlns:a16="http://schemas.microsoft.com/office/drawing/2014/main" id="{D3EC96FA-59CF-4817-95A2-30E74C825E74}"/>
              </a:ext>
            </a:extLst>
          </p:cNvPr>
          <p:cNvSpPr>
            <a:spLocks xmlns:a="http://schemas.openxmlformats.org/drawingml/2006/main" noGrp="1"/>
          </p:cNvSpPr>
          <p:nvPr/>
        </p:nvSpPr>
        <p:spPr>
          <a:xfrm xmlns:a="http://schemas.openxmlformats.org/drawingml/2006/main">
            <a:off x="5981700" y="1866900"/>
            <a:ext cx="5772150" cy="3752850"/>
          </a:xfrm>
          <a:prstGeom xmlns:a="http://schemas.openxmlformats.org/drawingml/2006/main" prst="roundRect">
            <a:avLst>
              <a:gd name="adj" fmla="val 7107"/>
            </a:avLst>
          </a:prstGeom>
          <a:gradFill xmlns:a="http://schemas.openxmlformats.org/drawingml/2006/main">
            <a:gsLst>
              <a:gs pos="0">
                <a:srgbClr val="FF6B9D">
                  <a:alpha val="17000"/>
                </a:srgbClr>
              </a:gs>
              <a:gs pos="82000">
                <a:srgbClr val="FFFFFF"/>
              </a:gs>
            </a:gsLst>
            <a:lin ang="8700000"/>
          </a:gradFill>
          <a:ln xmlns:a="http://schemas.openxmlformats.org/drawingml/2006/main" w="9525">
            <a:solidFill>
              <a:srgbClr val="FF6B9D">
                <a:alpha val="28000"/>
              </a:srgbClr>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A3913198-5231-4E77-AE7D-8E8548E83EF8}"/>
              </a:ext>
            </a:extLst>
          </p:cNvPr>
          <p:cNvSpPr>
            <a:spLocks xmlns:a="http://schemas.openxmlformats.org/drawingml/2006/main" noGrp="1"/>
          </p:cNvSpPr>
          <p:nvPr/>
        </p:nvSpPr>
        <p:spPr>
          <a:xfrm xmlns:a="http://schemas.openxmlformats.org/drawingml/2006/main">
            <a:off x="6248400" y="2114550"/>
            <a:ext cx="1962150" cy="323850"/>
          </a:xfrm>
          <a:prstGeom xmlns:a="http://schemas.openxmlformats.org/drawingml/2006/main" prst="roundRect">
            <a:avLst>
              <a:gd name="adj" fmla="val 50000"/>
            </a:avLst>
          </a:prstGeom>
          <a:solidFill xmlns:a="http://schemas.openxmlformats.org/drawingml/2006/main">
            <a:srgbClr val="FF6B9D">
              <a:alpha val="16000"/>
            </a:srgbClr>
          </a:solidFill>
          <a:ln xmlns:a="http://schemas.openxmlformats.org/drawingml/2006/main" w="9525">
            <a:solidFill>
              <a:srgbClr val="FF6B9D">
                <a:alpha val="22000"/>
              </a:srgbClr>
            </a:solidFill>
            <a:prstDash val="solid"/>
          </a:ln>
        </p:spPr>
      </p:sp>
      <p:sp>
        <p:nvSpPr>
          <p:cNvPr id="26" name="">
            <a:extLst xmlns:a="http://schemas.openxmlformats.org/drawingml/2006/main">
              <a:ext uri="{FF2B5EF4-FFF2-40B4-BE49-F238E27FC236}">
                <a16:creationId xmlns:a16="http://schemas.microsoft.com/office/drawing/2014/main" id="{B3261306-67FC-4A6E-AFC1-93ECB1CF9535}"/>
              </a:ext>
            </a:extLst>
          </p:cNvPr>
          <p:cNvSpPr>
            <a:spLocks xmlns:a="http://schemas.openxmlformats.org/drawingml/2006/main" noGrp="1"/>
          </p:cNvSpPr>
          <p:nvPr/>
        </p:nvSpPr>
        <p:spPr>
          <a:xfrm xmlns:a="http://schemas.openxmlformats.org/drawingml/2006/main">
            <a:off x="6362700" y="2124075"/>
            <a:ext cx="1733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B52159"/>
                </a:solidFill>
                <a:latin typeface="Aptos"/>
                <a:ea typeface="Aptos"/>
                <a:cs typeface="Aptos"/>
              </a:defRPr>
            </a:pPr>
            <a:r>
              <a:rPr sz="975" b="1">
                <a:solidFill>
                  <a:srgbClr val="B52159"/>
                </a:solidFill>
                <a:latin typeface="Aptos"/>
                <a:ea typeface="Aptos"/>
                <a:cs typeface="Aptos"/>
              </a:rPr>
              <a:t>NOT MEASURED HERE</a:t>
            </a:r>
          </a:p>
        </p:txBody>
      </p:sp>
      <p:sp>
        <p:nvSpPr>
          <p:cNvPr id="27" name="">
            <a:extLst xmlns:a="http://schemas.openxmlformats.org/drawingml/2006/main">
              <a:ext uri="{FF2B5EF4-FFF2-40B4-BE49-F238E27FC236}">
                <a16:creationId xmlns:a16="http://schemas.microsoft.com/office/drawing/2014/main" id="{9C7860FB-1475-4A3B-B6AF-E68AEA51DC0B}"/>
              </a:ext>
            </a:extLst>
          </p:cNvPr>
          <p:cNvSpPr>
            <a:spLocks xmlns:a="http://schemas.openxmlformats.org/drawingml/2006/main" noGrp="1"/>
          </p:cNvSpPr>
          <p:nvPr/>
        </p:nvSpPr>
        <p:spPr>
          <a:xfrm xmlns:a="http://schemas.openxmlformats.org/drawingml/2006/main">
            <a:off x="6248400" y="26479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4213D"/>
                </a:solidFill>
                <a:latin typeface="Aptos"/>
                <a:ea typeface="Aptos"/>
                <a:cs typeface="Aptos"/>
              </a:defRPr>
            </a:pPr>
            <a:r>
              <a:rPr sz="2025" b="1">
                <a:solidFill>
                  <a:srgbClr val="14213D"/>
                </a:solidFill>
                <a:latin typeface="Aptos"/>
                <a:ea typeface="Aptos"/>
                <a:cs typeface="Aptos"/>
              </a:rPr>
              <a:t>What the project cannot rank</a:t>
            </a:r>
          </a:p>
        </p:txBody>
      </p:sp>
      <p:sp>
        <p:nvSpPr>
          <p:cNvPr id="28" name="">
            <a:extLst xmlns:a="http://schemas.openxmlformats.org/drawingml/2006/main">
              <a:ext uri="{FF2B5EF4-FFF2-40B4-BE49-F238E27FC236}">
                <a16:creationId xmlns:a16="http://schemas.microsoft.com/office/drawing/2014/main" id="{1FB226D3-696B-4272-AC2C-39194ED87510}"/>
              </a:ext>
            </a:extLst>
          </p:cNvPr>
          <p:cNvSpPr>
            <a:spLocks xmlns:a="http://schemas.openxmlformats.org/drawingml/2006/main" noGrp="1"/>
          </p:cNvSpPr>
          <p:nvPr/>
        </p:nvSpPr>
        <p:spPr>
          <a:xfrm xmlns:a="http://schemas.openxmlformats.org/drawingml/2006/main">
            <a:off x="6286500" y="3305175"/>
            <a:ext cx="114300" cy="11430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0">
            <a:solidFill>
              <a:srgbClr val="FF6B9D"/>
            </a:solidFill>
            <a:prstDash val="solid"/>
          </a:ln>
        </p:spPr>
      </p:sp>
      <p:sp>
        <p:nvSpPr>
          <p:cNvPr id="29" name="">
            <a:extLst xmlns:a="http://schemas.openxmlformats.org/drawingml/2006/main">
              <a:ext uri="{FF2B5EF4-FFF2-40B4-BE49-F238E27FC236}">
                <a16:creationId xmlns:a16="http://schemas.microsoft.com/office/drawing/2014/main" id="{A3E71CA7-4EEB-4897-BAA6-F616E01A127F}"/>
              </a:ext>
            </a:extLst>
          </p:cNvPr>
          <p:cNvSpPr>
            <a:spLocks xmlns:a="http://schemas.openxmlformats.org/drawingml/2006/main" noGrp="1"/>
          </p:cNvSpPr>
          <p:nvPr/>
        </p:nvSpPr>
        <p:spPr>
          <a:xfrm xmlns:a="http://schemas.openxmlformats.org/drawingml/2006/main">
            <a:off x="6553200" y="32575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4213D"/>
                </a:solidFill>
                <a:latin typeface="Aptos"/>
                <a:ea typeface="Aptos"/>
                <a:cs typeface="Aptos"/>
              </a:defRPr>
            </a:pPr>
            <a:r>
              <a:rPr sz="1350" b="0">
                <a:solidFill>
                  <a:srgbClr val="14213D"/>
                </a:solidFill>
                <a:latin typeface="Aptos"/>
                <a:ea typeface="Aptos"/>
                <a:cs typeface="Aptos"/>
              </a:rPr>
              <a:t>Smart-contract and oracle failure</a:t>
            </a:r>
          </a:p>
        </p:txBody>
      </p:sp>
      <p:sp>
        <p:nvSpPr>
          <p:cNvPr id="30" name="">
            <a:extLst xmlns:a="http://schemas.openxmlformats.org/drawingml/2006/main">
              <a:ext uri="{FF2B5EF4-FFF2-40B4-BE49-F238E27FC236}">
                <a16:creationId xmlns:a16="http://schemas.microsoft.com/office/drawing/2014/main" id="{02F236FB-42E7-452E-99CC-214EC8BD4F5B}"/>
              </a:ext>
            </a:extLst>
          </p:cNvPr>
          <p:cNvSpPr>
            <a:spLocks xmlns:a="http://schemas.openxmlformats.org/drawingml/2006/main" noGrp="1"/>
          </p:cNvSpPr>
          <p:nvPr/>
        </p:nvSpPr>
        <p:spPr>
          <a:xfrm xmlns:a="http://schemas.openxmlformats.org/drawingml/2006/main">
            <a:off x="6286500" y="3743325"/>
            <a:ext cx="114300" cy="11430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0">
            <a:solidFill>
              <a:srgbClr val="FF6B9D"/>
            </a:solidFill>
            <a:prstDash val="solid"/>
          </a:ln>
        </p:spPr>
      </p:sp>
      <p:sp>
        <p:nvSpPr>
          <p:cNvPr id="31" name="">
            <a:extLst xmlns:a="http://schemas.openxmlformats.org/drawingml/2006/main">
              <a:ext uri="{FF2B5EF4-FFF2-40B4-BE49-F238E27FC236}">
                <a16:creationId xmlns:a16="http://schemas.microsoft.com/office/drawing/2014/main" id="{D4F12791-EE5E-4F9C-B438-4A407502DD8D}"/>
              </a:ext>
            </a:extLst>
          </p:cNvPr>
          <p:cNvSpPr>
            <a:spLocks xmlns:a="http://schemas.openxmlformats.org/drawingml/2006/main" noGrp="1"/>
          </p:cNvSpPr>
          <p:nvPr/>
        </p:nvSpPr>
        <p:spPr>
          <a:xfrm xmlns:a="http://schemas.openxmlformats.org/drawingml/2006/main">
            <a:off x="6553200" y="36957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4213D"/>
                </a:solidFill>
                <a:latin typeface="Aptos"/>
                <a:ea typeface="Aptos"/>
                <a:cs typeface="Aptos"/>
              </a:defRPr>
            </a:pPr>
            <a:r>
              <a:rPr sz="1350" b="0">
                <a:solidFill>
                  <a:srgbClr val="14213D"/>
                </a:solidFill>
                <a:latin typeface="Aptos"/>
                <a:ea typeface="Aptos"/>
                <a:cs typeface="Aptos"/>
              </a:rPr>
              <a:t>Counterparty and collateral quality</a:t>
            </a:r>
          </a:p>
        </p:txBody>
      </p:sp>
      <p:sp>
        <p:nvSpPr>
          <p:cNvPr id="32" name="">
            <a:extLst xmlns:a="http://schemas.openxmlformats.org/drawingml/2006/main">
              <a:ext uri="{FF2B5EF4-FFF2-40B4-BE49-F238E27FC236}">
                <a16:creationId xmlns:a16="http://schemas.microsoft.com/office/drawing/2014/main" id="{861EF748-1B05-4FFF-ADF3-B495F9AEA6C9}"/>
              </a:ext>
            </a:extLst>
          </p:cNvPr>
          <p:cNvSpPr>
            <a:spLocks xmlns:a="http://schemas.openxmlformats.org/drawingml/2006/main" noGrp="1"/>
          </p:cNvSpPr>
          <p:nvPr/>
        </p:nvSpPr>
        <p:spPr>
          <a:xfrm xmlns:a="http://schemas.openxmlformats.org/drawingml/2006/main">
            <a:off x="6286500" y="4181475"/>
            <a:ext cx="114300" cy="11430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0">
            <a:solidFill>
              <a:srgbClr val="FF6B9D"/>
            </a:solidFill>
            <a:prstDash val="solid"/>
          </a:ln>
        </p:spPr>
      </p:sp>
      <p:sp>
        <p:nvSpPr>
          <p:cNvPr id="33" name="">
            <a:extLst xmlns:a="http://schemas.openxmlformats.org/drawingml/2006/main">
              <a:ext uri="{FF2B5EF4-FFF2-40B4-BE49-F238E27FC236}">
                <a16:creationId xmlns:a16="http://schemas.microsoft.com/office/drawing/2014/main" id="{07CB31E0-6AFF-47F4-BD7E-F9D5C2A99FBF}"/>
              </a:ext>
            </a:extLst>
          </p:cNvPr>
          <p:cNvSpPr>
            <a:spLocks xmlns:a="http://schemas.openxmlformats.org/drawingml/2006/main" noGrp="1"/>
          </p:cNvSpPr>
          <p:nvPr/>
        </p:nvSpPr>
        <p:spPr>
          <a:xfrm xmlns:a="http://schemas.openxmlformats.org/drawingml/2006/main">
            <a:off x="6553200" y="41338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4213D"/>
                </a:solidFill>
                <a:latin typeface="Aptos"/>
                <a:ea typeface="Aptos"/>
                <a:cs typeface="Aptos"/>
              </a:defRPr>
            </a:pPr>
            <a:r>
              <a:rPr sz="1350" b="0">
                <a:solidFill>
                  <a:srgbClr val="14213D"/>
                </a:solidFill>
                <a:latin typeface="Aptos"/>
                <a:ea typeface="Aptos"/>
                <a:cs typeface="Aptos"/>
              </a:rPr>
              <a:t>Bridge, chain and governance risk</a:t>
            </a:r>
          </a:p>
        </p:txBody>
      </p:sp>
      <p:sp>
        <p:nvSpPr>
          <p:cNvPr id="34" name="">
            <a:extLst xmlns:a="http://schemas.openxmlformats.org/drawingml/2006/main">
              <a:ext uri="{FF2B5EF4-FFF2-40B4-BE49-F238E27FC236}">
                <a16:creationId xmlns:a16="http://schemas.microsoft.com/office/drawing/2014/main" id="{08C53E0E-6FC6-4473-853F-42F28831E61D}"/>
              </a:ext>
            </a:extLst>
          </p:cNvPr>
          <p:cNvSpPr>
            <a:spLocks xmlns:a="http://schemas.openxmlformats.org/drawingml/2006/main" noGrp="1"/>
          </p:cNvSpPr>
          <p:nvPr/>
        </p:nvSpPr>
        <p:spPr>
          <a:xfrm xmlns:a="http://schemas.openxmlformats.org/drawingml/2006/main">
            <a:off x="6286500" y="4619625"/>
            <a:ext cx="114300" cy="11430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0">
            <a:solidFill>
              <a:srgbClr val="FF6B9D"/>
            </a:solidFill>
            <a:prstDash val="solid"/>
          </a:ln>
        </p:spPr>
      </p:sp>
      <p:sp>
        <p:nvSpPr>
          <p:cNvPr id="35" name="">
            <a:extLst xmlns:a="http://schemas.openxmlformats.org/drawingml/2006/main">
              <a:ext uri="{FF2B5EF4-FFF2-40B4-BE49-F238E27FC236}">
                <a16:creationId xmlns:a16="http://schemas.microsoft.com/office/drawing/2014/main" id="{CB0B88D2-DCA3-4D46-9F21-7E4022EAD8AF}"/>
              </a:ext>
            </a:extLst>
          </p:cNvPr>
          <p:cNvSpPr>
            <a:spLocks xmlns:a="http://schemas.openxmlformats.org/drawingml/2006/main" noGrp="1"/>
          </p:cNvSpPr>
          <p:nvPr/>
        </p:nvSpPr>
        <p:spPr>
          <a:xfrm xmlns:a="http://schemas.openxmlformats.org/drawingml/2006/main">
            <a:off x="6553200" y="45720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4213D"/>
                </a:solidFill>
                <a:latin typeface="Aptos"/>
                <a:ea typeface="Aptos"/>
                <a:cs typeface="Aptos"/>
              </a:defRPr>
            </a:pPr>
            <a:r>
              <a:rPr sz="1350" b="0">
                <a:solidFill>
                  <a:srgbClr val="14213D"/>
                </a:solidFill>
                <a:latin typeface="Aptos"/>
                <a:ea typeface="Aptos"/>
                <a:cs typeface="Aptos"/>
              </a:rPr>
              <a:t>Executable liquidity and slippage</a:t>
            </a:r>
          </a:p>
        </p:txBody>
      </p:sp>
      <p:sp>
        <p:nvSpPr>
          <p:cNvPr id="36" name="">
            <a:extLst xmlns:a="http://schemas.openxmlformats.org/drawingml/2006/main">
              <a:ext uri="{FF2B5EF4-FFF2-40B4-BE49-F238E27FC236}">
                <a16:creationId xmlns:a16="http://schemas.microsoft.com/office/drawing/2014/main" id="{2EA4294D-7F89-4837-B864-C345DC7D5244}"/>
              </a:ext>
            </a:extLst>
          </p:cNvPr>
          <p:cNvSpPr>
            <a:spLocks xmlns:a="http://schemas.openxmlformats.org/drawingml/2006/main" noGrp="1"/>
          </p:cNvSpPr>
          <p:nvPr/>
        </p:nvSpPr>
        <p:spPr>
          <a:xfrm xmlns:a="http://schemas.openxmlformats.org/drawingml/2006/main">
            <a:off x="6286500" y="5057775"/>
            <a:ext cx="114300" cy="114300"/>
          </a:xfrm>
          <a:prstGeom xmlns:a="http://schemas.openxmlformats.org/drawingml/2006/main" prst="roundRect">
            <a:avLst>
              <a:gd name="adj" fmla="val 50000"/>
            </a:avLst>
          </a:prstGeom>
          <a:solidFill xmlns:a="http://schemas.openxmlformats.org/drawingml/2006/main">
            <a:srgbClr val="FF6B9D"/>
          </a:solidFill>
          <a:ln xmlns:a="http://schemas.openxmlformats.org/drawingml/2006/main" w="0">
            <a:solidFill>
              <a:srgbClr val="FF6B9D"/>
            </a:solidFill>
            <a:prstDash val="solid"/>
          </a:ln>
        </p:spPr>
      </p:sp>
      <p:sp>
        <p:nvSpPr>
          <p:cNvPr id="37" name="">
            <a:extLst xmlns:a="http://schemas.openxmlformats.org/drawingml/2006/main">
              <a:ext uri="{FF2B5EF4-FFF2-40B4-BE49-F238E27FC236}">
                <a16:creationId xmlns:a16="http://schemas.microsoft.com/office/drawing/2014/main" id="{4090A79A-82FF-464E-9782-29075210FE21}"/>
              </a:ext>
            </a:extLst>
          </p:cNvPr>
          <p:cNvSpPr>
            <a:spLocks xmlns:a="http://schemas.openxmlformats.org/drawingml/2006/main" noGrp="1"/>
          </p:cNvSpPr>
          <p:nvPr/>
        </p:nvSpPr>
        <p:spPr>
          <a:xfrm xmlns:a="http://schemas.openxmlformats.org/drawingml/2006/main">
            <a:off x="6553200" y="50101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4213D"/>
                </a:solidFill>
                <a:latin typeface="Aptos"/>
                <a:ea typeface="Aptos"/>
                <a:cs typeface="Aptos"/>
              </a:defRPr>
            </a:pPr>
            <a:r>
              <a:rPr sz="1350" b="0">
                <a:solidFill>
                  <a:srgbClr val="14213D"/>
                </a:solidFill>
                <a:latin typeface="Aptos"/>
                <a:ea typeface="Aptos"/>
                <a:cs typeface="Aptos"/>
              </a:rPr>
              <a:t>Investor-specific realized return</a:t>
            </a:r>
          </a:p>
        </p:txBody>
      </p:sp>
      <p:sp>
        <p:nvSpPr>
          <p:cNvPr id="38" name="">
            <a:extLst xmlns:a="http://schemas.openxmlformats.org/drawingml/2006/main">
              <a:ext uri="{FF2B5EF4-FFF2-40B4-BE49-F238E27FC236}">
                <a16:creationId xmlns:a16="http://schemas.microsoft.com/office/drawing/2014/main" id="{AC0CC2BC-3FA6-454F-B5B6-D6B5C245BA2A}"/>
              </a:ext>
            </a:extLst>
          </p:cNvPr>
          <p:cNvSpPr>
            <a:spLocks xmlns:a="http://schemas.openxmlformats.org/drawingml/2006/main" noGrp="1"/>
          </p:cNvSpPr>
          <p:nvPr/>
        </p:nvSpPr>
        <p:spPr>
          <a:xfrm xmlns:a="http://schemas.openxmlformats.org/drawingml/2006/main">
            <a:off x="1466850" y="5848350"/>
            <a:ext cx="9258300" cy="400050"/>
          </a:xfrm>
          <a:prstGeom xmlns:a="http://schemas.openxmlformats.org/drawingml/2006/main" prst="roundRect">
            <a:avLst>
              <a:gd name="adj" fmla="val 42857"/>
            </a:avLst>
          </a:prstGeom>
          <a:solidFill xmlns:a="http://schemas.openxmlformats.org/drawingml/2006/main">
            <a:srgbClr val="FFFFFF"/>
          </a:solidFill>
          <a:ln xmlns:a="http://schemas.openxmlformats.org/drawingml/2006/main" w="9525">
            <a:solidFill>
              <a:srgbClr val="DCE4F2"/>
            </a:solidFill>
            <a:prstDash val="solid"/>
          </a:ln>
        </p:spPr>
      </p:sp>
      <p:sp>
        <p:nvSpPr>
          <p:cNvPr id="39" name="">
            <a:extLst xmlns:a="http://schemas.openxmlformats.org/drawingml/2006/main">
              <a:ext uri="{FF2B5EF4-FFF2-40B4-BE49-F238E27FC236}">
                <a16:creationId xmlns:a16="http://schemas.microsoft.com/office/drawing/2014/main" id="{D5B47528-4513-4918-B7CC-164BA962B344}"/>
              </a:ext>
            </a:extLst>
          </p:cNvPr>
          <p:cNvSpPr>
            <a:spLocks xmlns:a="http://schemas.openxmlformats.org/drawingml/2006/main" noGrp="1"/>
          </p:cNvSpPr>
          <p:nvPr/>
        </p:nvSpPr>
        <p:spPr>
          <a:xfrm xmlns:a="http://schemas.openxmlformats.org/drawingml/2006/main">
            <a:off x="1714500" y="5943600"/>
            <a:ext cx="876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4213D"/>
                </a:solidFill>
                <a:latin typeface="Aptos"/>
                <a:ea typeface="Aptos"/>
                <a:cs typeface="Aptos"/>
              </a:defRPr>
            </a:pPr>
            <a:r>
              <a:rPr sz="1275" b="1">
                <a:solidFill>
                  <a:srgbClr val="14213D"/>
                </a:solidFill>
                <a:latin typeface="Aptos"/>
                <a:ea typeface="Aptos"/>
                <a:cs typeface="Aptos"/>
              </a:rPr>
              <a:t>Ethical consequence: no pool ranking, no hidden safety score and no financial recommendation.</a:t>
            </a:r>
          </a:p>
        </p:txBody>
      </p:sp>
    </p:spTree>
    <p:extLst>
      <p:ext uri="{BB962C8B-B14F-4D97-AF65-F5344CB8AC3E}">
        <p14:creationId xmlns:p14="http://schemas.microsoft.com/office/powerpoint/2010/main" val="1510647813"/>
      </p:ext>
    </p:extLst>
  </p:cSld>
</p:sld>
</file>

<file path=ppt/slides/slide14.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ECF9D8D-C73B-4E89-AAD3-E4E95A17FA4E}"/>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8B5CF6">
              <a:alpha val="13000"/>
            </a:srgbClr>
          </a:solidFill>
          <a:ln xmlns:a="http://schemas.openxmlformats.org/drawingml/2006/main" w="9525">
            <a:solidFill>
              <a:srgbClr val="8B5CF6">
                <a:alpha val="22000"/>
              </a:srgbClr>
            </a:solidFill>
            <a:prstDash val="solid"/>
          </a:ln>
        </p:spPr>
      </p:sp>
      <p:sp>
        <p:nvSpPr>
          <p:cNvPr id="2" name="">
            <a:extLst xmlns:a="http://schemas.openxmlformats.org/drawingml/2006/main">
              <a:ext uri="{FF2B5EF4-FFF2-40B4-BE49-F238E27FC236}">
                <a16:creationId xmlns:a16="http://schemas.microsoft.com/office/drawing/2014/main" id="{54340A22-DCBC-4E19-A180-AC6BA3295EF5}"/>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6941C6"/>
                </a:solidFill>
                <a:latin typeface="Aptos"/>
                <a:ea typeface="Aptos"/>
                <a:cs typeface="Aptos"/>
              </a:defRPr>
            </a:pPr>
            <a:r>
              <a:rPr sz="975" b="1">
                <a:solidFill>
                  <a:srgbClr val="6941C6"/>
                </a:solidFill>
                <a:latin typeface="Aptos"/>
                <a:ea typeface="Aptos"/>
                <a:cs typeface="Aptos"/>
              </a:rPr>
              <a:t>UNCERTAINTY</a:t>
            </a:r>
          </a:p>
        </p:txBody>
      </p:sp>
      <p:sp>
        <p:nvSpPr>
          <p:cNvPr id="3" name="">
            <a:extLst xmlns:a="http://schemas.openxmlformats.org/drawingml/2006/main">
              <a:ext uri="{FF2B5EF4-FFF2-40B4-BE49-F238E27FC236}">
                <a16:creationId xmlns:a16="http://schemas.microsoft.com/office/drawing/2014/main" id="{00478B7A-61ED-4CD4-BC81-3C2B96B02DBF}"/>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9525">
            <a:solidFill>
              <a:srgbClr val="8B5CF6">
                <a:alpha val="22000"/>
              </a:srgbClr>
            </a:solidFill>
            <a:prstDash val="solid"/>
          </a:ln>
        </p:spPr>
      </p:sp>
      <p:sp>
        <p:nvSpPr>
          <p:cNvPr id="4" name="">
            <a:extLst xmlns:a="http://schemas.openxmlformats.org/drawingml/2006/main">
              <a:ext uri="{FF2B5EF4-FFF2-40B4-BE49-F238E27FC236}">
                <a16:creationId xmlns:a16="http://schemas.microsoft.com/office/drawing/2014/main" id="{F3C71A99-496A-40DD-ADCA-805AF42FD072}"/>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14</a:t>
            </a:r>
          </a:p>
        </p:txBody>
      </p:sp>
      <p:sp>
        <p:nvSpPr>
          <p:cNvPr id="5" name="">
            <a:extLst xmlns:a="http://schemas.openxmlformats.org/drawingml/2006/main">
              <a:ext uri="{FF2B5EF4-FFF2-40B4-BE49-F238E27FC236}">
                <a16:creationId xmlns:a16="http://schemas.microsoft.com/office/drawing/2014/main" id="{15F0889D-23B6-4465-A457-3157A64F2C34}"/>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475467"/>
                </a:solidFill>
                <a:latin typeface="Aptos"/>
                <a:ea typeface="Aptos"/>
                <a:cs typeface="Aptos"/>
              </a:defRPr>
            </a:pPr>
            <a:r>
              <a:rPr sz="825" b="1">
                <a:solidFill>
                  <a:srgbClr val="475467"/>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A803F5F1-33DC-43D3-AF9C-16D532BEB84F}"/>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77A4E4FA-9093-44D6-9F3C-5C7B07A94483}"/>
              </a:ext>
            </a:extLst>
          </p:cNvPr>
          <p:cNvSpPr>
            <a:spLocks xmlns:a="http://schemas.openxmlformats.org/drawingml/2006/main" noGrp="1"/>
          </p:cNvSpPr>
          <p:nvPr/>
        </p:nvSpPr>
        <p:spPr>
          <a:xfrm xmlns:a="http://schemas.openxmlformats.org/drawingml/2006/main">
            <a:off x="8420100" y="6486525"/>
            <a:ext cx="2745441" cy="38100"/>
          </a:xfrm>
          <a:prstGeom xmlns:a="http://schemas.openxmlformats.org/drawingml/2006/main" prst="roundRect">
            <a:avLst>
              <a:gd name="adj" fmla="val 50000"/>
            </a:avLst>
          </a:prstGeom>
          <a:solidFill xmlns:a="http://schemas.openxmlformats.org/drawingml/2006/main">
            <a:srgbClr val="8B5CF6"/>
          </a:solidFill>
          <a:ln xmlns:a="http://schemas.openxmlformats.org/drawingml/2006/main" w="0">
            <a:solidFill>
              <a:srgbClr val="8B5CF6"/>
            </a:solidFill>
            <a:prstDash val="solid"/>
          </a:ln>
        </p:spPr>
      </p:sp>
      <p:sp>
        <p:nvSpPr>
          <p:cNvPr id="8" name="">
            <a:extLst xmlns:a="http://schemas.openxmlformats.org/drawingml/2006/main">
              <a:ext uri="{FF2B5EF4-FFF2-40B4-BE49-F238E27FC236}">
                <a16:creationId xmlns:a16="http://schemas.microsoft.com/office/drawing/2014/main" id="{AB0A1A2D-FCCA-42B5-95B8-997E4BF22F45}"/>
              </a:ext>
            </a:extLst>
          </p:cNvPr>
          <p:cNvSpPr>
            <a:spLocks xmlns:a="http://schemas.openxmlformats.org/drawingml/2006/main" noGrp="1"/>
          </p:cNvSpPr>
          <p:nvPr/>
        </p:nvSpPr>
        <p:spPr>
          <a:xfrm xmlns:a="http://schemas.openxmlformats.org/drawingml/2006/main">
            <a:off x="419100" y="838200"/>
            <a:ext cx="1076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4213D"/>
                </a:solidFill>
                <a:latin typeface="Aptos"/>
                <a:ea typeface="Aptos"/>
                <a:cs typeface="Aptos"/>
              </a:defRPr>
            </a:pPr>
            <a:r>
              <a:rPr sz="3000" b="1">
                <a:solidFill>
                  <a:srgbClr val="14213D"/>
                </a:solidFill>
                <a:latin typeface="Aptos"/>
                <a:ea typeface="Aptos"/>
                <a:cs typeface="Aptos"/>
              </a:rPr>
              <a:t>Precision has a defined scope</a:t>
            </a:r>
          </a:p>
        </p:txBody>
      </p:sp>
      <p:sp>
        <p:nvSpPr>
          <p:cNvPr id="9" name="">
            <a:extLst xmlns:a="http://schemas.openxmlformats.org/drawingml/2006/main">
              <a:ext uri="{FF2B5EF4-FFF2-40B4-BE49-F238E27FC236}">
                <a16:creationId xmlns:a16="http://schemas.microsoft.com/office/drawing/2014/main" id="{35B2DC3E-77AD-4732-8B35-ECAFEF8FC944}"/>
              </a:ext>
            </a:extLst>
          </p:cNvPr>
          <p:cNvSpPr>
            <a:spLocks xmlns:a="http://schemas.openxmlformats.org/drawingml/2006/main" noGrp="1"/>
          </p:cNvSpPr>
          <p:nvPr/>
        </p:nvSpPr>
        <p:spPr>
          <a:xfrm xmlns:a="http://schemas.openxmlformats.org/drawingml/2006/main">
            <a:off x="514350" y="1733550"/>
            <a:ext cx="571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150" b="1">
                <a:solidFill>
                  <a:srgbClr val="6941C6"/>
                </a:solidFill>
                <a:latin typeface="Aptos"/>
                <a:ea typeface="Aptos"/>
                <a:cs typeface="Aptos"/>
              </a:defRPr>
            </a:pPr>
            <a:r>
              <a:rPr sz="3150" b="1">
                <a:solidFill>
                  <a:srgbClr val="6941C6"/>
                </a:solidFill>
                <a:latin typeface="Aptos"/>
                <a:ea typeface="Aptos"/>
                <a:cs typeface="Aptos"/>
              </a:rPr>
              <a:t>Day-30 survival: 6.22%</a:t>
            </a:r>
          </a:p>
        </p:txBody>
      </p:sp>
      <p:sp>
        <p:nvSpPr>
          <p:cNvPr id="10" name="">
            <a:extLst xmlns:a="http://schemas.openxmlformats.org/drawingml/2006/main">
              <a:ext uri="{FF2B5EF4-FFF2-40B4-BE49-F238E27FC236}">
                <a16:creationId xmlns:a16="http://schemas.microsoft.com/office/drawing/2014/main" id="{1B613C8D-7DF5-454B-99BF-5343D59174E4}"/>
              </a:ext>
            </a:extLst>
          </p:cNvPr>
          <p:cNvSpPr>
            <a:spLocks xmlns:a="http://schemas.openxmlformats.org/drawingml/2006/main" noGrp="1"/>
          </p:cNvSpPr>
          <p:nvPr/>
        </p:nvSpPr>
        <p:spPr>
          <a:xfrm xmlns:a="http://schemas.openxmlformats.org/drawingml/2006/main">
            <a:off x="514350" y="2428875"/>
            <a:ext cx="1095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4213D"/>
                </a:solidFill>
                <a:latin typeface="Aptos"/>
                <a:ea typeface="Aptos"/>
                <a:cs typeface="Aptos"/>
              </a:defRPr>
            </a:pPr>
            <a:r>
              <a:rPr sz="1875" b="0">
                <a:solidFill>
                  <a:srgbClr val="14213D"/>
                </a:solidFill>
                <a:latin typeface="Aptos"/>
                <a:ea typeface="Aptos"/>
                <a:cs typeface="Aptos"/>
              </a:rPr>
              <a:t>95% pointwise CI: 5.34%-7.19%. Pool bootstrap: 4.76%-7.86%.</a:t>
            </a:r>
          </a:p>
        </p:txBody>
      </p:sp>
      <p:sp>
        <p:nvSpPr>
          <p:cNvPr id="11" name="">
            <a:extLst xmlns:a="http://schemas.openxmlformats.org/drawingml/2006/main">
              <a:ext uri="{FF2B5EF4-FFF2-40B4-BE49-F238E27FC236}">
                <a16:creationId xmlns:a16="http://schemas.microsoft.com/office/drawing/2014/main" id="{621C2ED8-AC4E-450C-B0E3-89E166C10F20}"/>
              </a:ext>
            </a:extLst>
          </p:cNvPr>
          <p:cNvSpPr>
            <a:spLocks xmlns:a="http://schemas.openxmlformats.org/drawingml/2006/main" noGrp="1"/>
          </p:cNvSpPr>
          <p:nvPr/>
        </p:nvSpPr>
        <p:spPr>
          <a:xfrm xmlns:a="http://schemas.openxmlformats.org/drawingml/2006/main">
            <a:off x="514350" y="32004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6941C6"/>
                </a:solidFill>
                <a:latin typeface="Aptos"/>
                <a:ea typeface="Aptos"/>
                <a:cs typeface="Aptos"/>
              </a:defRPr>
            </a:pPr>
            <a:r>
              <a:rPr sz="1575" b="1">
                <a:solidFill>
                  <a:srgbClr val="6941C6"/>
                </a:solidFill>
                <a:latin typeface="Aptos"/>
                <a:ea typeface="Aptos"/>
                <a:cs typeface="Aptos"/>
              </a:rPr>
              <a:t>Repeated episodes</a:t>
            </a:r>
          </a:p>
        </p:txBody>
      </p:sp>
      <p:sp>
        <p:nvSpPr>
          <p:cNvPr id="12" name="">
            <a:extLst xmlns:a="http://schemas.openxmlformats.org/drawingml/2006/main">
              <a:ext uri="{FF2B5EF4-FFF2-40B4-BE49-F238E27FC236}">
                <a16:creationId xmlns:a16="http://schemas.microsoft.com/office/drawing/2014/main" id="{66D0D11B-08C3-41C8-983B-6826EA06973F}"/>
              </a:ext>
            </a:extLst>
          </p:cNvPr>
          <p:cNvSpPr>
            <a:spLocks xmlns:a="http://schemas.openxmlformats.org/drawingml/2006/main" noGrp="1"/>
          </p:cNvSpPr>
          <p:nvPr/>
        </p:nvSpPr>
        <p:spPr>
          <a:xfrm xmlns:a="http://schemas.openxmlformats.org/drawingml/2006/main">
            <a:off x="3200400" y="3200400"/>
            <a:ext cx="809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4213D"/>
                </a:solidFill>
                <a:latin typeface="Aptos"/>
                <a:ea typeface="Aptos"/>
                <a:cs typeface="Aptos"/>
              </a:defRPr>
            </a:pPr>
            <a:r>
              <a:rPr sz="1575" b="0">
                <a:solidFill>
                  <a:srgbClr val="14213D"/>
                </a:solidFill>
                <a:latin typeface="Aptos"/>
                <a:ea typeface="Aptos"/>
                <a:cs typeface="Aptos"/>
              </a:rPr>
              <a:t>2,000 bootstrap resamples of whole pools preserve within-pool episode dependence. The interval is wider.</a:t>
            </a:r>
          </a:p>
        </p:txBody>
      </p:sp>
      <p:sp>
        <p:nvSpPr>
          <p:cNvPr id="13" name="">
            <a:extLst xmlns:a="http://schemas.openxmlformats.org/drawingml/2006/main">
              <a:ext uri="{FF2B5EF4-FFF2-40B4-BE49-F238E27FC236}">
                <a16:creationId xmlns:a16="http://schemas.microsoft.com/office/drawing/2014/main" id="{9A5DC3AD-A355-466F-ACDE-7104280ECD8F}"/>
              </a:ext>
            </a:extLst>
          </p:cNvPr>
          <p:cNvSpPr>
            <a:spLocks xmlns:a="http://schemas.openxmlformats.org/drawingml/2006/main" noGrp="1"/>
          </p:cNvSpPr>
          <p:nvPr/>
        </p:nvSpPr>
        <p:spPr>
          <a:xfrm xmlns:a="http://schemas.openxmlformats.org/drawingml/2006/main">
            <a:off x="514350" y="38481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6941C6"/>
                </a:solidFill>
                <a:latin typeface="Aptos"/>
                <a:ea typeface="Aptos"/>
                <a:cs typeface="Aptos"/>
              </a:defRPr>
            </a:pPr>
            <a:r>
              <a:rPr sz="1575" b="1">
                <a:solidFill>
                  <a:srgbClr val="6941C6"/>
                </a:solidFill>
                <a:latin typeface="Aptos"/>
                <a:ea typeface="Aptos"/>
                <a:cs typeface="Aptos"/>
              </a:rPr>
              <a:t>Observation limits</a:t>
            </a:r>
          </a:p>
        </p:txBody>
      </p:sp>
      <p:sp>
        <p:nvSpPr>
          <p:cNvPr id="14" name="">
            <a:extLst xmlns:a="http://schemas.openxmlformats.org/drawingml/2006/main">
              <a:ext uri="{FF2B5EF4-FFF2-40B4-BE49-F238E27FC236}">
                <a16:creationId xmlns:a16="http://schemas.microsoft.com/office/drawing/2014/main" id="{C868CDC2-0EFE-4B2E-B5D5-95559EF38E23}"/>
              </a:ext>
            </a:extLst>
          </p:cNvPr>
          <p:cNvSpPr>
            <a:spLocks xmlns:a="http://schemas.openxmlformats.org/drawingml/2006/main" noGrp="1"/>
          </p:cNvSpPr>
          <p:nvPr/>
        </p:nvSpPr>
        <p:spPr>
          <a:xfrm xmlns:a="http://schemas.openxmlformats.org/drawingml/2006/main">
            <a:off x="3200400" y="3848100"/>
            <a:ext cx="809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4213D"/>
                </a:solidFill>
                <a:latin typeface="Aptos"/>
                <a:ea typeface="Aptos"/>
                <a:cs typeface="Aptos"/>
              </a:defRPr>
            </a:pPr>
            <a:r>
              <a:rPr sz="1575" b="0">
                <a:solidFill>
                  <a:srgbClr val="14213D"/>
                </a:solidFill>
                <a:latin typeface="Aptos"/>
                <a:ea typeface="Aptos"/>
                <a:cs typeface="Aptos"/>
              </a:rPr>
              <a:t>70 episodes start at panel entry; 56 end at long gaps. Observed runs can differ from economic episodes.</a:t>
            </a:r>
          </a:p>
        </p:txBody>
      </p:sp>
      <p:sp>
        <p:nvSpPr>
          <p:cNvPr id="15" name="">
            <a:extLst xmlns:a="http://schemas.openxmlformats.org/drawingml/2006/main">
              <a:ext uri="{FF2B5EF4-FFF2-40B4-BE49-F238E27FC236}">
                <a16:creationId xmlns:a16="http://schemas.microsoft.com/office/drawing/2014/main" id="{A647BA3C-8AF3-463F-9F03-28826159A569}"/>
              </a:ext>
            </a:extLst>
          </p:cNvPr>
          <p:cNvSpPr>
            <a:spLocks xmlns:a="http://schemas.openxmlformats.org/drawingml/2006/main" noGrp="1"/>
          </p:cNvSpPr>
          <p:nvPr/>
        </p:nvSpPr>
        <p:spPr>
          <a:xfrm xmlns:a="http://schemas.openxmlformats.org/drawingml/2006/main">
            <a:off x="514350" y="44958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6941C6"/>
                </a:solidFill>
                <a:latin typeface="Aptos"/>
                <a:ea typeface="Aptos"/>
                <a:cs typeface="Aptos"/>
              </a:defRPr>
            </a:pPr>
            <a:r>
              <a:rPr sz="1575" b="1">
                <a:solidFill>
                  <a:srgbClr val="6941C6"/>
                </a:solidFill>
                <a:latin typeface="Aptos"/>
                <a:ea typeface="Aptos"/>
                <a:cs typeface="Aptos"/>
              </a:rPr>
              <a:t>Sample selection</a:t>
            </a:r>
          </a:p>
        </p:txBody>
      </p:sp>
      <p:sp>
        <p:nvSpPr>
          <p:cNvPr id="16" name="">
            <a:extLst xmlns:a="http://schemas.openxmlformats.org/drawingml/2006/main">
              <a:ext uri="{FF2B5EF4-FFF2-40B4-BE49-F238E27FC236}">
                <a16:creationId xmlns:a16="http://schemas.microsoft.com/office/drawing/2014/main" id="{E968DB06-B9EE-447C-960B-4984DD82AABF}"/>
              </a:ext>
            </a:extLst>
          </p:cNvPr>
          <p:cNvSpPr>
            <a:spLocks xmlns:a="http://schemas.openxmlformats.org/drawingml/2006/main" noGrp="1"/>
          </p:cNvSpPr>
          <p:nvPr/>
        </p:nvSpPr>
        <p:spPr>
          <a:xfrm xmlns:a="http://schemas.openxmlformats.org/drawingml/2006/main">
            <a:off x="3200400" y="4495800"/>
            <a:ext cx="809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4213D"/>
                </a:solidFill>
                <a:latin typeface="Aptos"/>
                <a:ea typeface="Aptos"/>
                <a:cs typeface="Aptos"/>
              </a:defRPr>
            </a:pPr>
            <a:r>
              <a:rPr sz="1575" b="0">
                <a:solidFill>
                  <a:srgbClr val="14213D"/>
                </a:solidFill>
                <a:latin typeface="Aptos"/>
                <a:ea typeface="Aptos"/>
                <a:cs typeface="Aptos"/>
              </a:rPr>
              <a:t>Selection excludes short histories. The 90-day check cannot recover them. Bootstrap does not correct selection bias.</a:t>
            </a:r>
          </a:p>
        </p:txBody>
      </p:sp>
      <p:sp>
        <p:nvSpPr>
          <p:cNvPr id="17" name="">
            <a:extLst xmlns:a="http://schemas.openxmlformats.org/drawingml/2006/main">
              <a:ext uri="{FF2B5EF4-FFF2-40B4-BE49-F238E27FC236}">
                <a16:creationId xmlns:a16="http://schemas.microsoft.com/office/drawing/2014/main" id="{0C024EA4-EB2E-4374-B893-46158B51FCFA}"/>
              </a:ext>
            </a:extLst>
          </p:cNvPr>
          <p:cNvSpPr>
            <a:spLocks xmlns:a="http://schemas.openxmlformats.org/drawingml/2006/main" noGrp="1"/>
          </p:cNvSpPr>
          <p:nvPr/>
        </p:nvSpPr>
        <p:spPr>
          <a:xfrm xmlns:a="http://schemas.openxmlformats.org/drawingml/2006/main">
            <a:off x="514350" y="5143500"/>
            <a:ext cx="257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6941C6"/>
                </a:solidFill>
                <a:latin typeface="Aptos"/>
                <a:ea typeface="Aptos"/>
                <a:cs typeface="Aptos"/>
              </a:defRPr>
            </a:pPr>
            <a:r>
              <a:rPr sz="1575" b="1">
                <a:solidFill>
                  <a:srgbClr val="6941C6"/>
                </a:solidFill>
                <a:latin typeface="Aptos"/>
                <a:ea typeface="Aptos"/>
                <a:cs typeface="Aptos"/>
              </a:rPr>
              <a:t>Interpretation</a:t>
            </a:r>
          </a:p>
        </p:txBody>
      </p:sp>
      <p:sp>
        <p:nvSpPr>
          <p:cNvPr id="18" name="">
            <a:extLst xmlns:a="http://schemas.openxmlformats.org/drawingml/2006/main">
              <a:ext uri="{FF2B5EF4-FFF2-40B4-BE49-F238E27FC236}">
                <a16:creationId xmlns:a16="http://schemas.microsoft.com/office/drawing/2014/main" id="{C95718C9-FC3D-4A2A-B590-2E93F9362DD1}"/>
              </a:ext>
            </a:extLst>
          </p:cNvPr>
          <p:cNvSpPr>
            <a:spLocks xmlns:a="http://schemas.openxmlformats.org/drawingml/2006/main" noGrp="1"/>
          </p:cNvSpPr>
          <p:nvPr/>
        </p:nvSpPr>
        <p:spPr>
          <a:xfrm xmlns:a="http://schemas.openxmlformats.org/drawingml/2006/main">
            <a:off x="3200400" y="5143500"/>
            <a:ext cx="809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4213D"/>
                </a:solidFill>
                <a:latin typeface="Aptos"/>
                <a:ea typeface="Aptos"/>
                <a:cs typeface="Aptos"/>
              </a:defRPr>
            </a:pPr>
            <a:r>
              <a:rPr sz="1575" b="0">
                <a:solidFill>
                  <a:srgbClr val="14213D"/>
                </a:solidFill>
                <a:latin typeface="Aptos"/>
                <a:ea typeface="Aptos"/>
                <a:cs typeface="Aptos"/>
              </a:rPr>
              <a:t>The evidence describes selected observed regimes. It does not estimate every pool's future yield.</a:t>
            </a:r>
          </a:p>
        </p:txBody>
      </p:sp>
      <p:sp>
        <p:nvSpPr>
          <p:cNvPr id="19" name="">
            <a:extLst xmlns:a="http://schemas.openxmlformats.org/drawingml/2006/main">
              <a:ext uri="{FF2B5EF4-FFF2-40B4-BE49-F238E27FC236}">
                <a16:creationId xmlns:a16="http://schemas.microsoft.com/office/drawing/2014/main" id="{658D188D-1FDC-40A6-BAAC-E73E9FDD5EAD}"/>
              </a:ext>
            </a:extLst>
          </p:cNvPr>
          <p:cNvSpPr>
            <a:spLocks xmlns:a="http://schemas.openxmlformats.org/drawingml/2006/main" noGrp="1"/>
          </p:cNvSpPr>
          <p:nvPr/>
        </p:nvSpPr>
        <p:spPr>
          <a:xfrm xmlns:a="http://schemas.openxmlformats.org/drawingml/2006/main">
            <a:off x="514350" y="6000750"/>
            <a:ext cx="1085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475467"/>
                </a:solidFill>
                <a:latin typeface="Aptos"/>
                <a:ea typeface="Aptos"/>
                <a:cs typeface="Aptos"/>
              </a:defRPr>
            </a:pPr>
            <a:r>
              <a:rPr sz="1050" b="0">
                <a:solidFill>
                  <a:srgbClr val="475467"/>
                </a:solidFill>
                <a:latin typeface="Aptos"/>
                <a:ea typeface="Aptos"/>
                <a:cs typeface="Aptos"/>
              </a:rPr>
              <a:t>Sources: episode_survival.csv and refinement_audit.json. Bootstrap: 250 pools, seed 945119, percentile interval.</a:t>
            </a:r>
          </a:p>
        </p:txBody>
      </p:sp>
    </p:spTree>
    <p:extLst>
      <p:ext uri="{BB962C8B-B14F-4D97-AF65-F5344CB8AC3E}">
        <p14:creationId xmlns:p14="http://schemas.microsoft.com/office/powerpoint/2010/main" val="493592709"/>
      </p:ext>
    </p:extLst>
  </p:cSld>
</p:sld>
</file>

<file path=ppt/slides/slide15.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6FACE24-436B-493D-91F9-56BEC595D09B}"/>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4F7CFF">
              <a:alpha val="13000"/>
            </a:srgbClr>
          </a:solidFill>
          <a:ln xmlns:a="http://schemas.openxmlformats.org/drawingml/2006/main" w="9525">
            <a:solidFill>
              <a:srgbClr val="4F7CFF">
                <a:alpha val="22000"/>
              </a:srgbClr>
            </a:solidFill>
            <a:prstDash val="solid"/>
          </a:ln>
        </p:spPr>
      </p:sp>
      <p:sp>
        <p:nvSpPr>
          <p:cNvPr id="2" name="">
            <a:extLst xmlns:a="http://schemas.openxmlformats.org/drawingml/2006/main">
              <a:ext uri="{FF2B5EF4-FFF2-40B4-BE49-F238E27FC236}">
                <a16:creationId xmlns:a16="http://schemas.microsoft.com/office/drawing/2014/main" id="{B3A3F805-A210-413E-A369-0997B7840EA7}"/>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3159C9"/>
                </a:solidFill>
                <a:latin typeface="Aptos"/>
                <a:ea typeface="Aptos"/>
                <a:cs typeface="Aptos"/>
              </a:defRPr>
            </a:pPr>
            <a:r>
              <a:rPr sz="975" b="1">
                <a:solidFill>
                  <a:srgbClr val="3159C9"/>
                </a:solidFill>
                <a:latin typeface="Aptos"/>
                <a:ea typeface="Aptos"/>
                <a:cs typeface="Aptos"/>
              </a:rPr>
              <a:t>TOOLS / VISUAL DESIGN</a:t>
            </a:r>
          </a:p>
        </p:txBody>
      </p:sp>
      <p:sp>
        <p:nvSpPr>
          <p:cNvPr id="3" name="">
            <a:extLst xmlns:a="http://schemas.openxmlformats.org/drawingml/2006/main">
              <a:ext uri="{FF2B5EF4-FFF2-40B4-BE49-F238E27FC236}">
                <a16:creationId xmlns:a16="http://schemas.microsoft.com/office/drawing/2014/main" id="{34ACF115-A5EB-4117-A138-039143F7D353}"/>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4F7CFF"/>
          </a:solidFill>
          <a:ln xmlns:a="http://schemas.openxmlformats.org/drawingml/2006/main" w="9525">
            <a:solidFill>
              <a:srgbClr val="4F7CFF">
                <a:alpha val="22000"/>
              </a:srgbClr>
            </a:solidFill>
            <a:prstDash val="solid"/>
          </a:ln>
        </p:spPr>
      </p:sp>
      <p:sp>
        <p:nvSpPr>
          <p:cNvPr id="4" name="">
            <a:extLst xmlns:a="http://schemas.openxmlformats.org/drawingml/2006/main">
              <a:ext uri="{FF2B5EF4-FFF2-40B4-BE49-F238E27FC236}">
                <a16:creationId xmlns:a16="http://schemas.microsoft.com/office/drawing/2014/main" id="{B0557E2D-87D1-4328-950A-DEC2A728670C}"/>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15</a:t>
            </a:r>
          </a:p>
        </p:txBody>
      </p:sp>
      <p:sp>
        <p:nvSpPr>
          <p:cNvPr id="5" name="">
            <a:extLst xmlns:a="http://schemas.openxmlformats.org/drawingml/2006/main">
              <a:ext uri="{FF2B5EF4-FFF2-40B4-BE49-F238E27FC236}">
                <a16:creationId xmlns:a16="http://schemas.microsoft.com/office/drawing/2014/main" id="{B235DA2F-2A83-4B39-83F5-968027D5936D}"/>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475467"/>
                </a:solidFill>
                <a:latin typeface="Aptos"/>
                <a:ea typeface="Aptos"/>
                <a:cs typeface="Aptos"/>
              </a:defRPr>
            </a:pPr>
            <a:r>
              <a:rPr sz="825" b="1">
                <a:solidFill>
                  <a:srgbClr val="475467"/>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8FAFAD68-0598-40AC-90DE-E7F369773A02}"/>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941C4DAD-6BBC-4E19-BF65-295588A17FBD}"/>
              </a:ext>
            </a:extLst>
          </p:cNvPr>
          <p:cNvSpPr>
            <a:spLocks xmlns:a="http://schemas.openxmlformats.org/drawingml/2006/main" noGrp="1"/>
          </p:cNvSpPr>
          <p:nvPr/>
        </p:nvSpPr>
        <p:spPr>
          <a:xfrm xmlns:a="http://schemas.openxmlformats.org/drawingml/2006/main">
            <a:off x="8420100" y="6486525"/>
            <a:ext cx="2941544" cy="38100"/>
          </a:xfrm>
          <a:prstGeom xmlns:a="http://schemas.openxmlformats.org/drawingml/2006/main" prst="roundRect">
            <a:avLst>
              <a:gd name="adj" fmla="val 50000"/>
            </a:avLst>
          </a:prstGeom>
          <a:solidFill xmlns:a="http://schemas.openxmlformats.org/drawingml/2006/main">
            <a:srgbClr val="4F7CFF"/>
          </a:solidFill>
          <a:ln xmlns:a="http://schemas.openxmlformats.org/drawingml/2006/main" w="0">
            <a:solidFill>
              <a:srgbClr val="4F7CFF"/>
            </a:solidFill>
            <a:prstDash val="solid"/>
          </a:ln>
        </p:spPr>
      </p:sp>
      <p:sp>
        <p:nvSpPr>
          <p:cNvPr id="8" name="">
            <a:extLst xmlns:a="http://schemas.openxmlformats.org/drawingml/2006/main">
              <a:ext uri="{FF2B5EF4-FFF2-40B4-BE49-F238E27FC236}">
                <a16:creationId xmlns:a16="http://schemas.microsoft.com/office/drawing/2014/main" id="{55F71B9B-6962-432B-A6A9-775D142C0BE4}"/>
              </a:ext>
            </a:extLst>
          </p:cNvPr>
          <p:cNvSpPr>
            <a:spLocks xmlns:a="http://schemas.openxmlformats.org/drawingml/2006/main" noGrp="1"/>
          </p:cNvSpPr>
          <p:nvPr/>
        </p:nvSpPr>
        <p:spPr>
          <a:xfrm xmlns:a="http://schemas.openxmlformats.org/drawingml/2006/main">
            <a:off x="419100" y="838200"/>
            <a:ext cx="11049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25" b="1">
                <a:solidFill>
                  <a:srgbClr val="14213D"/>
                </a:solidFill>
                <a:latin typeface="Aptos"/>
                <a:ea typeface="Aptos"/>
                <a:cs typeface="Aptos"/>
              </a:defRPr>
            </a:pPr>
            <a:r>
              <a:rPr sz="2925" b="1">
                <a:solidFill>
                  <a:srgbClr val="14213D"/>
                </a:solidFill>
                <a:latin typeface="Aptos"/>
                <a:ea typeface="Aptos"/>
                <a:cs typeface="Aptos"/>
              </a:rPr>
              <a:t>Two visualization tools, complementary uses</a:t>
            </a:r>
          </a:p>
        </p:txBody>
      </p:sp>
      <p:sp>
        <p:nvSpPr>
          <p:cNvPr id="9" name="">
            <a:extLst xmlns:a="http://schemas.openxmlformats.org/drawingml/2006/main">
              <a:ext uri="{FF2B5EF4-FFF2-40B4-BE49-F238E27FC236}">
                <a16:creationId xmlns:a16="http://schemas.microsoft.com/office/drawing/2014/main" id="{0B06EF8B-D893-4847-86B8-87A12F6ABF32}"/>
              </a:ext>
            </a:extLst>
          </p:cNvPr>
          <p:cNvSpPr>
            <a:spLocks xmlns:a="http://schemas.openxmlformats.org/drawingml/2006/main" noGrp="1"/>
          </p:cNvSpPr>
          <p:nvPr/>
        </p:nvSpPr>
        <p:spPr>
          <a:xfrm xmlns:a="http://schemas.openxmlformats.org/drawingml/2006/main">
            <a:off x="514350" y="17716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a:solidFill>
                  <a:srgbClr val="4F7CFF"/>
                </a:solidFill>
                <a:latin typeface="Aptos"/>
                <a:ea typeface="Aptos"/>
                <a:cs typeface="Aptos"/>
              </a:defRPr>
            </a:pPr>
            <a:r>
              <a:rPr sz="2175" b="1">
                <a:solidFill>
                  <a:srgbClr val="4F7CFF"/>
                </a:solidFill>
                <a:latin typeface="Aptos"/>
                <a:ea typeface="Aptos"/>
                <a:cs typeface="Aptos"/>
              </a:rPr>
              <a:t>MATPLOTLIB</a:t>
            </a:r>
          </a:p>
        </p:txBody>
      </p:sp>
      <p:sp>
        <p:nvSpPr>
          <p:cNvPr id="10" name="">
            <a:extLst xmlns:a="http://schemas.openxmlformats.org/drawingml/2006/main">
              <a:ext uri="{FF2B5EF4-FFF2-40B4-BE49-F238E27FC236}">
                <a16:creationId xmlns:a16="http://schemas.microsoft.com/office/drawing/2014/main" id="{DEE689B7-F3A5-41C0-9ED2-FE7788A0AE71}"/>
              </a:ext>
            </a:extLst>
          </p:cNvPr>
          <p:cNvSpPr>
            <a:spLocks xmlns:a="http://schemas.openxmlformats.org/drawingml/2006/main" noGrp="1"/>
          </p:cNvSpPr>
          <p:nvPr/>
        </p:nvSpPr>
        <p:spPr>
          <a:xfrm xmlns:a="http://schemas.openxmlformats.org/drawingml/2006/main">
            <a:off x="514350" y="22574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4213D"/>
                </a:solidFill>
                <a:latin typeface="Aptos"/>
                <a:ea typeface="Aptos"/>
                <a:cs typeface="Aptos"/>
              </a:defRPr>
            </a:pPr>
            <a:r>
              <a:rPr sz="1875" b="1">
                <a:solidFill>
                  <a:srgbClr val="14213D"/>
                </a:solidFill>
                <a:latin typeface="Aptos"/>
                <a:ea typeface="Aptos"/>
                <a:cs typeface="Aptos"/>
              </a:rPr>
              <a:t>Static analytical figures</a:t>
            </a:r>
          </a:p>
        </p:txBody>
      </p:sp>
      <p:sp>
        <p:nvSpPr>
          <p:cNvPr id="11" name="">
            <a:extLst xmlns:a="http://schemas.openxmlformats.org/drawingml/2006/main">
              <a:ext uri="{FF2B5EF4-FFF2-40B4-BE49-F238E27FC236}">
                <a16:creationId xmlns:a16="http://schemas.microsoft.com/office/drawing/2014/main" id="{16CC8A45-4D8C-42D5-9432-D9408838B8F1}"/>
              </a:ext>
            </a:extLst>
          </p:cNvPr>
          <p:cNvSpPr>
            <a:spLocks xmlns:a="http://schemas.openxmlformats.org/drawingml/2006/main" noGrp="1"/>
          </p:cNvSpPr>
          <p:nvPr/>
        </p:nvSpPr>
        <p:spPr>
          <a:xfrm xmlns:a="http://schemas.openxmlformats.org/drawingml/2006/main">
            <a:off x="514350" y="2809875"/>
            <a:ext cx="504825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4213D"/>
                </a:solidFill>
                <a:latin typeface="Aptos"/>
                <a:ea typeface="Aptos"/>
                <a:cs typeface="Aptos"/>
              </a:defRPr>
            </a:pPr>
            <a:r>
              <a:rPr sz="1725" b="0">
                <a:solidFill>
                  <a:srgbClr val="14213D"/>
                </a:solidFill>
                <a:latin typeface="Aptos"/>
                <a:ea typeface="Aptos"/>
                <a:cs typeface="Aptos"/>
              </a:rPr>
              <a:t>This PDF uses Matplotlib for the survival curve (page 6) and daily event charts (pages 9–10).</a:t>
            </a:r>
          </a:p>
          <a:p xmlns:a="http://schemas.openxmlformats.org/drawingml/2006/main">
            <a:r>
              <a:t/>
            </a:r>
          </a:p>
          <a:p xmlns:a="http://schemas.openxmlformats.org/drawingml/2006/main">
            <a:pPr algn="l">
              <a:defRPr sz="1725" b="0">
                <a:solidFill>
                  <a:srgbClr val="14213D"/>
                </a:solidFill>
                <a:latin typeface="Aptos"/>
                <a:ea typeface="Aptos"/>
                <a:cs typeface="Aptos"/>
              </a:defRPr>
            </a:pPr>
            <a:r>
              <a:rPr sz="1725" b="0">
                <a:solidFill>
                  <a:srgbClr val="14213D"/>
                </a:solidFill>
                <a:latin typeface="Aptos"/>
                <a:ea typeface="Aptos"/>
                <a:cs typeface="Aptos"/>
              </a:rPr>
              <a:t>The survival band shows uncertainty. Numerical time axes preserve the actual spacing of days.</a:t>
            </a:r>
          </a:p>
        </p:txBody>
      </p:sp>
      <p:sp>
        <p:nvSpPr>
          <p:cNvPr id="12" name="">
            <a:extLst xmlns:a="http://schemas.openxmlformats.org/drawingml/2006/main">
              <a:ext uri="{FF2B5EF4-FFF2-40B4-BE49-F238E27FC236}">
                <a16:creationId xmlns:a16="http://schemas.microsoft.com/office/drawing/2014/main" id="{2F3C5EE2-B6FC-449C-8A6D-B90281384E3C}"/>
              </a:ext>
            </a:extLst>
          </p:cNvPr>
          <p:cNvSpPr>
            <a:spLocks xmlns:a="http://schemas.openxmlformats.org/drawingml/2006/main" noGrp="1"/>
          </p:cNvSpPr>
          <p:nvPr/>
        </p:nvSpPr>
        <p:spPr>
          <a:xfrm xmlns:a="http://schemas.openxmlformats.org/drawingml/2006/main">
            <a:off x="6457950" y="17716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a:solidFill>
                  <a:srgbClr val="6941C6"/>
                </a:solidFill>
                <a:latin typeface="Aptos"/>
                <a:ea typeface="Aptos"/>
                <a:cs typeface="Aptos"/>
              </a:defRPr>
            </a:pPr>
            <a:r>
              <a:rPr sz="2175" b="1">
                <a:solidFill>
                  <a:srgbClr val="6941C6"/>
                </a:solidFill>
                <a:latin typeface="Aptos"/>
                <a:ea typeface="Aptos"/>
                <a:cs typeface="Aptos"/>
              </a:rPr>
              <a:t>PLOTLY</a:t>
            </a:r>
          </a:p>
        </p:txBody>
      </p:sp>
      <p:sp>
        <p:nvSpPr>
          <p:cNvPr id="13" name="">
            <a:extLst xmlns:a="http://schemas.openxmlformats.org/drawingml/2006/main">
              <a:ext uri="{FF2B5EF4-FFF2-40B4-BE49-F238E27FC236}">
                <a16:creationId xmlns:a16="http://schemas.microsoft.com/office/drawing/2014/main" id="{E89A003C-B29F-4351-8749-9EAB0624AB14}"/>
              </a:ext>
            </a:extLst>
          </p:cNvPr>
          <p:cNvSpPr>
            <a:spLocks xmlns:a="http://schemas.openxmlformats.org/drawingml/2006/main" noGrp="1"/>
          </p:cNvSpPr>
          <p:nvPr/>
        </p:nvSpPr>
        <p:spPr>
          <a:xfrm xmlns:a="http://schemas.openxmlformats.org/drawingml/2006/main">
            <a:off x="6457950" y="22574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4213D"/>
                </a:solidFill>
                <a:latin typeface="Aptos"/>
                <a:ea typeface="Aptos"/>
                <a:cs typeface="Aptos"/>
              </a:defRPr>
            </a:pPr>
            <a:r>
              <a:rPr sz="1875" b="1">
                <a:solidFill>
                  <a:srgbClr val="14213D"/>
                </a:solidFill>
                <a:latin typeface="Aptos"/>
                <a:ea typeface="Aptos"/>
                <a:cs typeface="Aptos"/>
              </a:rPr>
              <a:t>Ranking heatmap in this PDF</a:t>
            </a:r>
          </a:p>
        </p:txBody>
      </p:sp>
      <p:sp>
        <p:nvSpPr>
          <p:cNvPr id="14" name="">
            <a:extLst xmlns:a="http://schemas.openxmlformats.org/drawingml/2006/main">
              <a:ext uri="{FF2B5EF4-FFF2-40B4-BE49-F238E27FC236}">
                <a16:creationId xmlns:a16="http://schemas.microsoft.com/office/drawing/2014/main" id="{FEF50A86-256C-41BA-BF7F-AC8BF8CF4CA2}"/>
              </a:ext>
            </a:extLst>
          </p:cNvPr>
          <p:cNvSpPr>
            <a:spLocks xmlns:a="http://schemas.openxmlformats.org/drawingml/2006/main" noGrp="1"/>
          </p:cNvSpPr>
          <p:nvPr/>
        </p:nvSpPr>
        <p:spPr>
          <a:xfrm xmlns:a="http://schemas.openxmlformats.org/drawingml/2006/main">
            <a:off x="6457950" y="2809875"/>
            <a:ext cx="495300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4213D"/>
                </a:solidFill>
                <a:latin typeface="Aptos"/>
                <a:ea typeface="Aptos"/>
                <a:cs typeface="Aptos"/>
              </a:defRPr>
            </a:pPr>
            <a:r>
              <a:rPr sz="1725" b="0">
                <a:solidFill>
                  <a:srgbClr val="14213D"/>
                </a:solidFill>
                <a:latin typeface="Aptos"/>
                <a:ea typeface="Aptos"/>
                <a:cs typeface="Aptos"/>
              </a:rPr>
              <a:t>Page 7 contains a static export of the Plotly ranking heatmap, using the same published aggregate data.</a:t>
            </a:r>
          </a:p>
          <a:p xmlns:a="http://schemas.openxmlformats.org/drawingml/2006/main">
            <a:r>
              <a:t/>
            </a:r>
          </a:p>
          <a:p xmlns:a="http://schemas.openxmlformats.org/drawingml/2006/main">
            <a:pPr algn="l">
              <a:defRPr sz="1725" b="0">
                <a:solidFill>
                  <a:srgbClr val="14213D"/>
                </a:solidFill>
                <a:latin typeface="Aptos"/>
                <a:ea typeface="Aptos"/>
                <a:cs typeface="Aptos"/>
              </a:defRPr>
            </a:pPr>
            <a:r>
              <a:rPr sz="1725" b="0">
                <a:solidFill>
                  <a:srgbClr val="14213D"/>
                </a:solidFill>
                <a:latin typeface="Aptos"/>
                <a:ea typeface="Aptos"/>
                <a:cs typeface="Aptos"/>
              </a:rPr>
              <a:t>Every cell includes its value. Reading the result requires no hover, live demo or additional file.</a:t>
            </a:r>
          </a:p>
        </p:txBody>
      </p:sp>
      <p:sp>
        <p:nvSpPr>
          <p:cNvPr id="15" name="">
            <a:extLst xmlns:a="http://schemas.openxmlformats.org/drawingml/2006/main">
              <a:ext uri="{FF2B5EF4-FFF2-40B4-BE49-F238E27FC236}">
                <a16:creationId xmlns:a16="http://schemas.microsoft.com/office/drawing/2014/main" id="{8E7AEDB7-4AAF-4D25-9505-619E03C8C7AB}"/>
              </a:ext>
            </a:extLst>
          </p:cNvPr>
          <p:cNvSpPr>
            <a:spLocks xmlns:a="http://schemas.openxmlformats.org/drawingml/2006/main" noGrp="1"/>
          </p:cNvSpPr>
          <p:nvPr/>
        </p:nvSpPr>
        <p:spPr>
          <a:xfrm xmlns:a="http://schemas.openxmlformats.org/drawingml/2006/main">
            <a:off x="514350" y="5095875"/>
            <a:ext cx="1085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4213D"/>
                </a:solidFill>
                <a:latin typeface="Aptos"/>
                <a:ea typeface="Aptos"/>
                <a:cs typeface="Aptos"/>
              </a:defRPr>
            </a:pPr>
            <a:r>
              <a:rPr sz="1650" b="1">
                <a:solidFill>
                  <a:srgbClr val="14213D"/>
                </a:solidFill>
                <a:latin typeface="Aptos"/>
                <a:ea typeface="Aptos"/>
                <a:cs typeface="Aptos"/>
              </a:rPr>
              <a:t>Analysis: Python, pandas, NumPy, lifelines, SciPy and scikit-learn</a:t>
            </a:r>
          </a:p>
        </p:txBody>
      </p:sp>
      <p:sp>
        <p:nvSpPr>
          <p:cNvPr id="16" name="">
            <a:extLst xmlns:a="http://schemas.openxmlformats.org/drawingml/2006/main">
              <a:ext uri="{FF2B5EF4-FFF2-40B4-BE49-F238E27FC236}">
                <a16:creationId xmlns:a16="http://schemas.microsoft.com/office/drawing/2014/main" id="{A2A11B93-C10C-4210-A4A2-E7A8835F9AC5}"/>
              </a:ext>
            </a:extLst>
          </p:cNvPr>
          <p:cNvSpPr>
            <a:spLocks xmlns:a="http://schemas.openxmlformats.org/drawingml/2006/main" noGrp="1"/>
          </p:cNvSpPr>
          <p:nvPr/>
        </p:nvSpPr>
        <p:spPr>
          <a:xfrm xmlns:a="http://schemas.openxmlformats.org/drawingml/2006/main">
            <a:off x="514350" y="5534025"/>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4213D"/>
                </a:solidFill>
                <a:latin typeface="Aptos"/>
                <a:ea typeface="Aptos"/>
                <a:cs typeface="Aptos"/>
              </a:defRPr>
            </a:pPr>
            <a:r>
              <a:rPr sz="1500" b="0">
                <a:solidFill>
                  <a:srgbClr val="14213D"/>
                </a:solidFill>
                <a:latin typeface="Aptos"/>
                <a:ea typeface="Aptos"/>
                <a:cs typeface="Aptos"/>
              </a:rPr>
              <a:t>Seaborn supports static figures. ReportLab builds the report. Artifact Tool assembles the PowerPoint.</a:t>
            </a:r>
          </a:p>
        </p:txBody>
      </p:sp>
      <p:sp>
        <p:nvSpPr>
          <p:cNvPr id="17" name="">
            <a:extLst xmlns:a="http://schemas.openxmlformats.org/drawingml/2006/main">
              <a:ext uri="{FF2B5EF4-FFF2-40B4-BE49-F238E27FC236}">
                <a16:creationId xmlns:a16="http://schemas.microsoft.com/office/drawing/2014/main" id="{7F00CF50-C56A-4DDF-9AFE-EF93937AABA2}"/>
              </a:ext>
            </a:extLst>
          </p:cNvPr>
          <p:cNvSpPr>
            <a:spLocks xmlns:a="http://schemas.openxmlformats.org/drawingml/2006/main" noGrp="1"/>
          </p:cNvSpPr>
          <p:nvPr/>
        </p:nvSpPr>
        <p:spPr>
          <a:xfrm xmlns:a="http://schemas.openxmlformats.org/drawingml/2006/main">
            <a:off x="514350" y="6038850"/>
            <a:ext cx="1085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475467"/>
                </a:solidFill>
                <a:latin typeface="Aptos"/>
                <a:ea typeface="Aptos"/>
                <a:cs typeface="Aptos"/>
              </a:defRPr>
            </a:pPr>
            <a:r>
              <a:rPr sz="1125" b="0">
                <a:solidFill>
                  <a:srgbClr val="475467"/>
                </a:solidFill>
                <a:latin typeface="Aptos"/>
                <a:ea typeface="Aptos"/>
                <a:cs typeface="Aptos"/>
              </a:rPr>
              <a:t>All findings are readable in this PDF. Interactive HTML and editable sources are optional supporting materials.</a:t>
            </a:r>
          </a:p>
        </p:txBody>
      </p:sp>
    </p:spTree>
    <p:extLst>
      <p:ext uri="{BB962C8B-B14F-4D97-AF65-F5344CB8AC3E}">
        <p14:creationId xmlns:p14="http://schemas.microsoft.com/office/powerpoint/2010/main" val="518112946"/>
      </p:ext>
    </p:extLst>
  </p:cSld>
</p:sld>
</file>

<file path=ppt/slides/slide16.xml><?xml version="1.0" encoding="utf-8"?>
<p:sld xmlns:p="http://schemas.openxmlformats.org/presentationml/2006/main">
  <p:cSld>
    <p:bg>
      <p:bgPr>
        <a:gradFill xmlns:a="http://schemas.openxmlformats.org/drawingml/2006/main">
          <a:gsLst>
            <a:gs pos="0">
              <a:srgbClr val="FBFCFF"/>
            </a:gs>
            <a:gs pos="64000">
              <a:srgbClr val="F4F7FF"/>
            </a:gs>
            <a:gs pos="100000">
              <a:srgbClr val="EEF2FF"/>
            </a:gs>
          </a:gsLst>
          <a:lin ang="8100000"/>
        </a:gra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9B4FE6C-E58A-4D4E-948F-419C38756CE7}"/>
              </a:ext>
            </a:extLst>
          </p:cNvPr>
          <p:cNvSpPr>
            <a:spLocks xmlns:a="http://schemas.openxmlformats.org/drawingml/2006/main" noGrp="1"/>
          </p:cNvSpPr>
          <p:nvPr/>
        </p:nvSpPr>
        <p:spPr>
          <a:xfrm xmlns:a="http://schemas.openxmlformats.org/drawingml/2006/main">
            <a:off x="419100" y="285750"/>
            <a:ext cx="2038350" cy="323850"/>
          </a:xfrm>
          <a:prstGeom xmlns:a="http://schemas.openxmlformats.org/drawingml/2006/main" prst="roundRect">
            <a:avLst>
              <a:gd name="adj" fmla="val 50000"/>
            </a:avLst>
          </a:prstGeom>
          <a:solidFill xmlns:a="http://schemas.openxmlformats.org/drawingml/2006/main">
            <a:srgbClr val="2BBBAD">
              <a:alpha val="13000"/>
            </a:srgbClr>
          </a:solidFill>
          <a:ln xmlns:a="http://schemas.openxmlformats.org/drawingml/2006/main" w="9525">
            <a:solidFill>
              <a:srgbClr val="2BBBAD">
                <a:alpha val="22000"/>
              </a:srgbClr>
            </a:solidFill>
            <a:prstDash val="solid"/>
          </a:ln>
        </p:spPr>
      </p:sp>
      <p:sp>
        <p:nvSpPr>
          <p:cNvPr id="2" name="">
            <a:extLst xmlns:a="http://schemas.openxmlformats.org/drawingml/2006/main">
              <a:ext uri="{FF2B5EF4-FFF2-40B4-BE49-F238E27FC236}">
                <a16:creationId xmlns:a16="http://schemas.microsoft.com/office/drawing/2014/main" id="{946D6A53-3113-4758-8863-CBA8646303F3}"/>
              </a:ext>
            </a:extLst>
          </p:cNvPr>
          <p:cNvSpPr>
            <a:spLocks xmlns:a="http://schemas.openxmlformats.org/drawingml/2006/main" noGrp="1"/>
          </p:cNvSpPr>
          <p:nvPr/>
        </p:nvSpPr>
        <p:spPr>
          <a:xfrm xmlns:a="http://schemas.openxmlformats.org/drawingml/2006/main">
            <a:off x="5334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75" b="1">
                <a:solidFill>
                  <a:srgbClr val="08796F"/>
                </a:solidFill>
                <a:latin typeface="Aptos"/>
                <a:ea typeface="Aptos"/>
                <a:cs typeface="Aptos"/>
              </a:defRPr>
            </a:pPr>
            <a:r>
              <a:rPr sz="975" b="1">
                <a:solidFill>
                  <a:srgbClr val="08796F"/>
                </a:solidFill>
                <a:latin typeface="Aptos"/>
                <a:ea typeface="Aptos"/>
                <a:cs typeface="Aptos"/>
              </a:rPr>
              <a:t>REPRODUCIBILITY / RIGHTS</a:t>
            </a:r>
          </a:p>
        </p:txBody>
      </p:sp>
      <p:sp>
        <p:nvSpPr>
          <p:cNvPr id="3" name="">
            <a:extLst xmlns:a="http://schemas.openxmlformats.org/drawingml/2006/main">
              <a:ext uri="{FF2B5EF4-FFF2-40B4-BE49-F238E27FC236}">
                <a16:creationId xmlns:a16="http://schemas.microsoft.com/office/drawing/2014/main" id="{445863FC-B285-49AF-85E4-ABB9C1B46B82}"/>
              </a:ext>
            </a:extLst>
          </p:cNvPr>
          <p:cNvSpPr>
            <a:spLocks xmlns:a="http://schemas.openxmlformats.org/drawingml/2006/main" noGrp="1"/>
          </p:cNvSpPr>
          <p:nvPr/>
        </p:nvSpPr>
        <p:spPr>
          <a:xfrm xmlns:a="http://schemas.openxmlformats.org/drawingml/2006/main">
            <a:off x="11258550" y="266700"/>
            <a:ext cx="495300" cy="361950"/>
          </a:xfrm>
          <a:prstGeom xmlns:a="http://schemas.openxmlformats.org/drawingml/2006/main" prst="roundRect">
            <a:avLst>
              <a:gd name="adj" fmla="val 50000"/>
            </a:avLst>
          </a:prstGeom>
          <a:solidFill xmlns:a="http://schemas.openxmlformats.org/drawingml/2006/main">
            <a:srgbClr val="2BBBAD"/>
          </a:solidFill>
          <a:ln xmlns:a="http://schemas.openxmlformats.org/drawingml/2006/main" w="9525">
            <a:solidFill>
              <a:srgbClr val="2BBBAD">
                <a:alpha val="22000"/>
              </a:srgbClr>
            </a:solidFill>
            <a:prstDash val="solid"/>
          </a:ln>
        </p:spPr>
      </p:sp>
      <p:sp>
        <p:nvSpPr>
          <p:cNvPr id="4" name="">
            <a:extLst xmlns:a="http://schemas.openxmlformats.org/drawingml/2006/main">
              <a:ext uri="{FF2B5EF4-FFF2-40B4-BE49-F238E27FC236}">
                <a16:creationId xmlns:a16="http://schemas.microsoft.com/office/drawing/2014/main" id="{99BED01F-2697-4123-95E6-F23CAB9F39BE}"/>
              </a:ext>
            </a:extLst>
          </p:cNvPr>
          <p:cNvSpPr>
            <a:spLocks xmlns:a="http://schemas.openxmlformats.org/drawingml/2006/main" noGrp="1"/>
          </p:cNvSpPr>
          <p:nvPr/>
        </p:nvSpPr>
        <p:spPr>
          <a:xfrm xmlns:a="http://schemas.openxmlformats.org/drawingml/2006/main">
            <a:off x="11372850" y="276225"/>
            <a:ext cx="266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125" b="1">
                <a:solidFill>
                  <a:srgbClr val="FFFFFF"/>
                </a:solidFill>
                <a:latin typeface="Aptos"/>
                <a:ea typeface="Aptos"/>
                <a:cs typeface="Aptos"/>
              </a:defRPr>
            </a:pPr>
            <a:r>
              <a:rPr sz="1125" b="1">
                <a:solidFill>
                  <a:srgbClr val="FFFFFF"/>
                </a:solidFill>
                <a:latin typeface="Aptos"/>
                <a:ea typeface="Aptos"/>
                <a:cs typeface="Aptos"/>
              </a:rPr>
              <a:t>16</a:t>
            </a:r>
          </a:p>
        </p:txBody>
      </p:sp>
      <p:sp>
        <p:nvSpPr>
          <p:cNvPr id="5" name="">
            <a:extLst xmlns:a="http://schemas.openxmlformats.org/drawingml/2006/main">
              <a:ext uri="{FF2B5EF4-FFF2-40B4-BE49-F238E27FC236}">
                <a16:creationId xmlns:a16="http://schemas.microsoft.com/office/drawing/2014/main" id="{865FA111-7AD3-4DEA-BDCE-BB9F7386D868}"/>
              </a:ext>
            </a:extLst>
          </p:cNvPr>
          <p:cNvSpPr>
            <a:spLocks xmlns:a="http://schemas.openxmlformats.org/drawingml/2006/main" noGrp="1"/>
          </p:cNvSpPr>
          <p:nvPr/>
        </p:nvSpPr>
        <p:spPr>
          <a:xfrm xmlns:a="http://schemas.openxmlformats.org/drawingml/2006/main">
            <a:off x="419100" y="6429375"/>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475467"/>
                </a:solidFill>
                <a:latin typeface="Aptos"/>
                <a:ea typeface="Aptos"/>
                <a:cs typeface="Aptos"/>
              </a:defRPr>
            </a:pPr>
            <a:r>
              <a:rPr sz="825" b="1">
                <a:solidFill>
                  <a:srgbClr val="475467"/>
                </a:solidFill>
                <a:latin typeface="Aptos"/>
                <a:ea typeface="Aptos"/>
                <a:cs typeface="Aptos"/>
              </a:rPr>
              <a:t>STABLECOIN YIELD</a:t>
            </a:r>
          </a:p>
        </p:txBody>
      </p:sp>
      <p:sp>
        <p:nvSpPr>
          <p:cNvPr id="6" name="">
            <a:extLst xmlns:a="http://schemas.openxmlformats.org/drawingml/2006/main">
              <a:ext uri="{FF2B5EF4-FFF2-40B4-BE49-F238E27FC236}">
                <a16:creationId xmlns:a16="http://schemas.microsoft.com/office/drawing/2014/main" id="{A80E8782-3DBD-4D0A-A96B-BBE80BCEC97F}"/>
              </a:ext>
            </a:extLst>
          </p:cNvPr>
          <p:cNvSpPr>
            <a:spLocks xmlns:a="http://schemas.openxmlformats.org/drawingml/2006/main" noGrp="1"/>
          </p:cNvSpPr>
          <p:nvPr/>
        </p:nvSpPr>
        <p:spPr>
          <a:xfrm xmlns:a="http://schemas.openxmlformats.org/drawingml/2006/main">
            <a:off x="8420100" y="6486525"/>
            <a:ext cx="3333750" cy="38100"/>
          </a:xfrm>
          <a:prstGeom xmlns:a="http://schemas.openxmlformats.org/drawingml/2006/main" prst="roundRect">
            <a:avLst>
              <a:gd name="adj" fmla="val 50000"/>
            </a:avLst>
          </a:prstGeom>
          <a:solidFill xmlns:a="http://schemas.openxmlformats.org/drawingml/2006/main">
            <a:srgbClr val="DCE4F2"/>
          </a:solidFill>
          <a:ln xmlns:a="http://schemas.openxmlformats.org/drawingml/2006/main" w="0">
            <a:solidFill>
              <a:srgbClr val="DCE4F2"/>
            </a:solidFill>
            <a:prstDash val="solid"/>
          </a:ln>
        </p:spPr>
      </p:sp>
      <p:sp>
        <p:nvSpPr>
          <p:cNvPr id="7" name="">
            <a:extLst xmlns:a="http://schemas.openxmlformats.org/drawingml/2006/main">
              <a:ext uri="{FF2B5EF4-FFF2-40B4-BE49-F238E27FC236}">
                <a16:creationId xmlns:a16="http://schemas.microsoft.com/office/drawing/2014/main" id="{A18F61E1-8587-4C31-9018-16F4B111BAB4}"/>
              </a:ext>
            </a:extLst>
          </p:cNvPr>
          <p:cNvSpPr>
            <a:spLocks xmlns:a="http://schemas.openxmlformats.org/drawingml/2006/main" noGrp="1"/>
          </p:cNvSpPr>
          <p:nvPr/>
        </p:nvSpPr>
        <p:spPr>
          <a:xfrm xmlns:a="http://schemas.openxmlformats.org/drawingml/2006/main">
            <a:off x="8420100" y="6486525"/>
            <a:ext cx="3137647" cy="38100"/>
          </a:xfrm>
          <a:prstGeom xmlns:a="http://schemas.openxmlformats.org/drawingml/2006/main" prst="roundRect">
            <a:avLst>
              <a:gd name="adj" fmla="val 50000"/>
            </a:avLst>
          </a:prstGeom>
          <a:solidFill xmlns:a="http://schemas.openxmlformats.org/drawingml/2006/main">
            <a:srgbClr val="2BBBAD"/>
          </a:solidFill>
          <a:ln xmlns:a="http://schemas.openxmlformats.org/drawingml/2006/main" w="0">
            <a:solidFill>
              <a:srgbClr val="2BBBAD"/>
            </a:solidFill>
            <a:prstDash val="solid"/>
          </a:ln>
        </p:spPr>
      </p:sp>
      <p:sp>
        <p:nvSpPr>
          <p:cNvPr id="8" name="">
            <a:extLst xmlns:a="http://schemas.openxmlformats.org/drawingml/2006/main">
              <a:ext uri="{FF2B5EF4-FFF2-40B4-BE49-F238E27FC236}">
                <a16:creationId xmlns:a16="http://schemas.microsoft.com/office/drawing/2014/main" id="{5A7F1D04-1E0F-4E9D-A542-39CA4A5EDECE}"/>
              </a:ext>
            </a:extLst>
          </p:cNvPr>
          <p:cNvSpPr>
            <a:spLocks xmlns:a="http://schemas.openxmlformats.org/drawingml/2006/main" noGrp="1"/>
          </p:cNvSpPr>
          <p:nvPr/>
        </p:nvSpPr>
        <p:spPr>
          <a:xfrm xmlns:a="http://schemas.openxmlformats.org/drawingml/2006/main">
            <a:off x="419100" y="838200"/>
            <a:ext cx="1076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a:solidFill>
                  <a:srgbClr val="14213D"/>
                </a:solidFill>
                <a:latin typeface="Aptos"/>
                <a:ea typeface="Aptos"/>
                <a:cs typeface="Aptos"/>
              </a:defRPr>
            </a:pPr>
            <a:r>
              <a:rPr sz="3000" b="1">
                <a:solidFill>
                  <a:srgbClr val="14213D"/>
                </a:solidFill>
                <a:latin typeface="Aptos"/>
                <a:ea typeface="Aptos"/>
                <a:cs typeface="Aptos"/>
              </a:rPr>
              <a:t>Code, evidence and reuse terms</a:t>
            </a:r>
          </a:p>
        </p:txBody>
      </p:sp>
      <p:sp>
        <p:nvSpPr>
          <p:cNvPr id="9" name="">
            <a:extLst xmlns:a="http://schemas.openxmlformats.org/drawingml/2006/main">
              <a:ext uri="{FF2B5EF4-FFF2-40B4-BE49-F238E27FC236}">
                <a16:creationId xmlns:a16="http://schemas.microsoft.com/office/drawing/2014/main" id="{404A78DA-7FC7-43C7-81B7-9E3DDCDD84F2}"/>
              </a:ext>
            </a:extLst>
          </p:cNvPr>
          <p:cNvSpPr>
            <a:spLocks xmlns:a="http://schemas.openxmlformats.org/drawingml/2006/main" noGrp="1"/>
          </p:cNvSpPr>
          <p:nvPr/>
        </p:nvSpPr>
        <p:spPr>
          <a:xfrm xmlns:a="http://schemas.openxmlformats.org/drawingml/2006/main">
            <a:off x="514350" y="1609725"/>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76B87"/>
                </a:solidFill>
                <a:latin typeface="Aptos"/>
                <a:ea typeface="Aptos"/>
                <a:cs typeface="Aptos"/>
              </a:defRPr>
            </a:pPr>
            <a:r>
              <a:rPr>
                <a:hlinkClick xmlns:r="http://schemas.openxmlformats.org/officeDocument/2006/relationships" r:id="R394171e4855243fe"/>
              </a:rPr>
              <a:t>github.com/Laimon99/stablecoin-yield-visualization</a:t>
            </a:r>
          </a:p>
        </p:txBody>
      </p:sp>
      <p:sp>
        <p:nvSpPr>
          <p:cNvPr id="10" name="">
            <a:extLst xmlns:a="http://schemas.openxmlformats.org/drawingml/2006/main">
              <a:ext uri="{FF2B5EF4-FFF2-40B4-BE49-F238E27FC236}">
                <a16:creationId xmlns:a16="http://schemas.microsoft.com/office/drawing/2014/main" id="{ABCBF097-A037-4F87-A8B3-2AF8E78DF0D6}"/>
              </a:ext>
            </a:extLst>
          </p:cNvPr>
          <p:cNvSpPr>
            <a:spLocks xmlns:a="http://schemas.openxmlformats.org/drawingml/2006/main" noGrp="1"/>
          </p:cNvSpPr>
          <p:nvPr/>
        </p:nvSpPr>
        <p:spPr>
          <a:xfrm xmlns:a="http://schemas.openxmlformats.org/drawingml/2006/main">
            <a:off x="514350" y="22860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4213D"/>
                </a:solidFill>
                <a:latin typeface="Aptos"/>
                <a:ea typeface="Aptos"/>
                <a:cs typeface="Aptos"/>
              </a:defRPr>
            </a:pPr>
            <a:r>
              <a:rPr sz="1875" b="1">
                <a:solidFill>
                  <a:srgbClr val="14213D"/>
                </a:solidFill>
                <a:latin typeface="Aptos"/>
                <a:ea typeface="Aptos"/>
                <a:cs typeface="Aptos"/>
              </a:rPr>
              <a:t>1. Rebuild the published evidence</a:t>
            </a:r>
          </a:p>
        </p:txBody>
      </p:sp>
      <p:sp>
        <p:nvSpPr>
          <p:cNvPr id="11" name="">
            <a:extLst xmlns:a="http://schemas.openxmlformats.org/drawingml/2006/main">
              <a:ext uri="{FF2B5EF4-FFF2-40B4-BE49-F238E27FC236}">
                <a16:creationId xmlns:a16="http://schemas.microsoft.com/office/drawing/2014/main" id="{994FE5C4-2ACF-42EC-8DB5-0867FE8B2CA3}"/>
              </a:ext>
            </a:extLst>
          </p:cNvPr>
          <p:cNvSpPr>
            <a:spLocks xmlns:a="http://schemas.openxmlformats.org/drawingml/2006/main" noGrp="1"/>
          </p:cNvSpPr>
          <p:nvPr/>
        </p:nvSpPr>
        <p:spPr>
          <a:xfrm xmlns:a="http://schemas.openxmlformats.org/drawingml/2006/main">
            <a:off x="762000" y="2771775"/>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14213D"/>
                </a:solidFill>
                <a:latin typeface="Consolas"/>
                <a:ea typeface="Consolas"/>
                <a:cs typeface="Consolas"/>
              </a:defRPr>
            </a:pPr>
            <a:r>
              <a:rPr sz="1650" b="0">
                <a:solidFill>
                  <a:srgbClr val="14213D"/>
                </a:solidFill>
                <a:latin typeface="Consolas"/>
                <a:ea typeface="Consolas"/>
                <a:cs typeface="Consolas"/>
              </a:rPr>
              <a:t>uv sync --frozen --extra dev</a:t>
            </a:r>
          </a:p>
          <a:p xmlns:a="http://schemas.openxmlformats.org/drawingml/2006/main">
            <a:pPr algn="l">
              <a:defRPr sz="1650" b="0">
                <a:solidFill>
                  <a:srgbClr val="14213D"/>
                </a:solidFill>
                <a:latin typeface="Consolas"/>
                <a:ea typeface="Consolas"/>
                <a:cs typeface="Consolas"/>
              </a:defRPr>
            </a:pPr>
            <a:r>
              <a:rPr sz="1650" b="0">
                <a:solidFill>
                  <a:srgbClr val="14213D"/>
                </a:solidFill>
                <a:latin typeface="Consolas"/>
                <a:ea typeface="Consolas"/>
                <a:cs typeface="Consolas"/>
              </a:rPr>
              <a:t>uv run python scripts/refine_submission.py</a:t>
            </a:r>
          </a:p>
        </p:txBody>
      </p:sp>
      <p:sp>
        <p:nvSpPr>
          <p:cNvPr id="12" name="">
            <a:extLst xmlns:a="http://schemas.openxmlformats.org/drawingml/2006/main">
              <a:ext uri="{FF2B5EF4-FFF2-40B4-BE49-F238E27FC236}">
                <a16:creationId xmlns:a16="http://schemas.microsoft.com/office/drawing/2014/main" id="{DA6EC564-35FE-4CC4-BFD4-1BBA26794A1E}"/>
              </a:ext>
            </a:extLst>
          </p:cNvPr>
          <p:cNvSpPr>
            <a:spLocks xmlns:a="http://schemas.openxmlformats.org/drawingml/2006/main" noGrp="1"/>
          </p:cNvSpPr>
          <p:nvPr/>
        </p:nvSpPr>
        <p:spPr>
          <a:xfrm xmlns:a="http://schemas.openxmlformats.org/drawingml/2006/main">
            <a:off x="762000" y="3476625"/>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4213D"/>
                </a:solidFill>
                <a:latin typeface="Aptos"/>
                <a:ea typeface="Aptos"/>
                <a:cs typeface="Aptos"/>
              </a:defRPr>
            </a:pPr>
            <a:r>
              <a:rPr sz="1575" b="0">
                <a:solidFill>
                  <a:srgbClr val="14213D"/>
                </a:solidFill>
                <a:latin typeface="Aptos"/>
                <a:ea typeface="Aptos"/>
                <a:cs typeface="Aptos"/>
              </a:rPr>
              <a:t>From the cloned repository: rebuild static charts and verify event headlines from published aggregates, without API calls.</a:t>
            </a:r>
          </a:p>
        </p:txBody>
      </p:sp>
      <p:sp>
        <p:nvSpPr>
          <p:cNvPr id="13" name="">
            <a:extLst xmlns:a="http://schemas.openxmlformats.org/drawingml/2006/main">
              <a:ext uri="{FF2B5EF4-FFF2-40B4-BE49-F238E27FC236}">
                <a16:creationId xmlns:a16="http://schemas.microsoft.com/office/drawing/2014/main" id="{8E8E5163-76FB-4CD5-8792-0A01B3916499}"/>
              </a:ext>
            </a:extLst>
          </p:cNvPr>
          <p:cNvSpPr>
            <a:spLocks xmlns:a="http://schemas.openxmlformats.org/drawingml/2006/main" noGrp="1"/>
          </p:cNvSpPr>
          <p:nvPr/>
        </p:nvSpPr>
        <p:spPr>
          <a:xfrm xmlns:a="http://schemas.openxmlformats.org/drawingml/2006/main">
            <a:off x="514350" y="4171950"/>
            <a:ext cx="1057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4213D"/>
                </a:solidFill>
                <a:latin typeface="Aptos"/>
                <a:ea typeface="Aptos"/>
                <a:cs typeface="Aptos"/>
              </a:defRPr>
            </a:pPr>
            <a:r>
              <a:rPr sz="1875" b="1">
                <a:solidFill>
                  <a:srgbClr val="14213D"/>
                </a:solidFill>
                <a:latin typeface="Aptos"/>
                <a:ea typeface="Aptos"/>
                <a:cs typeface="Aptos"/>
              </a:rPr>
              <a:t>2. Recollect and rerun the method</a:t>
            </a:r>
          </a:p>
        </p:txBody>
      </p:sp>
      <p:sp>
        <p:nvSpPr>
          <p:cNvPr id="14" name="">
            <a:extLst xmlns:a="http://schemas.openxmlformats.org/drawingml/2006/main">
              <a:ext uri="{FF2B5EF4-FFF2-40B4-BE49-F238E27FC236}">
                <a16:creationId xmlns:a16="http://schemas.microsoft.com/office/drawing/2014/main" id="{7C57A33D-8EAF-4AC1-9D48-893FC90B1AE5}"/>
              </a:ext>
            </a:extLst>
          </p:cNvPr>
          <p:cNvSpPr>
            <a:spLocks xmlns:a="http://schemas.openxmlformats.org/drawingml/2006/main" noGrp="1"/>
          </p:cNvSpPr>
          <p:nvPr/>
        </p:nvSpPr>
        <p:spPr>
          <a:xfrm xmlns:a="http://schemas.openxmlformats.org/drawingml/2006/main">
            <a:off x="762000" y="4638675"/>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14213D"/>
                </a:solidFill>
                <a:latin typeface="Consolas"/>
                <a:ea typeface="Consolas"/>
                <a:cs typeface="Consolas"/>
              </a:defRPr>
            </a:pPr>
            <a:r>
              <a:rPr sz="1650" b="0">
                <a:solidFill>
                  <a:srgbClr val="14213D"/>
                </a:solidFill>
                <a:latin typeface="Consolas"/>
                <a:ea typeface="Consolas"/>
                <a:cs typeface="Consolas"/>
              </a:rPr>
              <a:t>uv run python scripts/reproduce_all.py --mode full</a:t>
            </a:r>
          </a:p>
        </p:txBody>
      </p:sp>
      <p:sp>
        <p:nvSpPr>
          <p:cNvPr id="15" name="">
            <a:extLst xmlns:a="http://schemas.openxmlformats.org/drawingml/2006/main">
              <a:ext uri="{FF2B5EF4-FFF2-40B4-BE49-F238E27FC236}">
                <a16:creationId xmlns:a16="http://schemas.microsoft.com/office/drawing/2014/main" id="{613896D0-760F-426C-95A3-C5E4F80BEAAA}"/>
              </a:ext>
            </a:extLst>
          </p:cNvPr>
          <p:cNvSpPr>
            <a:spLocks xmlns:a="http://schemas.openxmlformats.org/drawingml/2006/main" noGrp="1"/>
          </p:cNvSpPr>
          <p:nvPr/>
        </p:nvSpPr>
        <p:spPr>
          <a:xfrm xmlns:a="http://schemas.openxmlformats.org/drawingml/2006/main">
            <a:off x="762000" y="5095875"/>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4213D"/>
                </a:solidFill>
                <a:latin typeface="Aptos"/>
                <a:ea typeface="Aptos"/>
                <a:cs typeface="Aptos"/>
              </a:defRPr>
            </a:pPr>
            <a:r>
              <a:rPr sz="1575" b="0">
                <a:solidFill>
                  <a:srgbClr val="14213D"/>
                </a:solidFill>
                <a:latin typeface="Aptos"/>
                <a:ea typeface="Aptos"/>
                <a:cs typeface="Aptos"/>
              </a:rPr>
              <a:t>Live data can change. The historical raw snapshot is private. Bootstrap recalculation requires that snapshot. Deck: Artifact Tool.</a:t>
            </a:r>
          </a:p>
        </p:txBody>
      </p:sp>
      <p:sp>
        <p:nvSpPr>
          <p:cNvPr id="16" name="">
            <a:extLst xmlns:a="http://schemas.openxmlformats.org/drawingml/2006/main">
              <a:ext uri="{FF2B5EF4-FFF2-40B4-BE49-F238E27FC236}">
                <a16:creationId xmlns:a16="http://schemas.microsoft.com/office/drawing/2014/main" id="{8B2DA5AE-B2F7-47BA-8376-6BE76BD1C6A6}"/>
              </a:ext>
            </a:extLst>
          </p:cNvPr>
          <p:cNvSpPr>
            <a:spLocks xmlns:a="http://schemas.openxmlformats.org/drawingml/2006/main" noGrp="1"/>
          </p:cNvSpPr>
          <p:nvPr/>
        </p:nvSpPr>
        <p:spPr>
          <a:xfrm xmlns:a="http://schemas.openxmlformats.org/drawingml/2006/main">
            <a:off x="514350" y="5743575"/>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14213D"/>
                </a:solidFill>
                <a:latin typeface="Aptos"/>
                <a:ea typeface="Aptos"/>
                <a:cs typeface="Aptos"/>
              </a:defRPr>
            </a:pPr>
            <a:r>
              <a:rPr sz="1425" b="1">
                <a:solidFill>
                  <a:srgbClr val="14213D"/>
                </a:solidFill>
                <a:latin typeface="Aptos"/>
                <a:ea typeface="Aptos"/>
                <a:cs typeface="Aptos"/>
              </a:rPr>
              <a:t>© 2026 Simone Ragusini. Code: MIT. Original presentation and text: CC BY 4.0.</a:t>
            </a:r>
          </a:p>
        </p:txBody>
      </p:sp>
      <p:sp>
        <p:nvSpPr>
          <p:cNvPr id="17" name="">
            <a:extLst xmlns:a="http://schemas.openxmlformats.org/drawingml/2006/main">
              <a:ext uri="{FF2B5EF4-FFF2-40B4-BE49-F238E27FC236}">
                <a16:creationId xmlns:a16="http://schemas.microsoft.com/office/drawing/2014/main" id="{F7333732-75AD-4D35-B797-AA65DBD4816A}"/>
              </a:ext>
            </a:extLst>
          </p:cNvPr>
          <p:cNvSpPr>
            <a:spLocks xmlns:a="http://schemas.openxmlformats.org/drawingml/2006/main" noGrp="1"/>
          </p:cNvSpPr>
          <p:nvPr/>
        </p:nvSpPr>
        <p:spPr>
          <a:xfrm xmlns:a="http://schemas.openxmlformats.org/drawingml/2006/main">
            <a:off x="514350" y="6086475"/>
            <a:ext cx="1095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0">
                <a:solidFill>
                  <a:srgbClr val="475467"/>
                </a:solidFill>
                <a:latin typeface="Aptos"/>
                <a:ea typeface="Aptos"/>
                <a:cs typeface="Aptos"/>
              </a:defRPr>
            </a:pPr>
            <a:r>
              <a:rPr sz="1125" b="0">
                <a:solidFill>
                  <a:srgbClr val="475467"/>
                </a:solidFill>
                <a:latin typeface="Aptos"/>
                <a:ea typeface="Aptos"/>
                <a:cs typeface="Aptos"/>
              </a:rPr>
              <a:t>DeFiLlama and CoinGecko data retain their own terms. Sources, exclusions and attribution: NOTICE.md.</a:t>
            </a:r>
          </a:p>
        </p:txBody>
      </p:sp>
    </p:spTree>
    <p:extLst>
      <p:ext uri="{BB962C8B-B14F-4D97-AF65-F5344CB8AC3E}">
        <p14:creationId xmlns:p14="http://schemas.microsoft.com/office/powerpoint/2010/main" val="269071910"/>
      </p:ext>
    </p:extLst>
  </p:cSld>
</p:sld>
</file>

<file path=ppt/slides/slide17.xml><?xml version="1.0" encoding="utf-8"?>
<p:sld xmlns:p="http://schemas.openxmlformats.org/presentationml/2006/main">
  <p:cSld>
    <p:bg>
      <p:bgPr>
        <a:gradFill xmlns:a="http://schemas.openxmlformats.org/drawingml/2006/main">
          <a:gsLst>
            <a:gs pos="0">
              <a:srgbClr val="091127"/>
            </a:gs>
            <a:gs pos="58000">
              <a:srgbClr val="14275A"/>
            </a:gs>
            <a:gs pos="100000">
              <a:srgbClr val="3A2A78"/>
            </a:gs>
          </a:gsLst>
          <a:lin ang="8100000"/>
        </a:gra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2810EEB-776E-4560-B54A-778FC9FB4539}"/>
              </a:ext>
            </a:extLst>
          </p:cNvPr>
          <p:cNvSpPr>
            <a:spLocks xmlns:a="http://schemas.openxmlformats.org/drawingml/2006/main" noGrp="1"/>
          </p:cNvSpPr>
          <p:nvPr/>
        </p:nvSpPr>
        <p:spPr>
          <a:xfrm xmlns:a="http://schemas.openxmlformats.org/drawingml/2006/main">
            <a:off x="514350" y="400050"/>
            <a:ext cx="1866900" cy="342900"/>
          </a:xfrm>
          <a:prstGeom xmlns:a="http://schemas.openxmlformats.org/drawingml/2006/main" prst="roundRect">
            <a:avLst>
              <a:gd name="adj" fmla="val 50000"/>
            </a:avLst>
          </a:prstGeom>
          <a:solidFill xmlns:a="http://schemas.openxmlformats.org/drawingml/2006/main">
            <a:srgbClr val="FFFFFF">
              <a:alpha val="12000"/>
            </a:srgbClr>
          </a:solidFill>
          <a:ln xmlns:a="http://schemas.openxmlformats.org/drawingml/2006/main" w="9525">
            <a:solidFill>
              <a:srgbClr val="23C9D8">
                <a:alpha val="22000"/>
              </a:srgbClr>
            </a:solidFill>
            <a:prstDash val="solid"/>
          </a:ln>
        </p:spPr>
      </p:sp>
      <p:sp>
        <p:nvSpPr>
          <p:cNvPr id="2" name="">
            <a:extLst xmlns:a="http://schemas.openxmlformats.org/drawingml/2006/main">
              <a:ext uri="{FF2B5EF4-FFF2-40B4-BE49-F238E27FC236}">
                <a16:creationId xmlns:a16="http://schemas.microsoft.com/office/drawing/2014/main" id="{AFFD51F1-58C6-49AD-89A8-3E5C6B9D4C44}"/>
              </a:ext>
            </a:extLst>
          </p:cNvPr>
          <p:cNvSpPr>
            <a:spLocks xmlns:a="http://schemas.openxmlformats.org/drawingml/2006/main" noGrp="1"/>
          </p:cNvSpPr>
          <p:nvPr/>
        </p:nvSpPr>
        <p:spPr>
          <a:xfrm xmlns:a="http://schemas.openxmlformats.org/drawingml/2006/main">
            <a:off x="628650" y="409575"/>
            <a:ext cx="1638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050" b="1">
                <a:solidFill>
                  <a:srgbClr val="FFFFFF"/>
                </a:solidFill>
                <a:latin typeface="Aptos"/>
                <a:ea typeface="Aptos"/>
                <a:cs typeface="Aptos"/>
              </a:defRPr>
            </a:pPr>
            <a:r>
              <a:rPr sz="1050" b="1">
                <a:solidFill>
                  <a:srgbClr val="FFFFFF"/>
                </a:solidFill>
                <a:latin typeface="Aptos"/>
                <a:ea typeface="Aptos"/>
                <a:cs typeface="Aptos"/>
              </a:rPr>
              <a:t>FINAL SYNTHESIS</a:t>
            </a:r>
          </a:p>
        </p:txBody>
      </p:sp>
      <p:sp>
        <p:nvSpPr>
          <p:cNvPr id="3" name="">
            <a:extLst xmlns:a="http://schemas.openxmlformats.org/drawingml/2006/main">
              <a:ext uri="{FF2B5EF4-FFF2-40B4-BE49-F238E27FC236}">
                <a16:creationId xmlns:a16="http://schemas.microsoft.com/office/drawing/2014/main" id="{5ECB4BC2-21A0-4879-8A9C-4C3D1238C1CD}"/>
              </a:ext>
            </a:extLst>
          </p:cNvPr>
          <p:cNvSpPr>
            <a:spLocks xmlns:a="http://schemas.openxmlformats.org/drawingml/2006/main" noGrp="1"/>
          </p:cNvSpPr>
          <p:nvPr/>
        </p:nvSpPr>
        <p:spPr>
          <a:xfrm xmlns:a="http://schemas.openxmlformats.org/drawingml/2006/main">
            <a:off x="514350" y="952500"/>
            <a:ext cx="10001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FFFFFF"/>
                </a:solidFill>
                <a:latin typeface="Aptos"/>
                <a:ea typeface="Aptos"/>
                <a:cs typeface="Aptos"/>
              </a:defRPr>
            </a:pPr>
            <a:r>
              <a:rPr sz="3600" b="1">
                <a:solidFill>
                  <a:srgbClr val="FFFFFF"/>
                </a:solidFill>
                <a:latin typeface="Aptos"/>
                <a:ea typeface="Aptos"/>
                <a:cs typeface="Aptos"/>
              </a:rPr>
              <a:t>Stablecoin yield is best shown as trade-offs</a:t>
            </a:r>
          </a:p>
        </p:txBody>
      </p:sp>
      <p:sp>
        <p:nvSpPr>
          <p:cNvPr id="4" name="">
            <a:extLst xmlns:a="http://schemas.openxmlformats.org/drawingml/2006/main">
              <a:ext uri="{FF2B5EF4-FFF2-40B4-BE49-F238E27FC236}">
                <a16:creationId xmlns:a16="http://schemas.microsoft.com/office/drawing/2014/main" id="{812595DE-DDD2-4980-877C-7E0862E0DEFD}"/>
              </a:ext>
            </a:extLst>
          </p:cNvPr>
          <p:cNvSpPr>
            <a:spLocks xmlns:a="http://schemas.openxmlformats.org/drawingml/2006/main" noGrp="1"/>
          </p:cNvSpPr>
          <p:nvPr/>
        </p:nvSpPr>
        <p:spPr>
          <a:xfrm xmlns:a="http://schemas.openxmlformats.org/drawingml/2006/main">
            <a:off x="533400" y="1638300"/>
            <a:ext cx="809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DDE6FF"/>
                </a:solidFill>
                <a:latin typeface="Aptos"/>
                <a:ea typeface="Aptos"/>
                <a:cs typeface="Aptos"/>
              </a:defRPr>
            </a:pPr>
            <a:r>
              <a:rPr sz="1575" b="0">
                <a:solidFill>
                  <a:srgbClr val="DDE6FF"/>
                </a:solidFill>
                <a:latin typeface="Aptos"/>
                <a:ea typeface="Aptos"/>
                <a:cs typeface="Aptos"/>
              </a:rPr>
              <a:t>The project closes on three lenses that keep a volatile number interpretable.</a:t>
            </a:r>
          </a:p>
        </p:txBody>
      </p:sp>
      <p:sp>
        <p:nvSpPr>
          <p:cNvPr id="5" name="">
            <a:extLst xmlns:a="http://schemas.openxmlformats.org/drawingml/2006/main">
              <a:ext uri="{FF2B5EF4-FFF2-40B4-BE49-F238E27FC236}">
                <a16:creationId xmlns:a16="http://schemas.microsoft.com/office/drawing/2014/main" id="{89CDAD7D-D4D3-473C-9F12-3D99BB0BD4EB}"/>
              </a:ext>
            </a:extLst>
          </p:cNvPr>
          <p:cNvSpPr>
            <a:spLocks xmlns:a="http://schemas.openxmlformats.org/drawingml/2006/main" noGrp="1"/>
          </p:cNvSpPr>
          <p:nvPr/>
        </p:nvSpPr>
        <p:spPr>
          <a:xfrm xmlns:a="http://schemas.openxmlformats.org/drawingml/2006/main">
            <a:off x="514350" y="2266950"/>
            <a:ext cx="4095750" cy="2647950"/>
          </a:xfrm>
          <a:prstGeom xmlns:a="http://schemas.openxmlformats.org/drawingml/2006/main" prst="roundRect">
            <a:avLst>
              <a:gd name="adj" fmla="val 10791"/>
            </a:avLst>
          </a:prstGeom>
          <a:gradFill xmlns:a="http://schemas.openxmlformats.org/drawingml/2006/main">
            <a:gsLst>
              <a:gs pos="0">
                <a:srgbClr val="4F7CFF">
                  <a:alpha val="25000"/>
                </a:srgbClr>
              </a:gs>
              <a:gs pos="100000">
                <a:srgbClr val="8B5CF6">
                  <a:alpha val="18000"/>
                </a:srgbClr>
              </a:gs>
            </a:gsLst>
            <a:lin ang="8700000"/>
          </a:gradFill>
          <a:ln xmlns:a="http://schemas.openxmlformats.org/drawingml/2006/main" w="9525">
            <a:solidFill>
              <a:srgbClr val="FFFFFF">
                <a:alpha val="18000"/>
              </a:srgbClr>
            </a:solidFill>
            <a:prstDash val="solid"/>
          </a:ln>
        </p:spPr>
      </p:sp>
      <p:sp>
        <p:nvSpPr>
          <p:cNvPr id="6" name="">
            <a:extLst xmlns:a="http://schemas.openxmlformats.org/drawingml/2006/main">
              <a:ext uri="{FF2B5EF4-FFF2-40B4-BE49-F238E27FC236}">
                <a16:creationId xmlns:a16="http://schemas.microsoft.com/office/drawing/2014/main" id="{C4DA20B0-2529-4119-B902-86BD564F7963}"/>
              </a:ext>
            </a:extLst>
          </p:cNvPr>
          <p:cNvSpPr>
            <a:spLocks xmlns:a="http://schemas.openxmlformats.org/drawingml/2006/main" noGrp="1"/>
          </p:cNvSpPr>
          <p:nvPr/>
        </p:nvSpPr>
        <p:spPr>
          <a:xfrm xmlns:a="http://schemas.openxmlformats.org/drawingml/2006/main">
            <a:off x="800100" y="2571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3C9D8"/>
                </a:solidFill>
                <a:latin typeface="Aptos"/>
                <a:ea typeface="Aptos"/>
                <a:cs typeface="Aptos"/>
              </a:defRPr>
            </a:pPr>
            <a:r>
              <a:rPr sz="1050" b="1">
                <a:solidFill>
                  <a:srgbClr val="23C9D8"/>
                </a:solidFill>
                <a:latin typeface="Aptos"/>
                <a:ea typeface="Aptos"/>
                <a:cs typeface="Aptos"/>
              </a:rPr>
              <a:t>ONE SENTENCE DEFENSE</a:t>
            </a:r>
          </a:p>
        </p:txBody>
      </p:sp>
      <p:sp>
        <p:nvSpPr>
          <p:cNvPr id="7" name="">
            <a:extLst xmlns:a="http://schemas.openxmlformats.org/drawingml/2006/main">
              <a:ext uri="{FF2B5EF4-FFF2-40B4-BE49-F238E27FC236}">
                <a16:creationId xmlns:a16="http://schemas.microsoft.com/office/drawing/2014/main" id="{DE2E7ECA-4A81-40E9-9CAD-6025E2057694}"/>
              </a:ext>
            </a:extLst>
          </p:cNvPr>
          <p:cNvSpPr>
            <a:spLocks xmlns:a="http://schemas.openxmlformats.org/drawingml/2006/main" noGrp="1"/>
          </p:cNvSpPr>
          <p:nvPr/>
        </p:nvSpPr>
        <p:spPr>
          <a:xfrm xmlns:a="http://schemas.openxmlformats.org/drawingml/2006/main">
            <a:off x="800100" y="2990850"/>
            <a:ext cx="32575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462"/>
          </a:bodyPr>
          <a:lstStyle xmlns:a="http://schemas.openxmlformats.org/drawingml/2006/main"/>
          <a:p xmlns:a="http://schemas.openxmlformats.org/drawingml/2006/main">
            <a:pPr algn="l">
              <a:defRPr sz="2100" b="1">
                <a:solidFill>
                  <a:srgbClr val="FFFFFF"/>
                </a:solidFill>
                <a:latin typeface="Aptos"/>
                <a:ea typeface="Aptos"/>
                <a:cs typeface="Aptos"/>
              </a:defRPr>
            </a:pPr>
            <a:r>
              <a:rPr sz="2100" b="1">
                <a:solidFill>
                  <a:srgbClr val="FFFFFF"/>
                </a:solidFill>
                <a:latin typeface="Aptos"/>
                <a:ea typeface="Aptos"/>
                <a:cs typeface="Aptos"/>
              </a:rPr>
              <a:t>High stablecoin yield is common in snapshots. Persistent high yield with capacity and interpretable risk context is rarer.</a:t>
            </a:r>
          </a:p>
        </p:txBody>
      </p:sp>
      <p:sp>
        <p:nvSpPr>
          <p:cNvPr id="8" name="">
            <a:extLst xmlns:a="http://schemas.openxmlformats.org/drawingml/2006/main">
              <a:ext uri="{FF2B5EF4-FFF2-40B4-BE49-F238E27FC236}">
                <a16:creationId xmlns:a16="http://schemas.microsoft.com/office/drawing/2014/main" id="{68C50F51-BB67-4AFF-A3AF-7DB4928015ED}"/>
              </a:ext>
            </a:extLst>
          </p:cNvPr>
          <p:cNvSpPr>
            <a:spLocks xmlns:a="http://schemas.openxmlformats.org/drawingml/2006/main" noGrp="1"/>
          </p:cNvSpPr>
          <p:nvPr/>
        </p:nvSpPr>
        <p:spPr>
          <a:xfrm xmlns:a="http://schemas.openxmlformats.org/drawingml/2006/main">
            <a:off x="4953000" y="2266950"/>
            <a:ext cx="6705600" cy="2647950"/>
          </a:xfrm>
          <a:prstGeom xmlns:a="http://schemas.openxmlformats.org/drawingml/2006/main" prst="roundRect">
            <a:avLst>
              <a:gd name="adj" fmla="val 10791"/>
            </a:avLst>
          </a:prstGeom>
          <a:solidFill xmlns:a="http://schemas.openxmlformats.org/drawingml/2006/main">
            <a:srgbClr val="FFFFFF">
              <a:alpha val="10000"/>
            </a:srgbClr>
          </a:solidFill>
          <a:ln xmlns:a="http://schemas.openxmlformats.org/drawingml/2006/main" w="9525">
            <a:solidFill>
              <a:srgbClr val="FFFFFF">
                <a:alpha val="18000"/>
              </a:srgbClr>
            </a:solidFill>
            <a:prstDash val="solid"/>
          </a:ln>
        </p:spPr>
      </p:sp>
      <p:sp>
        <p:nvSpPr>
          <p:cNvPr id="9" name="">
            <a:extLst xmlns:a="http://schemas.openxmlformats.org/drawingml/2006/main">
              <a:ext uri="{FF2B5EF4-FFF2-40B4-BE49-F238E27FC236}">
                <a16:creationId xmlns:a16="http://schemas.microsoft.com/office/drawing/2014/main" id="{FCA544C3-D9D5-4705-84E7-9062621EDCFC}"/>
              </a:ext>
            </a:extLst>
          </p:cNvPr>
          <p:cNvSpPr>
            <a:spLocks xmlns:a="http://schemas.openxmlformats.org/drawingml/2006/main" noGrp="1"/>
          </p:cNvSpPr>
          <p:nvPr/>
        </p:nvSpPr>
        <p:spPr>
          <a:xfrm xmlns:a="http://schemas.openxmlformats.org/drawingml/2006/main">
            <a:off x="5219700" y="2476500"/>
            <a:ext cx="1695450" cy="285750"/>
          </a:xfrm>
          <a:prstGeom xmlns:a="http://schemas.openxmlformats.org/drawingml/2006/main" prst="roundRect">
            <a:avLst>
              <a:gd name="adj" fmla="val 50000"/>
            </a:avLst>
          </a:prstGeom>
          <a:solidFill xmlns:a="http://schemas.openxmlformats.org/drawingml/2006/main">
            <a:srgbClr val="23C9D8">
              <a:alpha val="16000"/>
            </a:srgbClr>
          </a:solidFill>
          <a:ln xmlns:a="http://schemas.openxmlformats.org/drawingml/2006/main" w="9525">
            <a:solidFill>
              <a:srgbClr val="23C9D8">
                <a:alpha val="22000"/>
              </a:srgbClr>
            </a:solidFill>
            <a:prstDash val="solid"/>
          </a:ln>
        </p:spPr>
      </p:sp>
      <p:sp>
        <p:nvSpPr>
          <p:cNvPr id="10" name="">
            <a:extLst xmlns:a="http://schemas.openxmlformats.org/drawingml/2006/main">
              <a:ext uri="{FF2B5EF4-FFF2-40B4-BE49-F238E27FC236}">
                <a16:creationId xmlns:a16="http://schemas.microsoft.com/office/drawing/2014/main" id="{87F20F67-8E88-489E-8E03-379FFDC14630}"/>
              </a:ext>
            </a:extLst>
          </p:cNvPr>
          <p:cNvSpPr>
            <a:spLocks xmlns:a="http://schemas.openxmlformats.org/drawingml/2006/main" noGrp="1"/>
          </p:cNvSpPr>
          <p:nvPr/>
        </p:nvSpPr>
        <p:spPr>
          <a:xfrm xmlns:a="http://schemas.openxmlformats.org/drawingml/2006/main">
            <a:off x="5334000" y="2486025"/>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PERSISTENCE</a:t>
            </a:r>
          </a:p>
        </p:txBody>
      </p:sp>
      <p:sp>
        <p:nvSpPr>
          <p:cNvPr id="11" name="">
            <a:extLst xmlns:a="http://schemas.openxmlformats.org/drawingml/2006/main">
              <a:ext uri="{FF2B5EF4-FFF2-40B4-BE49-F238E27FC236}">
                <a16:creationId xmlns:a16="http://schemas.microsoft.com/office/drawing/2014/main" id="{918CDBBE-4A6C-4079-8366-CB411BC5D268}"/>
              </a:ext>
            </a:extLst>
          </p:cNvPr>
          <p:cNvSpPr>
            <a:spLocks xmlns:a="http://schemas.openxmlformats.org/drawingml/2006/main" noGrp="1"/>
          </p:cNvSpPr>
          <p:nvPr/>
        </p:nvSpPr>
        <p:spPr>
          <a:xfrm xmlns:a="http://schemas.openxmlformats.org/drawingml/2006/main">
            <a:off x="7105650" y="2457450"/>
            <a:ext cx="4114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FFFFFF"/>
                </a:solidFill>
                <a:latin typeface="Aptos"/>
                <a:ea typeface="Aptos"/>
                <a:cs typeface="Aptos"/>
              </a:defRPr>
            </a:pPr>
            <a:r>
              <a:rPr sz="1275" b="0">
                <a:solidFill>
                  <a:srgbClr val="FFFFFF"/>
                </a:solidFill>
                <a:latin typeface="Aptos"/>
                <a:ea typeface="Aptos"/>
                <a:cs typeface="Aptos"/>
              </a:rPr>
              <a:t>Under the main 10% definition, the median episode lasts 2 days, so duration matters as much as level.</a:t>
            </a:r>
          </a:p>
        </p:txBody>
      </p:sp>
      <p:sp>
        <p:nvSpPr>
          <p:cNvPr id="12" name="">
            <a:extLst xmlns:a="http://schemas.openxmlformats.org/drawingml/2006/main">
              <a:ext uri="{FF2B5EF4-FFF2-40B4-BE49-F238E27FC236}">
                <a16:creationId xmlns:a16="http://schemas.microsoft.com/office/drawing/2014/main" id="{F740BDE1-E232-48A8-A510-A9B6829DB51A}"/>
              </a:ext>
            </a:extLst>
          </p:cNvPr>
          <p:cNvSpPr>
            <a:spLocks xmlns:a="http://schemas.openxmlformats.org/drawingml/2006/main" noGrp="1"/>
          </p:cNvSpPr>
          <p:nvPr/>
        </p:nvSpPr>
        <p:spPr>
          <a:xfrm xmlns:a="http://schemas.openxmlformats.org/drawingml/2006/main">
            <a:off x="5219700" y="3086100"/>
            <a:ext cx="6000750" cy="9525"/>
          </a:xfrm>
          <a:prstGeom xmlns:a="http://schemas.openxmlformats.org/drawingml/2006/main" prst="line">
            <a:avLst/>
          </a:prstGeom>
          <a:noFill xmlns:a="http://schemas.openxmlformats.org/drawingml/2006/main"/>
          <a:ln xmlns:a="http://schemas.openxmlformats.org/drawingml/2006/main" w="9525">
            <a:solidFill>
              <a:srgbClr val="FFFFFF">
                <a:alpha val="16000"/>
              </a:srgbClr>
            </a:solidFill>
            <a:prstDash val="solid"/>
          </a:ln>
        </p:spPr>
      </p:sp>
      <p:sp>
        <p:nvSpPr>
          <p:cNvPr id="13" name="">
            <a:extLst xmlns:a="http://schemas.openxmlformats.org/drawingml/2006/main">
              <a:ext uri="{FF2B5EF4-FFF2-40B4-BE49-F238E27FC236}">
                <a16:creationId xmlns:a16="http://schemas.microsoft.com/office/drawing/2014/main" id="{70D08703-989D-43A6-A567-14D51681FFE6}"/>
              </a:ext>
            </a:extLst>
          </p:cNvPr>
          <p:cNvSpPr>
            <a:spLocks xmlns:a="http://schemas.openxmlformats.org/drawingml/2006/main" noGrp="1"/>
          </p:cNvSpPr>
          <p:nvPr/>
        </p:nvSpPr>
        <p:spPr>
          <a:xfrm xmlns:a="http://schemas.openxmlformats.org/drawingml/2006/main">
            <a:off x="5219700" y="3257550"/>
            <a:ext cx="1695450" cy="285750"/>
          </a:xfrm>
          <a:prstGeom xmlns:a="http://schemas.openxmlformats.org/drawingml/2006/main" prst="roundRect">
            <a:avLst>
              <a:gd name="adj" fmla="val 50000"/>
            </a:avLst>
          </a:prstGeom>
          <a:solidFill xmlns:a="http://schemas.openxmlformats.org/drawingml/2006/main">
            <a:srgbClr val="FF6B9D">
              <a:alpha val="16000"/>
            </a:srgbClr>
          </a:solidFill>
          <a:ln xmlns:a="http://schemas.openxmlformats.org/drawingml/2006/main" w="9525">
            <a:solidFill>
              <a:srgbClr val="FF6B9D">
                <a:alpha val="22000"/>
              </a:srgbClr>
            </a:solidFill>
            <a:prstDash val="solid"/>
          </a:ln>
        </p:spPr>
      </p:sp>
      <p:sp>
        <p:nvSpPr>
          <p:cNvPr id="14" name="">
            <a:extLst xmlns:a="http://schemas.openxmlformats.org/drawingml/2006/main">
              <a:ext uri="{FF2B5EF4-FFF2-40B4-BE49-F238E27FC236}">
                <a16:creationId xmlns:a16="http://schemas.microsoft.com/office/drawing/2014/main" id="{900984BE-7019-4CB0-AF84-E71009A9FD32}"/>
              </a:ext>
            </a:extLst>
          </p:cNvPr>
          <p:cNvSpPr>
            <a:spLocks xmlns:a="http://schemas.openxmlformats.org/drawingml/2006/main" noGrp="1"/>
          </p:cNvSpPr>
          <p:nvPr/>
        </p:nvSpPr>
        <p:spPr>
          <a:xfrm xmlns:a="http://schemas.openxmlformats.org/drawingml/2006/main">
            <a:off x="5334000" y="3267075"/>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CONTEXT</a:t>
            </a:r>
          </a:p>
        </p:txBody>
      </p:sp>
      <p:sp>
        <p:nvSpPr>
          <p:cNvPr id="15" name="">
            <a:extLst xmlns:a="http://schemas.openxmlformats.org/drawingml/2006/main">
              <a:ext uri="{FF2B5EF4-FFF2-40B4-BE49-F238E27FC236}">
                <a16:creationId xmlns:a16="http://schemas.microsoft.com/office/drawing/2014/main" id="{A6588910-0CF5-4664-BBEA-F7178382992E}"/>
              </a:ext>
            </a:extLst>
          </p:cNvPr>
          <p:cNvSpPr>
            <a:spLocks xmlns:a="http://schemas.openxmlformats.org/drawingml/2006/main" noGrp="1"/>
          </p:cNvSpPr>
          <p:nvPr/>
        </p:nvSpPr>
        <p:spPr>
          <a:xfrm xmlns:a="http://schemas.openxmlformats.org/drawingml/2006/main">
            <a:off x="7105650" y="3238500"/>
            <a:ext cx="4114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FFFFFF"/>
                </a:solidFill>
                <a:latin typeface="Aptos"/>
                <a:ea typeface="Aptos"/>
                <a:cs typeface="Aptos"/>
              </a:defRPr>
            </a:pPr>
            <a:r>
              <a:rPr sz="1275" b="0">
                <a:solidFill>
                  <a:srgbClr val="FFFFFF"/>
                </a:solidFill>
                <a:latin typeface="Aptos"/>
                <a:ea typeface="Aptos"/>
                <a:cs typeface="Aptos"/>
              </a:rPr>
              <a:t>Mechanism, reward dependence and peg stress change what a nominal APY number means.</a:t>
            </a:r>
          </a:p>
        </p:txBody>
      </p:sp>
      <p:sp>
        <p:nvSpPr>
          <p:cNvPr id="16" name="">
            <a:extLst xmlns:a="http://schemas.openxmlformats.org/drawingml/2006/main">
              <a:ext uri="{FF2B5EF4-FFF2-40B4-BE49-F238E27FC236}">
                <a16:creationId xmlns:a16="http://schemas.microsoft.com/office/drawing/2014/main" id="{142EE883-51AA-4C46-8DCE-E2959070E091}"/>
              </a:ext>
            </a:extLst>
          </p:cNvPr>
          <p:cNvSpPr>
            <a:spLocks xmlns:a="http://schemas.openxmlformats.org/drawingml/2006/main" noGrp="1"/>
          </p:cNvSpPr>
          <p:nvPr/>
        </p:nvSpPr>
        <p:spPr>
          <a:xfrm xmlns:a="http://schemas.openxmlformats.org/drawingml/2006/main">
            <a:off x="5219700" y="3867150"/>
            <a:ext cx="6000750" cy="9525"/>
          </a:xfrm>
          <a:prstGeom xmlns:a="http://schemas.openxmlformats.org/drawingml/2006/main" prst="line">
            <a:avLst/>
          </a:prstGeom>
          <a:noFill xmlns:a="http://schemas.openxmlformats.org/drawingml/2006/main"/>
          <a:ln xmlns:a="http://schemas.openxmlformats.org/drawingml/2006/main" w="9525">
            <a:solidFill>
              <a:srgbClr val="FFFFFF">
                <a:alpha val="16000"/>
              </a:srgbClr>
            </a:solidFill>
            <a:prstDash val="solid"/>
          </a:ln>
        </p:spPr>
      </p:sp>
      <p:sp>
        <p:nvSpPr>
          <p:cNvPr id="17" name="">
            <a:extLst xmlns:a="http://schemas.openxmlformats.org/drawingml/2006/main">
              <a:ext uri="{FF2B5EF4-FFF2-40B4-BE49-F238E27FC236}">
                <a16:creationId xmlns:a16="http://schemas.microsoft.com/office/drawing/2014/main" id="{278D9A2D-5517-46B5-8146-B4F86197E04C}"/>
              </a:ext>
            </a:extLst>
          </p:cNvPr>
          <p:cNvSpPr>
            <a:spLocks xmlns:a="http://schemas.openxmlformats.org/drawingml/2006/main" noGrp="1"/>
          </p:cNvSpPr>
          <p:nvPr/>
        </p:nvSpPr>
        <p:spPr>
          <a:xfrm xmlns:a="http://schemas.openxmlformats.org/drawingml/2006/main">
            <a:off x="5219700" y="4038600"/>
            <a:ext cx="1695450" cy="285750"/>
          </a:xfrm>
          <a:prstGeom xmlns:a="http://schemas.openxmlformats.org/drawingml/2006/main" prst="roundRect">
            <a:avLst>
              <a:gd name="adj" fmla="val 50000"/>
            </a:avLst>
          </a:prstGeom>
          <a:solidFill xmlns:a="http://schemas.openxmlformats.org/drawingml/2006/main">
            <a:srgbClr val="F6B84B">
              <a:alpha val="16000"/>
            </a:srgbClr>
          </a:solidFill>
          <a:ln xmlns:a="http://schemas.openxmlformats.org/drawingml/2006/main" w="9525">
            <a:solidFill>
              <a:srgbClr val="F6B84B">
                <a:alpha val="22000"/>
              </a:srgbClr>
            </a:solidFill>
            <a:prstDash val="solid"/>
          </a:ln>
        </p:spPr>
      </p:sp>
      <p:sp>
        <p:nvSpPr>
          <p:cNvPr id="18" name="">
            <a:extLst xmlns:a="http://schemas.openxmlformats.org/drawingml/2006/main">
              <a:ext uri="{FF2B5EF4-FFF2-40B4-BE49-F238E27FC236}">
                <a16:creationId xmlns:a16="http://schemas.microsoft.com/office/drawing/2014/main" id="{0C42B09A-4731-4085-A7DB-3F3DE74DECFA}"/>
              </a:ext>
            </a:extLst>
          </p:cNvPr>
          <p:cNvSpPr>
            <a:spLocks xmlns:a="http://schemas.openxmlformats.org/drawingml/2006/main" noGrp="1"/>
          </p:cNvSpPr>
          <p:nvPr/>
        </p:nvSpPr>
        <p:spPr>
          <a:xfrm xmlns:a="http://schemas.openxmlformats.org/drawingml/2006/main">
            <a:off x="5334000" y="4048125"/>
            <a:ext cx="1466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RESPONSIBLE DESIGN</a:t>
            </a:r>
          </a:p>
        </p:txBody>
      </p:sp>
      <p:sp>
        <p:nvSpPr>
          <p:cNvPr id="19" name="">
            <a:extLst xmlns:a="http://schemas.openxmlformats.org/drawingml/2006/main">
              <a:ext uri="{FF2B5EF4-FFF2-40B4-BE49-F238E27FC236}">
                <a16:creationId xmlns:a16="http://schemas.microsoft.com/office/drawing/2014/main" id="{BB7BB797-A623-424F-B653-E00BBC0E5BB6}"/>
              </a:ext>
            </a:extLst>
          </p:cNvPr>
          <p:cNvSpPr>
            <a:spLocks xmlns:a="http://schemas.openxmlformats.org/drawingml/2006/main" noGrp="1"/>
          </p:cNvSpPr>
          <p:nvPr/>
        </p:nvSpPr>
        <p:spPr>
          <a:xfrm xmlns:a="http://schemas.openxmlformats.org/drawingml/2006/main">
            <a:off x="7105650" y="4019550"/>
            <a:ext cx="4114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FFFFFF"/>
                </a:solidFill>
                <a:latin typeface="Aptos"/>
                <a:ea typeface="Aptos"/>
                <a:cs typeface="Aptos"/>
              </a:defRPr>
            </a:pPr>
            <a:r>
              <a:rPr sz="1275" b="0">
                <a:solidFill>
                  <a:srgbClr val="FFFFFF"/>
                </a:solidFill>
                <a:latin typeface="Aptos"/>
                <a:ea typeface="Aptos"/>
                <a:cs typeface="Aptos"/>
              </a:rPr>
              <a:t>The joint screen keeps APY, persistence and capacity visible without encoding a recommendation.</a:t>
            </a:r>
          </a:p>
        </p:txBody>
      </p:sp>
      <p:sp>
        <p:nvSpPr>
          <p:cNvPr id="20" name="">
            <a:extLst xmlns:a="http://schemas.openxmlformats.org/drawingml/2006/main">
              <a:ext uri="{FF2B5EF4-FFF2-40B4-BE49-F238E27FC236}">
                <a16:creationId xmlns:a16="http://schemas.microsoft.com/office/drawing/2014/main" id="{87246639-880E-47E6-9D5A-39376BB818A7}"/>
              </a:ext>
            </a:extLst>
          </p:cNvPr>
          <p:cNvSpPr>
            <a:spLocks xmlns:a="http://schemas.openxmlformats.org/drawingml/2006/main" noGrp="1"/>
          </p:cNvSpPr>
          <p:nvPr/>
        </p:nvSpPr>
        <p:spPr>
          <a:xfrm xmlns:a="http://schemas.openxmlformats.org/drawingml/2006/main">
            <a:off x="514350" y="5257800"/>
            <a:ext cx="11144250" cy="781050"/>
          </a:xfrm>
          <a:prstGeom xmlns:a="http://schemas.openxmlformats.org/drawingml/2006/main" prst="roundRect">
            <a:avLst>
              <a:gd name="adj" fmla="val 29268"/>
            </a:avLst>
          </a:prstGeom>
          <a:gradFill xmlns:a="http://schemas.openxmlformats.org/drawingml/2006/main">
            <a:gsLst>
              <a:gs pos="0">
                <a:srgbClr val="23C9D8">
                  <a:alpha val="22000"/>
                </a:srgbClr>
              </a:gs>
              <a:gs pos="48000">
                <a:srgbClr val="4F7CFF">
                  <a:alpha val="22000"/>
                </a:srgbClr>
              </a:gs>
              <a:gs pos="100000">
                <a:srgbClr val="FF6B9D">
                  <a:alpha val="22000"/>
                </a:srgbClr>
              </a:gs>
            </a:gsLst>
            <a:lin ang="0"/>
          </a:gradFill>
          <a:ln xmlns:a="http://schemas.openxmlformats.org/drawingml/2006/main" w="9525">
            <a:solidFill>
              <a:srgbClr val="FFFFFF">
                <a:alpha val="16000"/>
              </a:srgbClr>
            </a:solidFill>
            <a:prstDash val="solid"/>
          </a:ln>
        </p:spPr>
      </p:sp>
      <p:sp>
        <p:nvSpPr>
          <p:cNvPr id="21" name="">
            <a:extLst xmlns:a="http://schemas.openxmlformats.org/drawingml/2006/main">
              <a:ext uri="{FF2B5EF4-FFF2-40B4-BE49-F238E27FC236}">
                <a16:creationId xmlns:a16="http://schemas.microsoft.com/office/drawing/2014/main" id="{0C68C79D-72F1-42DB-AA35-5F63A17D5BAD}"/>
              </a:ext>
            </a:extLst>
          </p:cNvPr>
          <p:cNvSpPr>
            <a:spLocks xmlns:a="http://schemas.openxmlformats.org/drawingml/2006/main" noGrp="1"/>
          </p:cNvSpPr>
          <p:nvPr/>
        </p:nvSpPr>
        <p:spPr>
          <a:xfrm xmlns:a="http://schemas.openxmlformats.org/drawingml/2006/main">
            <a:off x="781050" y="5362575"/>
            <a:ext cx="990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FFFFFF"/>
                </a:solidFill>
                <a:latin typeface="Aptos"/>
                <a:ea typeface="Aptos"/>
                <a:cs typeface="Aptos"/>
              </a:defRPr>
            </a:pPr>
            <a:r>
              <a:rPr sz="1425" b="0">
                <a:solidFill>
                  <a:srgbClr val="FFFFFF"/>
                </a:solidFill>
                <a:latin typeface="Aptos"/>
                <a:ea typeface="Aptos"/>
                <a:cs typeface="Aptos"/>
              </a:rPr>
              <a:t>Code: github.com/Laimon99/stablecoin-yield-visualization</a:t>
            </a:r>
          </a:p>
          <a:p xmlns:a="http://schemas.openxmlformats.org/drawingml/2006/main">
            <a:pPr algn="l">
              <a:defRPr sz="1425" b="0">
                <a:solidFill>
                  <a:srgbClr val="FFFFFF"/>
                </a:solidFill>
                <a:latin typeface="Aptos"/>
                <a:ea typeface="Aptos"/>
                <a:cs typeface="Aptos"/>
              </a:defRPr>
            </a:pPr>
            <a:r>
              <a:rPr sz="1425" b="0">
                <a:solidFill>
                  <a:srgbClr val="FFFFFF"/>
                </a:solidFill>
                <a:latin typeface="Aptos"/>
                <a:ea typeface="Aptos"/>
                <a:cs typeface="Aptos"/>
              </a:rPr>
              <a:t>Matplotlib + Plotly. Code: MIT. Original presentation: CC BY 4.0.</a:t>
            </a:r>
          </a:p>
        </p:txBody>
      </p:sp>
      <p:sp>
        <p:nvSpPr>
          <p:cNvPr id="22" name="">
            <a:extLst xmlns:a="http://schemas.openxmlformats.org/drawingml/2006/main">
              <a:ext uri="{FF2B5EF4-FFF2-40B4-BE49-F238E27FC236}">
                <a16:creationId xmlns:a16="http://schemas.microsoft.com/office/drawing/2014/main" id="{5288354D-AAC9-447E-AFC0-B003E8BE1E38}"/>
              </a:ext>
            </a:extLst>
          </p:cNvPr>
          <p:cNvSpPr>
            <a:spLocks xmlns:a="http://schemas.openxmlformats.org/drawingml/2006/main" noGrp="1"/>
          </p:cNvSpPr>
          <p:nvPr/>
        </p:nvSpPr>
        <p:spPr>
          <a:xfrm xmlns:a="http://schemas.openxmlformats.org/drawingml/2006/main">
            <a:off x="533400" y="63055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0">
                <a:solidFill>
                  <a:srgbClr val="C7D2FE"/>
                </a:solidFill>
                <a:latin typeface="Aptos"/>
                <a:ea typeface="Aptos"/>
                <a:cs typeface="Aptos"/>
              </a:defRPr>
            </a:pPr>
            <a:r>
              <a:rPr sz="1050" b="0">
                <a:solidFill>
                  <a:srgbClr val="C7D2FE"/>
                </a:solidFill>
                <a:latin typeface="Aptos"/>
                <a:ea typeface="Aptos"/>
                <a:cs typeface="Aptos"/>
              </a:rPr>
              <a:t>Educational analysis only. No financial advice.</a:t>
            </a:r>
          </a:p>
        </p:txBody>
      </p:sp>
      <p:sp>
        <p:nvSpPr>
          <p:cNvPr id="23" name="">
            <a:extLst xmlns:a="http://schemas.openxmlformats.org/drawingml/2006/main">
              <a:ext uri="{FF2B5EF4-FFF2-40B4-BE49-F238E27FC236}">
                <a16:creationId xmlns:a16="http://schemas.microsoft.com/office/drawing/2014/main" id="{01DC9CC5-240E-42EC-B4C9-551F072D86B4}"/>
              </a:ext>
            </a:extLst>
          </p:cNvPr>
          <p:cNvSpPr>
            <a:spLocks xmlns:a="http://schemas.openxmlformats.org/drawingml/2006/main" noGrp="1"/>
          </p:cNvSpPr>
          <p:nvPr/>
        </p:nvSpPr>
        <p:spPr>
          <a:xfrm xmlns:a="http://schemas.openxmlformats.org/drawingml/2006/main">
            <a:off x="10572750" y="6267450"/>
            <a:ext cx="1028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200" b="1">
                <a:solidFill>
                  <a:srgbClr val="FFFFFF"/>
                </a:solidFill>
                <a:latin typeface="Aptos"/>
                <a:ea typeface="Aptos"/>
                <a:cs typeface="Aptos"/>
              </a:defRPr>
            </a:pPr>
            <a:r>
              <a:rPr sz="1200" b="1">
                <a:solidFill>
                  <a:srgbClr val="FFFFFF"/>
                </a:solidFill>
                <a:latin typeface="Aptos"/>
                <a:ea typeface="Aptos"/>
                <a:cs typeface="Aptos"/>
              </a:rPr>
              <a:t>17 / 17</a:t>
            </a:r>
          </a:p>
        </p:txBody>
      </p:sp>
    </p:spTree>
    <p:extLst>
      <p:ext uri="{BB962C8B-B14F-4D97-AF65-F5344CB8AC3E}">
        <p14:creationId xmlns:p14="http://schemas.microsoft.com/office/powerpoint/2010/main" val="8635116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2026-09-23T18:30:42.2850000Z</dcterms:created>
  <dcterms:modified xsi:type="dcterms:W3CDTF">2026-09-23T18:30:42.2850000Z</dcterms:modified>
</coreProperties>
</file>