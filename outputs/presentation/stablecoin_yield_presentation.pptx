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39aec3a5e4404c" /><Relationship Type="http://schemas.openxmlformats.org/officeDocument/2006/relationships/extended-properties" Target="/docProps/app.xml" Id="R48eb56587f254f9e" /><Relationship Type="http://schemas.openxmlformats.org/officeDocument/2006/relationships/officeDocument" Target="/ppt/presentation.xml" Id="Rdf2d3e575f0447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7e6013f1ee4dd1"/>
  </p:sldMasterIdLst>
  <p:notesMasterIdLst>
    <p:notesMasterId xmlns:r="http://schemas.openxmlformats.org/officeDocument/2006/relationships" r:id="Rce0b41e38427448b"/>
  </p:notesMasterIdLst>
  <p:sldIdLst>
    <p:sldId xmlns:r="http://schemas.openxmlformats.org/officeDocument/2006/relationships" id="256" r:id="R9e44caf97b684d2f"/>
    <p:sldId xmlns:r="http://schemas.openxmlformats.org/officeDocument/2006/relationships" id="257" r:id="R8c1d75cba0314e4b"/>
    <p:sldId xmlns:r="http://schemas.openxmlformats.org/officeDocument/2006/relationships" id="258" r:id="Rd20bfb86f7144bd7"/>
    <p:sldId xmlns:r="http://schemas.openxmlformats.org/officeDocument/2006/relationships" id="259" r:id="Re570c7104ba34087"/>
    <p:sldId xmlns:r="http://schemas.openxmlformats.org/officeDocument/2006/relationships" id="260" r:id="R404b48cd13d4470d"/>
    <p:sldId xmlns:r="http://schemas.openxmlformats.org/officeDocument/2006/relationships" id="261" r:id="R4be7292498c94c08"/>
    <p:sldId xmlns:r="http://schemas.openxmlformats.org/officeDocument/2006/relationships" id="262" r:id="Rc6133755b1944923"/>
    <p:sldId xmlns:r="http://schemas.openxmlformats.org/officeDocument/2006/relationships" id="263" r:id="Rfcbe9e43c90846d5"/>
    <p:sldId xmlns:r="http://schemas.openxmlformats.org/officeDocument/2006/relationships" id="264" r:id="Rd0f80833154b479b"/>
    <p:sldId xmlns:r="http://schemas.openxmlformats.org/officeDocument/2006/relationships" id="265" r:id="R36951ceaff7c46bf"/>
    <p:sldId xmlns:r="http://schemas.openxmlformats.org/officeDocument/2006/relationships" id="266" r:id="Rde5ecb4ee7bd48ab"/>
    <p:sldId xmlns:r="http://schemas.openxmlformats.org/officeDocument/2006/relationships" id="267" r:id="R3355e1ffa45f4799"/>
    <p:sldId xmlns:r="http://schemas.openxmlformats.org/officeDocument/2006/relationships" id="268" r:id="R455718ff994740cd"/>
    <p:sldId xmlns:r="http://schemas.openxmlformats.org/officeDocument/2006/relationships" id="269" r:id="R2fc6a8030a0f48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7b5690d9734d81" /><Relationship Type="http://schemas.openxmlformats.org/officeDocument/2006/relationships/slideMaster" Target="/ppt/slideMasters/slideMaster1.xml" Id="R5e7e6013f1ee4dd1" /><Relationship Type="http://schemas.openxmlformats.org/officeDocument/2006/relationships/notesMaster" Target="/ppt/notesMasters/notesMaster1.xml" Id="Rce0b41e38427448b" /><Relationship Type="http://schemas.openxmlformats.org/officeDocument/2006/relationships/presProps" Target="/ppt/presProps.xml" Id="R68c2155554da4b86" /><Relationship Type="http://schemas.openxmlformats.org/officeDocument/2006/relationships/tableStyles" Target="/ppt/tableStyles.xml" Id="R23d8ce97ead14e91" /><Relationship Type="http://schemas.openxmlformats.org/officeDocument/2006/relationships/slide" Target="/ppt/slides/slide1.xml" Id="R9e44caf97b684d2f" /><Relationship Type="http://schemas.openxmlformats.org/officeDocument/2006/relationships/slide" Target="/ppt/slides/slide2.xml" Id="R8c1d75cba0314e4b" /><Relationship Type="http://schemas.openxmlformats.org/officeDocument/2006/relationships/slide" Target="/ppt/slides/slide3.xml" Id="Rd20bfb86f7144bd7" /><Relationship Type="http://schemas.openxmlformats.org/officeDocument/2006/relationships/slide" Target="/ppt/slides/slide4.xml" Id="Re570c7104ba34087" /><Relationship Type="http://schemas.openxmlformats.org/officeDocument/2006/relationships/slide" Target="/ppt/slides/slide5.xml" Id="R404b48cd13d4470d" /><Relationship Type="http://schemas.openxmlformats.org/officeDocument/2006/relationships/slide" Target="/ppt/slides/slide6.xml" Id="R4be7292498c94c08" /><Relationship Type="http://schemas.openxmlformats.org/officeDocument/2006/relationships/slide" Target="/ppt/slides/slide7.xml" Id="Rc6133755b1944923" /><Relationship Type="http://schemas.openxmlformats.org/officeDocument/2006/relationships/slide" Target="/ppt/slides/slide8.xml" Id="Rfcbe9e43c90846d5" /><Relationship Type="http://schemas.openxmlformats.org/officeDocument/2006/relationships/slide" Target="/ppt/slides/slide9.xml" Id="Rd0f80833154b479b" /><Relationship Type="http://schemas.openxmlformats.org/officeDocument/2006/relationships/slide" Target="/ppt/slides/slide10.xml" Id="R36951ceaff7c46bf" /><Relationship Type="http://schemas.openxmlformats.org/officeDocument/2006/relationships/slide" Target="/ppt/slides/slide11.xml" Id="Rde5ecb4ee7bd48ab" /><Relationship Type="http://schemas.openxmlformats.org/officeDocument/2006/relationships/slide" Target="/ppt/slides/slide12.xml" Id="R3355e1ffa45f4799" /><Relationship Type="http://schemas.openxmlformats.org/officeDocument/2006/relationships/slide" Target="/ppt/slides/slide13.xml" Id="R455718ff994740cd" /><Relationship Type="http://schemas.openxmlformats.org/officeDocument/2006/relationships/slide" Target="/ppt/slides/slide14.xml" Id="R2fc6a8030a0f48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26f98851a84e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f5609589f14e4b" /><Relationship Type="http://schemas.openxmlformats.org/officeDocument/2006/relationships/notesMaster" Target="/ppt/notesMasters/notesMaster1.xml" Id="R0eea6c40c6bb4a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b48079c6c34eff" /><Relationship Type="http://schemas.openxmlformats.org/officeDocument/2006/relationships/notesMaster" Target="/ppt/notesMasters/notesMaster1.xml" Id="R709167b258014a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28c2eb1f5e46fa" /><Relationship Type="http://schemas.openxmlformats.org/officeDocument/2006/relationships/notesMaster" Target="/ppt/notesMasters/notesMaster1.xml" Id="R0bd24e4a52df42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67b9387bf84bdb" /><Relationship Type="http://schemas.openxmlformats.org/officeDocument/2006/relationships/notesMaster" Target="/ppt/notesMasters/notesMaster1.xml" Id="Re5ec34fa35dd4b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4ee3ebcba74192" /><Relationship Type="http://schemas.openxmlformats.org/officeDocument/2006/relationships/notesMaster" Target="/ppt/notesMasters/notesMaster1.xml" Id="Rff17fd016eae45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1a93386c3d4162" /><Relationship Type="http://schemas.openxmlformats.org/officeDocument/2006/relationships/notesMaster" Target="/ppt/notesMasters/notesMaster1.xml" Id="R7ac40dc77a404d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91117e51a848fd" /><Relationship Type="http://schemas.openxmlformats.org/officeDocument/2006/relationships/notesMaster" Target="/ppt/notesMasters/notesMaster1.xml" Id="R0485c54366464e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91d7fa3eb145d8" /><Relationship Type="http://schemas.openxmlformats.org/officeDocument/2006/relationships/notesMaster" Target="/ppt/notesMasters/notesMaster1.xml" Id="R368aefee538742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42467143f940db" /><Relationship Type="http://schemas.openxmlformats.org/officeDocument/2006/relationships/notesMaster" Target="/ppt/notesMasters/notesMaster1.xml" Id="R1d28372068834b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90479d80e548e8" /><Relationship Type="http://schemas.openxmlformats.org/officeDocument/2006/relationships/notesMaster" Target="/ppt/notesMasters/notesMaster1.xml" Id="R173fe6e1f9a948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58fe9b3b0549b1" /><Relationship Type="http://schemas.openxmlformats.org/officeDocument/2006/relationships/notesMaster" Target="/ppt/notesMasters/notesMaster1.xml" Id="Rb0840b1e08ff4a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6581f28b954a23" /><Relationship Type="http://schemas.openxmlformats.org/officeDocument/2006/relationships/notesMaster" Target="/ppt/notesMasters/notesMaster1.xml" Id="R3c016ae2cd884e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643b051c9643d1" /><Relationship Type="http://schemas.openxmlformats.org/officeDocument/2006/relationships/notesMaster" Target="/ppt/notesMasters/notesMaster1.xml" Id="R4158ce793e1640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bc9f3c784a49a0" /><Relationship Type="http://schemas.openxmlformats.org/officeDocument/2006/relationships/notesMaster" Target="/ppt/notesMasters/notesMaster1.xml" Id="R75539e5201244f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precise scope: persistence, mechanisms and observed TVL response. State that this is not a protocol-risk model or a recommendation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five research questions and the decision to use pool-day as the analytical grain.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eligibility rules: stablecoin flag, at least USD 1 million TVL and 180 history observations. The 250-pool cap combines 70 percent highest TVL with the remaining capacity highest APY.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main 10% episode specification, one-missing-day tolerance, right censoring, churn formula, APY-jump event trigger and the three-median joint screen. Emphasize that the screen is not a Pareto frontier.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p99 display cap and preserved extreme-value flags to justify robust summaries without deleting source observations.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Kaplan-Meier survival and right censoring. Report 2,668 episodes, median 2 days, p90 16 days and 1.2 percent censored.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churn as one minus top-k retention. The heatmap cells are separate top-10 and top-20 date means. The text summary pools all valid observed-date/top-k comparisons, so it is weighted by their counts: 2,669 at 1 day, 2,657 at 7 days and 2,612 at 30 days.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native chart. Contrast incentive-driven pools with base-yield categories and report 90.3 percent base coverage versus 61.6 percent reward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event trigger and show the four event-time points. State immediately that TVL is an observational balance-sheet proxy, not a causal wallet-flow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 the selected reviewed event, the 10-pool exposure window and the descriptive APY change. Do not generalize one event into a causal risk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this a joint threshold screen, not a Pareto frontier. Bubble size encodes median TVL; highlighted points clear all three medians.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episode counts change with the threshold but the median duration does not. Mention all five robustness families materialized by the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unmeasured dimensions: smart-contract, counterparty, bridge, chain, oracle, liquidity and collateral quality. This boundary is why the project avoids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one-sentence defense, reproducibility and the no-financial-advice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1a9de5b2f4c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9b3c23dcfa476e" /><Relationship Type="http://schemas.openxmlformats.org/officeDocument/2006/relationships/slideLayout" Target="/ppt/slideLayouts/slideLayout1.xml" Id="Raa259d70d45949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259d70d45949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4aab94fcc406a" /><Relationship Type="http://schemas.openxmlformats.org/officeDocument/2006/relationships/notesSlide" Target="/ppt/notesSlides/notesSlide1.xml" Id="R46527f9d70d342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f883a7ea147f2" /><Relationship Type="http://schemas.openxmlformats.org/officeDocument/2006/relationships/notesSlide" Target="/ppt/notesSlides/notesSlide2.xml" Id="Re842524a6a444d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3b01bbc9146d8" /><Relationship Type="http://schemas.openxmlformats.org/officeDocument/2006/relationships/image" Target="/ppt/media/image.png" Id="R389a4da3208e48a8" /><Relationship Type="http://schemas.openxmlformats.org/officeDocument/2006/relationships/notesSlide" Target="/ppt/notesSlides/notesSlide3.xml" Id="Ra6670396dac149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94fe23faa4ac2" /><Relationship Type="http://schemas.openxmlformats.org/officeDocument/2006/relationships/notesSlide" Target="/ppt/notesSlides/notesSlide4.xml" Id="R876465667eb046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a61f8c48646c9" /><Relationship Type="http://schemas.openxmlformats.org/officeDocument/2006/relationships/image" Target="/ppt/media/image2.png" Id="R77f8e570481e4e6f" /><Relationship Type="http://schemas.openxmlformats.org/officeDocument/2006/relationships/notesSlide" Target="/ppt/notesSlides/notesSlide5.xml" Id="Ra9f8cb24e98445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36fb7143d4bf4" /><Relationship Type="http://schemas.openxmlformats.org/officeDocument/2006/relationships/image" Target="/ppt/media/image3.png" Id="R15c86cd1f304498e" /><Relationship Type="http://schemas.openxmlformats.org/officeDocument/2006/relationships/notesSlide" Target="/ppt/notesSlides/notesSlide6.xml" Id="R54f6e9693a5041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bf2334a80455a" /><Relationship Type="http://schemas.openxmlformats.org/officeDocument/2006/relationships/image" Target="/ppt/media/image4.png" Id="R865a9fb2f53b4cd4" /><Relationship Type="http://schemas.openxmlformats.org/officeDocument/2006/relationships/notesSlide" Target="/ppt/notesSlides/notesSlide7.xml" Id="R401874b747eb4c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1db2fef944a58" /><Relationship Type="http://schemas.openxmlformats.org/officeDocument/2006/relationships/image" Target="/ppt/media/image5.png" Id="R6514d79d01a2471b" /><Relationship Type="http://schemas.openxmlformats.org/officeDocument/2006/relationships/notesSlide" Target="/ppt/notesSlides/notesSlide8.xml" Id="R9881fbf594ca46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2600cb5b54c49" /><Relationship Type="http://schemas.openxmlformats.org/officeDocument/2006/relationships/image" Target="/ppt/media/image6.png" Id="R65a39ad60cfa4604" /><Relationship Type="http://schemas.openxmlformats.org/officeDocument/2006/relationships/image" Target="/ppt/media/image7.png" Id="R8578c5be97d545ec" /><Relationship Type="http://schemas.openxmlformats.org/officeDocument/2006/relationships/notesSlide" Target="/ppt/notesSlides/notesSlide9.xml" Id="Rd9cdcd77b2e74a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21711506d4f69" /><Relationship Type="http://schemas.openxmlformats.org/officeDocument/2006/relationships/image" Target="/ppt/media/image8.png" Id="R51232bbd77a24e20" /><Relationship Type="http://schemas.openxmlformats.org/officeDocument/2006/relationships/image" Target="/ppt/media/image9.png" Id="R420df67001e342b3" /><Relationship Type="http://schemas.openxmlformats.org/officeDocument/2006/relationships/notesSlide" Target="/ppt/notesSlides/notesSlide10.xml" Id="R03f7b1b253ee4a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357994a7c4988" /><Relationship Type="http://schemas.openxmlformats.org/officeDocument/2006/relationships/image" Target="/ppt/media/image10.png" Id="R9fb99cedadf54b15" /><Relationship Type="http://schemas.openxmlformats.org/officeDocument/2006/relationships/notesSlide" Target="/ppt/notesSlides/notesSlide11.xml" Id="R6ad43a01b2f44b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bd22cb39e4c9b" /><Relationship Type="http://schemas.openxmlformats.org/officeDocument/2006/relationships/image" Target="/ppt/media/image11.png" Id="Rc3bd01959a754e64" /><Relationship Type="http://schemas.openxmlformats.org/officeDocument/2006/relationships/notesSlide" Target="/ppt/notesSlides/notesSlide12.xml" Id="R32e7efbce1a04a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cb01bd40b43bc" /><Relationship Type="http://schemas.openxmlformats.org/officeDocument/2006/relationships/notesSlide" Target="/ppt/notesSlides/notesSlide13.xml" Id="Rb89eeba119b64c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eec7356234507" /><Relationship Type="http://schemas.openxmlformats.org/officeDocument/2006/relationships/notesSlide" Target="/ppt/notesSlides/notesSlide14.xml" Id="Rff62fa272364455d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91127"/>
            </a:gs>
            <a:gs pos="58000">
              <a:srgbClr val="172B66"/>
            </a:gs>
            <a:gs pos="100000">
              <a:srgbClr val="5B3CC4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DF3B62-F1D9-4CEA-AFC6-188E3563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23C9D8"/>
              </a:gs>
              <a:gs pos="48000">
                <a:srgbClr val="4F7CFF"/>
              </a:gs>
              <a:gs pos="100000">
                <a:srgbClr val="FF6B9D"/>
              </a:gs>
            </a:gsLst>
            <a:lin ang="0"/>
          </a:gradFill>
          <a:ln xmlns:a="http://schemas.openxmlformats.org/drawingml/2006/main" w="0">
            <a:gradFill>
              <a:gsLst>
                <a:gs pos="0">
                  <a:srgbClr val="23C9D8"/>
                </a:gs>
                <a:gs pos="48000">
                  <a:srgbClr val="4F7CFF"/>
                </a:gs>
                <a:gs pos="100000">
                  <a:srgbClr val="FF6B9D"/>
                </a:gs>
              </a:gsLst>
              <a:lin ang="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18B74-8AAE-43C0-BE25-FFF37443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2800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23C9D8">
                <a:alpha val="22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FC221-0F81-472E-B086-DD5B5F31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VISUALIZATION / DEFI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D533C69-00BE-474B-9F1B-307AEE60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628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Stablecoin Yield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1F465-9CDC-4DF0-B8C0-81434985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6048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DE6F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DE6FF"/>
                </a:solidFill>
                <a:latin typeface="Aptos"/>
                <a:ea typeface="Aptos"/>
                <a:cs typeface="Aptos"/>
              </a:rPr>
              <a:t>The price of yield: persistence, mechanisms and TVL response in stablecoin DeFi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692CC-1F0C-45C4-BC01-37E524DF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5905500" cy="1104900"/>
          </a:xfrm>
          <a:prstGeom xmlns:a="http://schemas.openxmlformats.org/drawingml/2006/main" prst="roundRect">
            <a:avLst>
              <a:gd name="adj" fmla="val 22414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E7448-769E-4BA7-86A1-A0950FA1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9D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C9D8"/>
                </a:solidFill>
                <a:latin typeface="Aptos"/>
                <a:ea typeface="Aptos"/>
                <a:cs typeface="Aptos"/>
              </a:rPr>
              <a:t>CENTRAL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20C10-D12B-40B1-9B46-AE45781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527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Stablecoin APY becomes interpretable only when duration, TVL, mechanism and peg context are shown together.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19ADE-5190-4F1A-9279-9ABB7228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23900"/>
            <a:ext cx="4495800" cy="4762500"/>
          </a:xfrm>
          <a:prstGeom xmlns:a="http://schemas.openxmlformats.org/drawingml/2006/main" prst="roundRect">
            <a:avLst>
              <a:gd name="adj" fmla="val 7203"/>
            </a:avLst>
          </a:prstGeom>
          <a:solidFill xmlns:a="http://schemas.openxmlformats.org/drawingml/2006/main">
            <a:srgbClr val="FFFFFF">
              <a:alpha val="11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46B5B-6657-4566-AB00-3BDA6447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047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snapshot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8B92A-2404-48E5-973C-D867F83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66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6FF"/>
                </a:solidFill>
                <a:latin typeface="Aptos"/>
                <a:ea typeface="Aptos"/>
                <a:cs typeface="Aptos"/>
              </a:rPr>
              <a:t>A compact view of the analytical scale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18994-B434-4140-9EC0-2BF77FDC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52625"/>
            <a:ext cx="381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FE716-5778-431B-9D49-43D2B09F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76450"/>
            <a:ext cx="9525" cy="2876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3AB7D-EE50-4019-AB7C-CF6F2376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381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4ED0D-39EE-439B-9B72-015C86EA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0980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86A0D-08B5-48E3-A897-2847B4A1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9D8"/>
          </a:solidFill>
          <a:ln xmlns:a="http://schemas.openxmlformats.org/drawingml/2006/main" w="0">
            <a:solidFill>
              <a:srgbClr val="23C9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77B41-3B12-4ABF-A0FB-DFAB7D9E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48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DE6FF"/>
                </a:solidFill>
                <a:latin typeface="Aptos"/>
                <a:ea typeface="Aptos"/>
                <a:cs typeface="Aptos"/>
              </a:rPr>
              <a:t>POOLS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980D4-1A98-4535-AEE4-BF97640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137k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A97B0-F83A-4FB4-9649-5A610E64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FF6B9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86B35-A9FE-4582-9A6E-02A39098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48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DE6FF"/>
                </a:solidFill>
                <a:latin typeface="Aptos"/>
                <a:ea typeface="Aptos"/>
                <a:cs typeface="Aptos"/>
              </a:rPr>
              <a:t>POOL-DAYS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28037-5686-4517-A949-15D4A15A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3380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5D5B8-4F72-456A-B272-B030956E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1960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84B"/>
          </a:solidFill>
          <a:ln xmlns:a="http://schemas.openxmlformats.org/drawingml/2006/main" w="0">
            <a:solidFill>
              <a:srgbClr val="F6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02ED6-0832-4F41-8C1B-0B5163C8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72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DE6FF"/>
                </a:solidFill>
                <a:latin typeface="Aptos"/>
                <a:ea typeface="Aptos"/>
                <a:cs typeface="Aptos"/>
              </a:rPr>
              <a:t>POOL-DAY MEDIAN APY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8AEDB-4B9E-4086-BF6F-7C9FF286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3380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06BB89-1DE3-4968-B895-EB4D120C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1960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9D8"/>
          </a:solidFill>
          <a:ln xmlns:a="http://schemas.openxmlformats.org/drawingml/2006/main" w="0">
            <a:solidFill>
              <a:srgbClr val="23C9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47A283-9F57-4A90-972D-4A64A48C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DE6FF"/>
                </a:solidFill>
                <a:latin typeface="Aptos"/>
                <a:ea typeface="Aptos"/>
                <a:cs typeface="Aptos"/>
              </a:rPr>
              <a:t>MEDIAN EPISODE DURATION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FC6987-402C-4399-B1A2-96539333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Yield as a regime, not a ranking.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2BBCC6-1698-4DC4-AEE5-9D1CCC0A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Educational analysis only. No financial advice, no pool ranking.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73627A-4ECD-4FC2-8978-7E9B5BA8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579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 / 14</a:t>
            </a:r>
          </a:p>
        </p:txBody>
      </p:sp>
    </p:spTree>
    <p:extLst>
      <p:ext uri="{BB962C8B-B14F-4D97-AF65-F5344CB8AC3E}">
        <p14:creationId xmlns:p14="http://schemas.microsoft.com/office/powerpoint/2010/main" val="1593671289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BFCFF"/>
            </a:gs>
            <a:gs pos="64000">
              <a:srgbClr val="F4F7FF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5D11B-236D-4449-9DEB-7F646A97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3000"/>
            </a:srgbClr>
          </a:solidFill>
          <a:ln xmlns:a="http://schemas.openxmlformats.org/drawingml/2006/main"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F103F-A176-450E-8231-916CED70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RESEARCH 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02AD2-A318-4217-8C35-FDD2A1ED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ABDAB-2391-404E-902A-54EE9336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76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16C08-EE6B-49B9-B933-9605A0FF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STABLECOIN YIELD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5830F-CBC4-4B24-AD41-ED4AAECC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3333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4F2"/>
          </a:solidFill>
          <a:ln xmlns:a="http://schemas.openxmlformats.org/drawingml/2006/main" w="0">
            <a:solidFill>
              <a:srgbClr val="DCE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88B56-EDB3-44BF-9807-DE471684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51FDC-BAD0-4389-8EC6-05645C7F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Yield is a regime, not a rank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97BD2-ED1D-4213-B1DD-9DF3B94F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8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Five questions turn a volatile pool universe into evidence that can be defended without making recommendations.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AE875-4E35-47BF-B0C9-3B9F075F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38350"/>
            <a:ext cx="3905250" cy="3714750"/>
          </a:xfrm>
          <a:prstGeom xmlns:a="http://schemas.openxmlformats.org/drawingml/2006/main" prst="roundRect">
            <a:avLst>
              <a:gd name="adj" fmla="val 7692"/>
            </a:avLst>
          </a:prstGeom>
          <a:gradFill xmlns:a="http://schemas.openxmlformats.org/drawingml/2006/main">
            <a:gsLst>
              <a:gs pos="0">
                <a:srgbClr val="4F7CFF"/>
              </a:gs>
              <a:gs pos="58000">
                <a:srgbClr val="6B63E8"/>
              </a:gs>
              <a:gs pos="100000">
                <a:srgbClr val="8B5CF6"/>
              </a:gs>
            </a:gsLst>
            <a:lin ang="8700000"/>
          </a:gradFill>
          <a:ln xmlns:a="http://schemas.openxmlformats.org/drawingml/2006/main" w="0">
            <a:gradFill>
              <a:gsLst>
                <a:gs pos="0">
                  <a:srgbClr val="4F7CFF"/>
                </a:gs>
                <a:gs pos="58000">
                  <a:srgbClr val="6B63E8"/>
                </a:gs>
                <a:gs pos="100000">
                  <a:srgbClr val="8B5CF6"/>
                </a:gs>
              </a:gsLst>
              <a:lin ang="8700000"/>
            </a:gra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14B87-DD19-41E7-A649-AEDF2DE4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6FF"/>
                </a:solidFill>
                <a:latin typeface="Aptos"/>
                <a:ea typeface="Aptos"/>
                <a:cs typeface="Aptos"/>
              </a:rPr>
              <a:t>ONE ANALYTICAL GRAIN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0D5C8-D3B3-4AE4-BB4C-218F9C91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POOL × 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58784-63EE-4BFE-B093-39452090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028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Each observation connects yield level, capacity, mechanism and market context at a defensible temporal resolution.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4F87E-2BB9-4A94-A19B-7888DEF5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30289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C6600-CD3E-47DB-BB3D-F94262A1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7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7FF"/>
                </a:solidFill>
                <a:latin typeface="Aptos"/>
                <a:ea typeface="Aptos"/>
                <a:cs typeface="Aptos"/>
              </a:rPr>
              <a:t>Boundary: APY is quoted annualized APY. TVL change is an observed proxy, not direct wallet-level 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64C6C-DE7E-4BFA-8108-7121498E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7067550" cy="3714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0D4E4-6E25-4FB0-BACD-E6399546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0505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4000"/>
            </a:srgbClr>
          </a:solidFill>
          <a:ln xmlns:a="http://schemas.openxmlformats.org/drawingml/2006/main"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A4BF7-6E37-4D29-B58F-6308C03D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145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4B38D-9D07-4190-B4F9-6FE5E852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860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How long do episodes at or above 10% APY last?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E64DD-51E5-4A41-8C6B-C2D02298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28925"/>
            <a:ext cx="6419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7897A0-8D10-4B43-B5CD-D774DBA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718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9D8">
              <a:alpha val="14000"/>
            </a:srgbClr>
          </a:solidFill>
          <a:ln xmlns:a="http://schemas.openxmlformats.org/drawingml/2006/main" w="9525">
            <a:solidFill>
              <a:srgbClr val="23C9D8">
                <a:alpha val="22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330FA-80D8-49FE-BCD2-CC7C36E4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813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C9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C9D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53605-BCD2-40D4-A261-908DBD31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527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Which mechanisms explain headline APY?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ECA24-A21C-4389-951A-21DC3C52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95675"/>
            <a:ext cx="6419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13565-6AF6-48A4-8004-67A0A1A8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3855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>
              <a:alpha val="14000"/>
            </a:srgbClr>
          </a:solidFill>
          <a:ln xmlns:a="http://schemas.openxmlformats.org/drawingml/2006/main" w="9525">
            <a:solidFill>
              <a:srgbClr val="4F7CFF">
                <a:alpha val="22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EBAC8-7F83-44E9-92BD-C666D240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480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F7C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F7C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4F316-1219-4C8B-98ED-F0E3A158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19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How stable are top-yield rankings?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BD93E1-6C20-4BBD-A81F-369A779C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62425"/>
            <a:ext cx="6419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242A7-4C05-48E3-8A1A-7CE71888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053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>
              <a:alpha val="14000"/>
            </a:srgbClr>
          </a:solidFill>
          <a:ln xmlns:a="http://schemas.openxmlformats.org/drawingml/2006/main" w="9525">
            <a:solidFill>
              <a:srgbClr val="FF6B9D">
                <a:alpha val="22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64074-ED08-4197-AB13-D24D98D0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148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3E2656-9C14-4DFE-8611-D11CDA5E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862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What changes during peg stress?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9FA3AB-3145-4801-A3F9-0B8B17A3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29175"/>
            <a:ext cx="6419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E810A5-890D-4F21-A85C-C1F6857E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7205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BAD">
              <a:alpha val="14000"/>
            </a:srgbClr>
          </a:solidFill>
          <a:ln xmlns:a="http://schemas.openxmlformats.org/drawingml/2006/main" w="9525">
            <a:solidFill>
              <a:srgbClr val="2BBBAD">
                <a:alpha val="2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9C942F-5DA8-40D3-B638-36D86434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815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BBA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BBA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EE4D8C-A7FE-4D74-AC07-C2551086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9530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Which pools clear all three thresholds?</a:t>
            </a:r>
          </a:p>
        </p:txBody>
      </p:sp>
    </p:spTree>
    <p:extLst>
      <p:ext uri="{BB962C8B-B14F-4D97-AF65-F5344CB8AC3E}">
        <p14:creationId xmlns:p14="http://schemas.microsoft.com/office/powerpoint/2010/main" val="534686559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BFCFF"/>
            </a:gs>
            <a:gs pos="64000">
              <a:srgbClr val="F4F7FF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F2F812-4A18-4FC2-B3E7-F49B9859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9D8">
              <a:alpha val="13000"/>
            </a:srgbClr>
          </a:solidFill>
          <a:ln xmlns:a="http://schemas.openxmlformats.org/drawingml/2006/main" w="9525">
            <a:solidFill>
              <a:srgbClr val="23C9D8">
                <a:alpha val="22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ACC22-F395-4089-822D-58D4B914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C9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C9D8"/>
                </a:solidFill>
                <a:latin typeface="Aptos"/>
                <a:ea typeface="Aptos"/>
                <a:cs typeface="Aptos"/>
              </a:rPr>
              <a:t>DATA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7E5C2-CF1E-4CCB-8612-51A56E26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9D8"/>
          </a:solidFill>
          <a:ln xmlns:a="http://schemas.openxmlformats.org/drawingml/2006/main" w="9525">
            <a:solidFill>
              <a:srgbClr val="23C9D8">
                <a:alpha val="22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08EF1-C134-4FEF-A6C1-7FB1A6F1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76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D054A-56B1-4BB6-A825-00D807A9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STABLECOIN YIELD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9657A-E5BE-402F-9241-1BB90FF2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3333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4F2"/>
          </a:solidFill>
          <a:ln xmlns:a="http://schemas.openxmlformats.org/drawingml/2006/main" w="0">
            <a:solidFill>
              <a:srgbClr val="DCE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9C4D5-00A3-4824-8C2C-2C96DBA6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7143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9D8"/>
          </a:solidFill>
          <a:ln xmlns:a="http://schemas.openxmlformats.org/drawingml/2006/main" w="0">
            <a:solidFill>
              <a:srgbClr val="23C9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26018-5720-40F3-B09E-ED1414B2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The sample is broad, but deliberately selected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E22D7-0A67-41A9-9FDB-5A8639CF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2022-02-11 to 2026-07-08 | 137,095 pool-days | unbalanced panel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0B091-F3C7-4CF9-9E4B-9073CFD9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6591300" cy="4038600"/>
          </a:xfrm>
          <a:prstGeom xmlns:a="http://schemas.openxmlformats.org/drawingml/2006/main" prst="roundRect">
            <a:avLst>
              <a:gd name="adj" fmla="val 6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B57A7-AC18-4687-8B0B-F3AFB280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Selected pools by analytical type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a4da3208e48a8"/>
          <a:stretch xmlns:a="http://schemas.openxmlformats.org/drawingml/2006/main"/>
        </p:blipFill>
        <p:spPr>
          <a:xfrm xmlns:a="http://schemas.openxmlformats.org/drawingml/2006/main">
            <a:off x="666750" y="2400300"/>
            <a:ext cx="6000750" cy="3048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92D2B-74E6-4EFB-AB37-D6CB9D42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4419600" cy="4038600"/>
          </a:xfrm>
          <a:prstGeom xmlns:a="http://schemas.openxmlformats.org/drawingml/2006/main" prst="roundRect">
            <a:avLst>
              <a:gd name="adj" fmla="val 6132"/>
            </a:avLst>
          </a:prstGeom>
          <a:gradFill xmlns:a="http://schemas.openxmlformats.org/drawingml/2006/main">
            <a:gsLst>
              <a:gs pos="0">
                <a:srgbClr val="23C9D8">
                  <a:alpha val="15000"/>
                </a:srgbClr>
              </a:gs>
              <a:gs pos="78000">
                <a:srgbClr val="FFFFFF"/>
              </a:gs>
            </a:gsLst>
            <a:lin ang="8700000"/>
          </a:gradFill>
          <a:ln xmlns:a="http://schemas.openxmlformats.org/drawingml/2006/main" w="9525">
            <a:solidFill>
              <a:srgbClr val="23C9D8">
                <a:alpha val="2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8BC91-6BAD-404F-AFDA-4B93DFE7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790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9D8">
              <a:alpha val="15000"/>
            </a:srgbClr>
          </a:solidFill>
          <a:ln xmlns:a="http://schemas.openxmlformats.org/drawingml/2006/main" w="9525">
            <a:solidFill>
              <a:srgbClr val="23C9D8">
                <a:alpha val="2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4D1EF-76D2-481B-B057-C856DF58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288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C9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C9D8"/>
                </a:solidFill>
                <a:latin typeface="Aptos"/>
                <a:ea typeface="Aptos"/>
                <a:cs typeface="Aptos"/>
              </a:rPr>
              <a:t>SELECTION LOGIC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3A2AD-4291-46D4-9053-0725D38D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Eligibility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A9E82-C5BC-41EA-BD8E-DD3FECE0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14600"/>
            <a:ext cx="241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Stablecoin pool, TVL &gt;= USD 1M, at least 180 provider history observations.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90E64-1812-4229-A8CF-66EC8E6B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81350"/>
            <a:ext cx="3790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C9D8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0E276-5673-44FF-B7F4-32A47325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718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Cap of 250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E36B3-9F34-436F-A198-462901C2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241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70% highest TVL; remaining capacity highest current APY. No random sampling claim.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70ED4-71E0-4A7D-AEFB-AFCECC9F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9550"/>
            <a:ext cx="3790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C9D8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D9017E-EBD1-4A6D-89D2-19D33521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0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Entry and exit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F917E-192F-4122-B792-8DB9CBC5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91000"/>
            <a:ext cx="241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Observed pool-specific dates only. No synthetic backfill or balanced-panel imputation.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495C78-BF2E-40DC-995B-C477E64F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7909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790D42-6005-4908-929B-D5225150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911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Data quality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1D7150-106F-4025-BCA6-44E20682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1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26 missing TVL rows | 32 APY &gt; 1,000% flagged, not hidden</a:t>
            </a:r>
          </a:p>
        </p:txBody>
      </p:sp>
    </p:spTree>
    <p:extLst>
      <p:ext uri="{BB962C8B-B14F-4D97-AF65-F5344CB8AC3E}">
        <p14:creationId xmlns:p14="http://schemas.microsoft.com/office/powerpoint/2010/main" val="633167304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BFCFF"/>
            </a:gs>
            <a:gs pos="64000">
              <a:srgbClr val="F4F7FF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A0E05B-BA6E-45D4-B7F5-B1743A30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>
              <a:alpha val="13000"/>
            </a:srgbClr>
          </a:solidFill>
          <a:ln xmlns:a="http://schemas.openxmlformats.org/drawingml/2006/main" w="9525">
            <a:solidFill>
              <a:srgbClr val="4F7CFF">
                <a:alpha val="22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75268-1506-43FF-AD5B-F5A7FFB8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7C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7CFF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9CF08-EC1B-4F5B-8BF3-93CB106B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9525">
            <a:solidFill>
              <a:srgbClr val="4F7CFF">
                <a:alpha val="22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C7C54-65A8-487D-820A-A37EFBFA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76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DE5E5-55B3-4C8D-A52F-E449D661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STABLECOIN YIELD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B1109-3ED3-4141-B6EF-BC19506D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3333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4F2"/>
          </a:solidFill>
          <a:ln xmlns:a="http://schemas.openxmlformats.org/drawingml/2006/main" w="0">
            <a:solidFill>
              <a:srgbClr val="DCE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0249E-3420-4FCF-B3D2-49A93C7E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952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solidFill>
              <a:srgbClr val="4F7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7D0D3-29AC-46B1-92D0-3CAF55C6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Four definitions make the analysis auditable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D29ED-8CCC-42F2-8073-DAEA3F05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Each result has an explicit threshold, comparison window and interpretation boundary.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8C8F1-CDF4-443E-A47C-B40C4522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11334750" cy="40386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55492-8589-4690-9036-126108E0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524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5000"/>
            </a:srgbClr>
          </a:solidFill>
          <a:ln xmlns:a="http://schemas.openxmlformats.org/drawingml/2006/main"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1CEC1-ADFA-4266-ACF7-552D9164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692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9EBD1-1A8D-4E02-A0A6-A9D28B53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High-yield episode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920F8-3B1C-49E4-8341-F35E63D8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APY at or above 10%; contiguous observed run; one missing calendar day tolerated; active runs right-censored.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DC00B-DFE8-46C1-9CEF-0A52E0B9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Kaplan-Meier retains censored episodes.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25CD7-9990-46FD-94D1-CF8B72A6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14815-10C7-4CEB-B257-0C0E491D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524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>
              <a:alpha val="15000"/>
            </a:srgbClr>
          </a:solidFill>
          <a:ln xmlns:a="http://schemas.openxmlformats.org/drawingml/2006/main" w="9525">
            <a:solidFill>
              <a:srgbClr val="4F7CFF">
                <a:alpha val="2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FF547-0E4A-4B8B-BBFB-94791A85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F7C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F7C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7A6E2-97A0-4E42-BB19-AB07A095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95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Ranking churn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C3BB6-1224-4063-9CE3-B2867CDA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765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1 - intersection share of top-k sets at t and t+h; k = 10 or 20; h = 1, 7 or 30 days.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16B44-39C8-432F-A2AB-12A7877F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C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F7CFF"/>
                </a:solidFill>
                <a:latin typeface="Aptos"/>
                <a:ea typeface="Aptos"/>
                <a:cs typeface="Aptos"/>
              </a:rPr>
              <a:t>Stability diagnostic, not a leaderboard.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4E9D6-37CF-41AE-ABD2-F22DA664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B6B697-71D1-4665-A1AF-50E6F2CF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5524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84B">
              <a:alpha val="15000"/>
            </a:srgbClr>
          </a:solidFill>
          <a:ln xmlns:a="http://schemas.openxmlformats.org/drawingml/2006/main" w="9525">
            <a:solidFill>
              <a:srgbClr val="F6B84B">
                <a:alpha val="2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57477-8579-4707-A448-2D668032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B84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10EA29-5ACC-4256-8A97-EA3F44C8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APY-jump event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DA4FA9-CAAD-41DF-BBAF-DB60F1DF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71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Daily APY increase of at least 5 percentage points and level at or above 10%; maximum 3 events per pool; window -7 to +30 days.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2F4120-04A6-4D40-925A-0EFBB63F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719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B84B"/>
                </a:solidFill>
                <a:latin typeface="Aptos"/>
                <a:ea typeface="Aptos"/>
                <a:cs typeface="Aptos"/>
              </a:rPr>
              <a:t>453 events at day 0; TVL remains observational.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212BA7-C9B3-465A-A166-A7673634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E8FA65-AE3E-431E-B89D-B00A9008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5524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BAD">
              <a:alpha val="15000"/>
            </a:srgbClr>
          </a:solidFill>
          <a:ln xmlns:a="http://schemas.openxmlformats.org/drawingml/2006/main" w="9525">
            <a:solidFill>
              <a:srgbClr val="2BBBAD">
                <a:alpha val="22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57074C-9097-40BF-8203-E9FAF063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297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BBA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BBA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1A57D5-E7A8-40E5-B273-156C551D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86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Joint threshold screen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EC0E4E-08FE-41F4-B24A-FCC43477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Above the sample medians for pool-level APY, persistence and TVL at the same time.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51D04C-2C4C-4751-9A3D-9D3A9877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67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BBA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BBAD"/>
                </a:solidFill>
                <a:latin typeface="Aptos"/>
                <a:ea typeface="Aptos"/>
                <a:cs typeface="Aptos"/>
              </a:rPr>
              <a:t>Descriptive three-threshold screen; not a Pareto frontier.</a:t>
            </a:r>
          </a:p>
        </p:txBody>
      </p:sp>
    </p:spTree>
    <p:extLst>
      <p:ext uri="{BB962C8B-B14F-4D97-AF65-F5344CB8AC3E}">
        <p14:creationId xmlns:p14="http://schemas.microsoft.com/office/powerpoint/2010/main" val="121521274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BFCFF"/>
            </a:gs>
            <a:gs pos="64000">
              <a:srgbClr val="F4F7FF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167F4D-DD6A-4811-ABB1-AB31C554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>
              <a:alpha val="13000"/>
            </a:srgbClr>
          </a:solidFill>
          <a:ln xmlns:a="http://schemas.openxmlformats.org/drawingml/2006/main" w="9525">
            <a:solidFill>
              <a:srgbClr val="FF6B9D">
                <a:alpha val="22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A36F1-5D56-4D19-A817-2C762E64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DISTRIBUTION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73725-F3A1-4DDC-8886-E2B6F333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9525">
            <a:solidFill>
              <a:srgbClr val="FF6B9D">
                <a:alpha val="22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D7196-7C3F-4487-BF00-1C204B0D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76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74ECC-3880-4080-AB04-993B693F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STABLECOIN YIELD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60E0E-0F80-4D86-A23C-40596666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3333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4F2"/>
          </a:solidFill>
          <a:ln xmlns:a="http://schemas.openxmlformats.org/drawingml/2006/main" w="0">
            <a:solidFill>
              <a:srgbClr val="DCE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F6BDC-0BE9-4305-8521-516B85CF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11906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FF6B9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D673C-E4EB-4346-B647-8654C75C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Headline APY needs robust summaries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4A5D6-45AE-48CD-91EA-E42FBBBC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are headline APY values hard to compare?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E94B0-C3C4-4934-B5CC-20B684F3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71650"/>
            <a:ext cx="7943850" cy="4057650"/>
          </a:xfrm>
          <a:prstGeom xmlns:a="http://schemas.openxmlformats.org/drawingml/2006/main" prst="roundRect">
            <a:avLst>
              <a:gd name="adj" fmla="val 6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CA913-972E-4469-9AB1-5CD74734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43100"/>
            <a:ext cx="819150" cy="571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FF6B9D"/>
              </a:gs>
              <a:gs pos="100000">
                <a:srgbClr val="23C9D8"/>
              </a:gs>
            </a:gsLst>
            <a:lin ang="0"/>
          </a:gradFill>
          <a:ln xmlns:a="http://schemas.openxmlformats.org/drawingml/2006/main" w="0">
            <a:gradFill>
              <a:gsLst>
                <a:gs pos="0">
                  <a:srgbClr val="FF6B9D"/>
                </a:gs>
                <a:gs pos="100000">
                  <a:srgbClr val="23C9D8"/>
                </a:gs>
              </a:gsLst>
              <a:lin ang="0"/>
            </a:gra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8e570481e4e6f"/>
          <a:stretch xmlns:a="http://schemas.openxmlformats.org/drawingml/2006/main"/>
        </p:blipFill>
        <p:spPr>
          <a:xfrm xmlns:a="http://schemas.openxmlformats.org/drawingml/2006/main">
            <a:off x="3981450" y="2095500"/>
            <a:ext cx="7600950" cy="3562350"/>
          </a:xfrm>
          <a:prstGeom xmlns:a="http://schemas.openxmlformats.org/drawingml/2006/main" prst="roundRect">
            <a:avLst>
              <a:gd name="adj" fmla="val 427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5BE37-8F57-48E5-9274-F47B838F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3124200" cy="4057650"/>
          </a:xfrm>
          <a:prstGeom xmlns:a="http://schemas.openxmlformats.org/drawingml/2006/main" prst="roundRect">
            <a:avLst>
              <a:gd name="adj" fmla="val 7927"/>
            </a:avLst>
          </a:prstGeom>
          <a:gradFill xmlns:a="http://schemas.openxmlformats.org/drawingml/2006/main">
            <a:gsLst>
              <a:gs pos="0">
                <a:srgbClr val="FF6B9D">
                  <a:alpha val="17000"/>
                </a:srgbClr>
              </a:gs>
              <a:gs pos="74000">
                <a:srgbClr val="FFFFFF"/>
              </a:gs>
            </a:gsLst>
            <a:lin ang="8700000"/>
          </a:gradFill>
          <a:ln xmlns:a="http://schemas.openxmlformats.org/drawingml/2006/main" w="9525">
            <a:solidFill>
              <a:srgbClr val="FF6B9D">
                <a:alpha val="2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038F0-1AE8-49CD-855B-3B83C730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733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>
              <a:alpha val="15000"/>
            </a:srgbClr>
          </a:solidFill>
          <a:ln xmlns:a="http://schemas.openxmlformats.org/drawingml/2006/main" w="9525">
            <a:solidFill>
              <a:srgbClr val="FF6B9D">
                <a:alpha val="2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59DAB-D4FD-4F9C-ABE4-53FADE56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WHAT THE CHART SAYS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F1355-7ADB-49ED-B8C6-4701F6F3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66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Pool-day median APY is 4.29% while the pool-day mean is 8.03%.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F91CD-FBF0-48F3-BA0A-0AB07BEB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266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6B9D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89C0E-9B23-415A-ACF7-EFC34213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FF6B9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173EB-3676-4F62-9BCC-8BFBF211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Pool-day median APY: 4.29%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AA585-9F3D-4FE8-9C74-E4E0FDD9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FF6B9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65AD9-EBBB-475E-9381-57BEBF24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Pool-day mean APY: 8.03%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D3D4F-66C8-47DB-8FAE-29B73EC7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FF6B9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5AD7E-674D-4A4B-B2CB-2FA4E3AF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Extreme observations are flagged and preserved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7AFE31-D21D-4914-9D7F-5B834DAF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DeFiLlama, CoinGecko fallback checks and protocol documentation. APY is quoted, not realized return.</a:t>
            </a:r>
          </a:p>
        </p:txBody>
      </p:sp>
    </p:spTree>
    <p:extLst>
      <p:ext uri="{BB962C8B-B14F-4D97-AF65-F5344CB8AC3E}">
        <p14:creationId xmlns:p14="http://schemas.microsoft.com/office/powerpoint/2010/main" val="844471073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BFCFF"/>
            </a:gs>
            <a:gs pos="64000">
              <a:srgbClr val="F4F7FF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3480D2-925F-45DA-9579-5B4611CA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3000"/>
            </a:srgbClr>
          </a:solidFill>
          <a:ln xmlns:a="http://schemas.openxmlformats.org/drawingml/2006/main"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8EC7B-2404-4A71-8F16-88248A7F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7EB34-080C-44FC-AB7B-9328EDE3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78D8C-0611-4C00-A210-ED471C2C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76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49425-4250-468B-9715-4149BD2E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STABLECOIN YIELD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436BA-D7AB-471D-92DE-DC8B0E96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3333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4F2"/>
          </a:solidFill>
          <a:ln xmlns:a="http://schemas.openxmlformats.org/drawingml/2006/main" w="0">
            <a:solidFill>
              <a:srgbClr val="DCE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B89FC-DE5B-4D36-91A7-BD316594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1428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AF001-7AB1-427B-B215-E27A535B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High yield usually behaves like a short regime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8A7F8-B58E-48F5-8F29-8339DC69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How long do episodes at or above 10% APY last?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7A7D5-527F-4918-ADE8-4551687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7943850" cy="4057650"/>
          </a:xfrm>
          <a:prstGeom xmlns:a="http://schemas.openxmlformats.org/drawingml/2006/main" prst="roundRect">
            <a:avLst>
              <a:gd name="adj" fmla="val 6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E6B2B-B05B-40E0-8EB3-26CF10B0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19150" cy="571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8B5CF6"/>
              </a:gs>
              <a:gs pos="100000">
                <a:srgbClr val="23C9D8"/>
              </a:gs>
            </a:gsLst>
            <a:lin ang="0"/>
          </a:gradFill>
          <a:ln xmlns:a="http://schemas.openxmlformats.org/drawingml/2006/main" w="0">
            <a:gradFill>
              <a:gsLst>
                <a:gs pos="0">
                  <a:srgbClr val="8B5CF6"/>
                </a:gs>
                <a:gs pos="100000">
                  <a:srgbClr val="23C9D8"/>
                </a:gs>
              </a:gsLst>
              <a:lin ang="0"/>
            </a:gra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86cd1f304498e"/>
          <a:stretch xmlns:a="http://schemas.openxmlformats.org/drawingml/2006/main"/>
        </p:blipFill>
        <p:spPr>
          <a:xfrm xmlns:a="http://schemas.openxmlformats.org/drawingml/2006/main">
            <a:off x="590550" y="2095500"/>
            <a:ext cx="7600950" cy="3562350"/>
          </a:xfrm>
          <a:prstGeom xmlns:a="http://schemas.openxmlformats.org/drawingml/2006/main" prst="roundRect">
            <a:avLst>
              <a:gd name="adj" fmla="val 427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AA650-CC93-44D4-AA1C-D49CE844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3124200" cy="4057650"/>
          </a:xfrm>
          <a:prstGeom xmlns:a="http://schemas.openxmlformats.org/drawingml/2006/main" prst="roundRect">
            <a:avLst>
              <a:gd name="adj" fmla="val 7927"/>
            </a:avLst>
          </a:prstGeom>
          <a:gradFill xmlns:a="http://schemas.openxmlformats.org/drawingml/2006/main">
            <a:gsLst>
              <a:gs pos="0">
                <a:srgbClr val="8B5CF6">
                  <a:alpha val="17000"/>
                </a:srgbClr>
              </a:gs>
              <a:gs pos="74000">
                <a:srgbClr val="FFFFFF"/>
              </a:gs>
            </a:gsLst>
            <a:lin ang="8700000"/>
          </a:gradFill>
          <a:ln xmlns:a="http://schemas.openxmlformats.org/drawingml/2006/main" w="9525">
            <a:solidFill>
              <a:srgbClr val="8B5CF6">
                <a:alpha val="2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77D31-2C33-4DDF-A8EA-93B41257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1733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5000"/>
            </a:srgbClr>
          </a:solidFill>
          <a:ln xmlns:a="http://schemas.openxmlformats.org/drawingml/2006/main"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C5BF0-F91A-4B8B-AAEC-267874BA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907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WHAT THE CHART SAYS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BC809-42BA-45B3-B7D4-63D2D98E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66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The median high-yield episode lasts 2 days; only 6.2% remain after 30 days.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BC868-E88B-4DBC-8FFA-5BC4BC51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71900"/>
            <a:ext cx="266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0764B-5C76-46D6-98B2-372F36E4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76F05-92EE-471F-A920-E1000CC0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814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2,668 episodes at or above 10% APY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6ABBF-0BFF-42A4-9F77-AEB66070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10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09360-0312-4E19-AC1B-ABA5698E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339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Median duration: 2 days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3F67C-89DE-4DB4-A453-0696D7B3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62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F165D-EE42-497F-A7C9-E7119595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863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6.2% survive beyond 30 days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8684B8-A785-4335-87D0-00A36BB5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DeFiLlama, CoinGecko fallback checks and protocol documentation. APY is quoted, not realized return.</a:t>
            </a:r>
          </a:p>
        </p:txBody>
      </p:sp>
    </p:spTree>
    <p:extLst>
      <p:ext uri="{BB962C8B-B14F-4D97-AF65-F5344CB8AC3E}">
        <p14:creationId xmlns:p14="http://schemas.microsoft.com/office/powerpoint/2010/main" val="1632406021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BFCFF"/>
            </a:gs>
            <a:gs pos="64000">
              <a:srgbClr val="F4F7FF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49FA99-2AB8-4490-BB6F-F6DF354A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>
              <a:alpha val="13000"/>
            </a:srgbClr>
          </a:solidFill>
          <a:ln xmlns:a="http://schemas.openxmlformats.org/drawingml/2006/main" w="9525">
            <a:solidFill>
              <a:srgbClr val="4F7CFF">
                <a:alpha val="22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5D72F-8192-419A-91EC-B153B4A5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7C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7CFF"/>
                </a:solidFill>
                <a:latin typeface="Aptos"/>
                <a:ea typeface="Aptos"/>
                <a:cs typeface="Aptos"/>
              </a:rPr>
              <a:t>RANKING STABILITY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E50C6-BDAE-4693-B017-08005E6A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9525">
            <a:solidFill>
              <a:srgbClr val="4F7CFF">
                <a:alpha val="22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D0562-3F84-4211-BA58-F5EC4A57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76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C46AB-D34D-4F99-AA42-061D9247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STABLECOIN YIELD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88EEB-F095-4905-B318-44B12878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3333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4F2"/>
          </a:solidFill>
          <a:ln xmlns:a="http://schemas.openxmlformats.org/drawingml/2006/main" w="0">
            <a:solidFill>
              <a:srgbClr val="DCE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4DBC8-6354-46C6-8FA0-59610279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16668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solidFill>
              <a:srgbClr val="4F7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0A259-608E-4A33-8503-8CB7DDF7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Top-yield membership changes with horizon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B00CF-BF0B-4EB1-83C0-6B14BFF6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 top-yield pools stay at the top?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3FA5F-A813-4F98-AC0B-99182447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71650"/>
            <a:ext cx="7943850" cy="4057650"/>
          </a:xfrm>
          <a:prstGeom xmlns:a="http://schemas.openxmlformats.org/drawingml/2006/main" prst="roundRect">
            <a:avLst>
              <a:gd name="adj" fmla="val 6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3E5A5-2B3E-455A-8B4B-F5001F1D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43100"/>
            <a:ext cx="819150" cy="571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F7CFF"/>
              </a:gs>
              <a:gs pos="100000">
                <a:srgbClr val="23C9D8"/>
              </a:gs>
            </a:gsLst>
            <a:lin ang="0"/>
          </a:gradFill>
          <a:ln xmlns:a="http://schemas.openxmlformats.org/drawingml/2006/main" w="0">
            <a:gradFill>
              <a:gsLst>
                <a:gs pos="0">
                  <a:srgbClr val="4F7CFF"/>
                </a:gs>
                <a:gs pos="100000">
                  <a:srgbClr val="23C9D8"/>
                </a:gs>
              </a:gsLst>
              <a:lin ang="0"/>
            </a:gra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a9fb2f53b4cd4"/>
          <a:stretch xmlns:a="http://schemas.openxmlformats.org/drawingml/2006/main"/>
        </p:blipFill>
        <p:spPr>
          <a:xfrm xmlns:a="http://schemas.openxmlformats.org/drawingml/2006/main">
            <a:off x="5266605" y="2095500"/>
            <a:ext cx="5030639" cy="3562350"/>
          </a:xfrm>
          <a:prstGeom xmlns:a="http://schemas.openxmlformats.org/drawingml/2006/main" prst="roundRect">
            <a:avLst>
              <a:gd name="adj" fmla="val 427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5B28B-3530-4922-9630-687E58B9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3124200" cy="4057650"/>
          </a:xfrm>
          <a:prstGeom xmlns:a="http://schemas.openxmlformats.org/drawingml/2006/main" prst="roundRect">
            <a:avLst>
              <a:gd name="adj" fmla="val 7927"/>
            </a:avLst>
          </a:prstGeom>
          <a:gradFill xmlns:a="http://schemas.openxmlformats.org/drawingml/2006/main">
            <a:gsLst>
              <a:gs pos="0">
                <a:srgbClr val="4F7CFF">
                  <a:alpha val="17000"/>
                </a:srgbClr>
              </a:gs>
              <a:gs pos="74000">
                <a:srgbClr val="FFFFFF"/>
              </a:gs>
            </a:gsLst>
            <a:lin ang="8700000"/>
          </a:gradFill>
          <a:ln xmlns:a="http://schemas.openxmlformats.org/drawingml/2006/main" w="9525">
            <a:solidFill>
              <a:srgbClr val="4F7CFF">
                <a:alpha val="2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8E846-B86C-4173-A23A-E6CB465B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733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>
              <a:alpha val="15000"/>
            </a:srgbClr>
          </a:solidFill>
          <a:ln xmlns:a="http://schemas.openxmlformats.org/drawingml/2006/main" w="9525">
            <a:solidFill>
              <a:srgbClr val="4F7CFF">
                <a:alpha val="2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E61F2-9D59-489F-8ABC-DA7BB530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7C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7CFF"/>
                </a:solidFill>
                <a:latin typeface="Aptos"/>
                <a:ea typeface="Aptos"/>
                <a:cs typeface="Aptos"/>
              </a:rPr>
              <a:t>WEIGHTED AVERAGE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E1F90-7673-43FF-8214-D779D840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66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Weighted by valid date × top-k comparisons, churn rises from 13.5% after 1 day to 33.3% after 30 days.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EC286-A69E-45C7-A739-2733A839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266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CFF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7F28D-A4B2-4DE9-A6C0-926B10BF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solidFill>
              <a:srgbClr val="4F7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D8772-8CED-4C77-BD14-37DE288F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1 day: 13.5% (n=2,669)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E210C-209E-4EB6-8FEE-89C1BB44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solidFill>
              <a:srgbClr val="4F7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361B0-648E-462A-88EC-142FE377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7 days: 23.6% (n=2,657)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71F75-9F08-44C0-A31C-7957350D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solidFill>
              <a:srgbClr val="4F7C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B78E7-A144-4A7B-BC3C-5A5AF1DA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30 days: 33.3% (n=2,612)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403594-AA76-4728-B9EF-F45E10BB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DeFiLlama, CoinGecko fallback checks and protocol documentation. APY is quoted, not realized return.</a:t>
            </a:r>
          </a:p>
        </p:txBody>
      </p:sp>
    </p:spTree>
    <p:extLst>
      <p:ext uri="{BB962C8B-B14F-4D97-AF65-F5344CB8AC3E}">
        <p14:creationId xmlns:p14="http://schemas.microsoft.com/office/powerpoint/2010/main" val="717541684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BFCFF"/>
            </a:gs>
            <a:gs pos="64000">
              <a:srgbClr val="F4F7FF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2ACFCE-6729-4416-974F-5D74F41E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BAD">
              <a:alpha val="13000"/>
            </a:srgbClr>
          </a:solidFill>
          <a:ln xmlns:a="http://schemas.openxmlformats.org/drawingml/2006/main" w="9525">
            <a:solidFill>
              <a:srgbClr val="2BBBAD">
                <a:alpha val="22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0ED9D-E0DF-4BAA-91AA-E6E9E85F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BBA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BBAD"/>
                </a:solidFill>
                <a:latin typeface="Aptos"/>
                <a:ea typeface="Aptos"/>
                <a:cs typeface="Aptos"/>
              </a:rPr>
              <a:t>MECHANISMS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CE6E0-4E31-4C24-8C81-E94E2A04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BAD"/>
          </a:solidFill>
          <a:ln xmlns:a="http://schemas.openxmlformats.org/drawingml/2006/main" w="9525">
            <a:solidFill>
              <a:srgbClr val="2BBBAD">
                <a:alpha val="22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E80C4-C1E9-41F8-8E1B-B17170F6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76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69B1B-B7B0-42F2-B8BB-F5020F21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STABLECOIN YIELD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0AFBB-7A24-4BFC-B807-5BE0D9CB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3333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4F2"/>
          </a:solidFill>
          <a:ln xmlns:a="http://schemas.openxmlformats.org/drawingml/2006/main" w="0">
            <a:solidFill>
              <a:srgbClr val="DCE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76961-B899-4423-9659-0CFC5195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1905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BAD"/>
          </a:solidFill>
          <a:ln xmlns:a="http://schemas.openxmlformats.org/drawingml/2006/main" w="0">
            <a:solidFill>
              <a:srgbClr val="2BBB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C80A8-DCA1-4E72-A9BE-25412766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Mechanism changes what headline APY means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DFEE6-0F2E-4737-B291-7783445D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sits behind headline APY?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944BE-39B8-4679-AEAD-F0B22748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7524750" cy="4057650"/>
          </a:xfrm>
          <a:prstGeom xmlns:a="http://schemas.openxmlformats.org/drawingml/2006/main" prst="roundRect">
            <a:avLst>
              <a:gd name="adj" fmla="val 6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F9155-403A-4CF4-B854-7185620E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Median APY components by pool type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4d79d01a2471b"/>
          <a:stretch xmlns:a="http://schemas.openxmlformats.org/drawingml/2006/main"/>
        </p:blipFill>
        <p:spPr>
          <a:xfrm xmlns:a="http://schemas.openxmlformats.org/drawingml/2006/main">
            <a:off x="666750" y="2362200"/>
            <a:ext cx="6953250" cy="3105150"/>
          </a:xfrm>
          <a:prstGeom xmlns:a="http://schemas.openxmlformats.org/drawingml/2006/main" prst="roundRect">
            <a:avLst>
              <a:gd name="adj" fmla="val 490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CBFB0-DDB0-490E-BAAD-540B9C9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562350" cy="4057650"/>
          </a:xfrm>
          <a:prstGeom xmlns:a="http://schemas.openxmlformats.org/drawingml/2006/main" prst="roundRect">
            <a:avLst>
              <a:gd name="adj" fmla="val 6952"/>
            </a:avLst>
          </a:prstGeom>
          <a:gradFill xmlns:a="http://schemas.openxmlformats.org/drawingml/2006/main">
            <a:gsLst>
              <a:gs pos="0">
                <a:srgbClr val="2BBBAD">
                  <a:alpha val="18000"/>
                </a:srgbClr>
              </a:gs>
              <a:gs pos="78000">
                <a:srgbClr val="FFFFFF"/>
              </a:gs>
            </a:gsLst>
            <a:lin ang="8700000"/>
          </a:gradFill>
          <a:ln xmlns:a="http://schemas.openxmlformats.org/drawingml/2006/main" w="9525">
            <a:solidFill>
              <a:srgbClr val="2BBBAD">
                <a:alpha val="2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C7EBB-B14D-4DB2-95AD-85DAE2F9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00250"/>
            <a:ext cx="1752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BAD">
              <a:alpha val="15000"/>
            </a:srgbClr>
          </a:solidFill>
          <a:ln xmlns:a="http://schemas.openxmlformats.org/drawingml/2006/main" w="9525">
            <a:solidFill>
              <a:srgbClr val="2BBBAD">
                <a:alpha val="2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EFE19-94E6-4899-9B0E-043C74D9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97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BBA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BBAD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EDFA0-6D4E-478C-974F-A8A3BB3E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Components prevent false equivalence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F331B-E717-4465-A0AC-C3996708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14700"/>
            <a:ext cx="287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BBAD">
                <a:alpha val="28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6A214-D5E4-44A1-926E-B400061E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23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F7C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F7CFF"/>
                </a:solidFill>
                <a:latin typeface="Aptos"/>
                <a:ea typeface="Aptos"/>
                <a:cs typeface="Aptos"/>
              </a:rPr>
              <a:t>90.3%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716EE-E9CE-4D5F-8C41-9CA345A5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814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Base APY 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EE393-E7D2-4813-AC0D-9369A6A5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61.6%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D221D-8D27-430B-B421-37026660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100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Reward APY coverage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91847-9CCA-43D8-8AA9-5BE61C5E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9585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Reward-heavy pools and lending pools should not be read as the same yield mechanism.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39251D-FB62-4CEA-BE13-EF6FC49C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DeFiLlama, CoinGecko and selected official protocol documentation. APY is quoted, not realized return.</a:t>
            </a:r>
          </a:p>
        </p:txBody>
      </p:sp>
    </p:spTree>
    <p:extLst>
      <p:ext uri="{BB962C8B-B14F-4D97-AF65-F5344CB8AC3E}">
        <p14:creationId xmlns:p14="http://schemas.microsoft.com/office/powerpoint/2010/main" val="205180861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BFCFF"/>
            </a:gs>
            <a:gs pos="64000">
              <a:srgbClr val="F4F7FF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9DF491-3E39-44F2-B98C-DBC4F87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84B">
              <a:alpha val="13000"/>
            </a:srgbClr>
          </a:solidFill>
          <a:ln xmlns:a="http://schemas.openxmlformats.org/drawingml/2006/main" w="9525">
            <a:solidFill>
              <a:srgbClr val="F6B84B">
                <a:alpha val="22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E780E-232D-4C8F-8B1D-87422B8E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B8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B84B"/>
                </a:solidFill>
                <a:latin typeface="Aptos"/>
                <a:ea typeface="Aptos"/>
                <a:cs typeface="Aptos"/>
              </a:rPr>
              <a:t>EVENT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F612D-3C02-4770-BC62-7915F6BD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84B"/>
          </a:solidFill>
          <a:ln xmlns:a="http://schemas.openxmlformats.org/drawingml/2006/main" w="9525">
            <a:solidFill>
              <a:srgbClr val="F6B84B">
                <a:alpha val="22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715FA-F4C9-48A6-BD35-46A26399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76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9D9DF-48AA-4D91-AB15-CC03390C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STABLECOIN YIELD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4725C-4B2E-4078-AF1B-716A9F92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3333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4F2"/>
          </a:solidFill>
          <a:ln xmlns:a="http://schemas.openxmlformats.org/drawingml/2006/main" w="0">
            <a:solidFill>
              <a:srgbClr val="DCE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B18E1-67AC-43B8-8708-9EEAC8DE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21431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84B"/>
          </a:solidFill>
          <a:ln xmlns:a="http://schemas.openxmlformats.org/drawingml/2006/main" w="0">
            <a:solidFill>
              <a:srgbClr val="F6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182F7-61CD-49AC-B4EF-8F9339BE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APY falls faster than TVL responds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9689F-C96F-4077-B709-33E6856A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happens after an observed APY jump?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8C492-DB0F-40B2-983E-7350FBCE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7696200" cy="18859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DA340-7D9F-4C6A-8F9A-58A29DA7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Median quoted</a:t>
            </a:r>
          </a:p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APY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39ad60cfa4604"/>
          <a:stretch xmlns:a="http://schemas.openxmlformats.org/drawingml/2006/main"/>
        </p:blipFill>
        <p:spPr>
          <a:xfrm xmlns:a="http://schemas.openxmlformats.org/drawingml/2006/main">
            <a:off x="2400300" y="1885950"/>
            <a:ext cx="5410200" cy="1543050"/>
          </a:xfrm>
          <a:prstGeom xmlns:a="http://schemas.openxmlformats.org/drawingml/2006/main" prst="roundRect">
            <a:avLst>
              <a:gd name="adj" fmla="val 98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DD080-0DC0-4412-BA4D-EFC5A46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8100"/>
            <a:ext cx="7696200" cy="19812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3815E-E297-4376-BC06-DA1ABBB7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8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Median normalized</a:t>
            </a:r>
          </a:p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TVL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8c5be97d545ec"/>
          <a:stretch xmlns:a="http://schemas.openxmlformats.org/drawingml/2006/main"/>
        </p:blipFill>
        <p:spPr>
          <a:xfrm xmlns:a="http://schemas.openxmlformats.org/drawingml/2006/main">
            <a:off x="2400300" y="3962400"/>
            <a:ext cx="5410200" cy="16192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B8E4C-4005-4B11-AC9B-07905D8A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1650"/>
            <a:ext cx="3371850" cy="4057650"/>
          </a:xfrm>
          <a:prstGeom xmlns:a="http://schemas.openxmlformats.org/drawingml/2006/main" prst="roundRect">
            <a:avLst>
              <a:gd name="adj" fmla="val 7345"/>
            </a:avLst>
          </a:prstGeom>
          <a:gradFill xmlns:a="http://schemas.openxmlformats.org/drawingml/2006/main">
            <a:gsLst>
              <a:gs pos="0">
                <a:srgbClr val="F6B84B">
                  <a:alpha val="20000"/>
                </a:srgbClr>
              </a:gs>
              <a:gs pos="80000">
                <a:srgbClr val="FFFFFF"/>
              </a:gs>
            </a:gsLst>
            <a:lin ang="8700000"/>
          </a:gradFill>
          <a:ln xmlns:a="http://schemas.openxmlformats.org/drawingml/2006/main" w="9525">
            <a:solidFill>
              <a:srgbClr val="F6B84B">
                <a:alpha val="3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5AFC2-0F99-46E6-B088-1D949E1B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1676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84B">
              <a:alpha val="18000"/>
            </a:srgbClr>
          </a:solidFill>
          <a:ln xmlns:a="http://schemas.openxmlformats.org/drawingml/2006/main" w="9525">
            <a:solidFill>
              <a:srgbClr val="F6B84B">
                <a:alpha val="2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4F0DA-CF97-4DAE-A89D-07ECCE7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97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765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6500"/>
                </a:solidFill>
                <a:latin typeface="Aptos"/>
                <a:ea typeface="Aptos"/>
                <a:cs typeface="Aptos"/>
              </a:rPr>
              <a:t>OBSERVED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98283-CA2D-4FEE-968E-385508F4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18.24% → 8.33%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B7A46-6BD4-41E1-8C0F-A6B0FC4D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289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Median APY from event day to day 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BC774-D3A2-4A16-816D-B847BCAC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268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B84B">
                <a:alpha val="32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35562-4AD3-4EB0-88D5-2B4B7841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671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B8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B84B"/>
                </a:solidFill>
                <a:latin typeface="Aptos"/>
                <a:ea typeface="Aptos"/>
                <a:cs typeface="Aptos"/>
              </a:rPr>
              <a:t>453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6D955E-0B93-4E7E-B2E4-EE137BDC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862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Events observed at day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CBDFC-4DF9-43C3-BB6F-0AEC3A93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958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BBA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BBBAD"/>
                </a:solidFill>
                <a:latin typeface="Aptos"/>
                <a:ea typeface="Aptos"/>
                <a:cs typeface="Aptos"/>
              </a:rPr>
              <a:t>1.69x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32A0A-5545-4F14-9254-4BE56417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148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Median normalized TVL at day 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618CB1-7C88-447E-9065-208394B3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Observed TVL response, not a causal capital-flow estimate.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FEE6E2-0DDF-4DBB-B69E-763FC1C9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Trigger: 1-day APY increase of at least 5 pp and APY at or above 10%; max 3 events per pool.</a:t>
            </a:r>
          </a:p>
        </p:txBody>
      </p:sp>
    </p:spTree>
    <p:extLst>
      <p:ext uri="{BB962C8B-B14F-4D97-AF65-F5344CB8AC3E}">
        <p14:creationId xmlns:p14="http://schemas.microsoft.com/office/powerpoint/2010/main" val="1693652584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BFCFF"/>
            </a:gs>
            <a:gs pos="64000">
              <a:srgbClr val="F4F7FF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BD903D-DA86-4C25-9C61-6DB79D31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>
              <a:alpha val="13000"/>
            </a:srgbClr>
          </a:solidFill>
          <a:ln xmlns:a="http://schemas.openxmlformats.org/drawingml/2006/main" w="9525">
            <a:solidFill>
              <a:srgbClr val="FF6B9D">
                <a:alpha val="22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BC9D9-99FB-4CF7-AE1B-A2B3C7EB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PEG STRESS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BC802-F778-447F-842C-645701B8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9525">
            <a:solidFill>
              <a:srgbClr val="FF6B9D">
                <a:alpha val="22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C73B0-FF94-4478-9E9D-64383880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76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8504C-D630-428F-853A-796A14B4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STABLECOIN YIELD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E90AF-0F6D-41A6-943C-182BFCC4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3333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4F2"/>
          </a:solidFill>
          <a:ln xmlns:a="http://schemas.openxmlformats.org/drawingml/2006/main" w="0">
            <a:solidFill>
              <a:srgbClr val="DCE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63912-A622-4954-9C2E-DD79599C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2381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FF6B9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4190F-7509-48F8-9F44-D92048DD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Peg stress changes the denominator behind yield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28A2F-21E8-4088-AF14-797E12E8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 during the March 2023 USDC depeg?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95F86-CBFF-4C21-A442-B99CBFF2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7696200" cy="18859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1623C-E001-4F71-AC44-9D4B6084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USDC price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32bbd77a24e20"/>
          <a:stretch xmlns:a="http://schemas.openxmlformats.org/drawingml/2006/main"/>
        </p:blipFill>
        <p:spPr>
          <a:xfrm xmlns:a="http://schemas.openxmlformats.org/drawingml/2006/main">
            <a:off x="2400300" y="1885950"/>
            <a:ext cx="5410200" cy="1543050"/>
          </a:xfrm>
          <a:prstGeom xmlns:a="http://schemas.openxmlformats.org/drawingml/2006/main" prst="roundRect">
            <a:avLst>
              <a:gd name="adj" fmla="val 98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28894-D971-4C40-95BD-4833726A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8100"/>
            <a:ext cx="7696200" cy="19812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F5727-F380-46ED-AE6D-FC89F6AA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88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Median exposed-pool</a:t>
            </a:r>
          </a:p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APY (%)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df67001e342b3"/>
          <a:stretch xmlns:a="http://schemas.openxmlformats.org/drawingml/2006/main"/>
        </p:blipFill>
        <p:spPr>
          <a:xfrm xmlns:a="http://schemas.openxmlformats.org/drawingml/2006/main">
            <a:off x="2400300" y="3962400"/>
            <a:ext cx="5410200" cy="16192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62D33-E107-4F5F-9838-7DAF5131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1650"/>
            <a:ext cx="3371850" cy="4057650"/>
          </a:xfrm>
          <a:prstGeom xmlns:a="http://schemas.openxmlformats.org/drawingml/2006/main" prst="roundRect">
            <a:avLst>
              <a:gd name="adj" fmla="val 7345"/>
            </a:avLst>
          </a:prstGeom>
          <a:gradFill xmlns:a="http://schemas.openxmlformats.org/drawingml/2006/main">
            <a:gsLst>
              <a:gs pos="0">
                <a:srgbClr val="FF6B9D">
                  <a:alpha val="20000"/>
                </a:srgbClr>
              </a:gs>
              <a:gs pos="80000">
                <a:srgbClr val="FFFFFF"/>
              </a:gs>
            </a:gsLst>
            <a:lin ang="8700000"/>
          </a:gradFill>
          <a:ln xmlns:a="http://schemas.openxmlformats.org/drawingml/2006/main" w="9525">
            <a:solidFill>
              <a:srgbClr val="FF6B9D">
                <a:alpha val="3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403E5-0571-4B33-B745-0AAA7472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1695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>
              <a:alpha val="17000"/>
            </a:srgbClr>
          </a:solidFill>
          <a:ln xmlns:a="http://schemas.openxmlformats.org/drawingml/2006/main" w="9525">
            <a:solidFill>
              <a:srgbClr val="FF6B9D">
                <a:alpha val="2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952B5-E32E-4EC6-BAE1-2ECCE5A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97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USDC / 12 MAR 2023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05969-7B07-4DD1-BE23-12B87E20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$0.9611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93A7F-2147-4B50-BCBD-CB6A71EF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289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Minimum observed USDC price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FB1B0-4F1E-4A7F-B3C7-CC2C5DA1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268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6B9D">
                <a:alpha val="32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47975-6551-42FD-A98D-D8FD7EF5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671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+1.38 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F62179-AA24-42D4-B9F1-45272E78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862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Median APY, day -1 to day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F5EF0-5663-4A97-B2EB-3B5977E0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F7C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F7C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53C2D-AC84-4925-A7BD-7478C6A0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910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Exposed pools in the window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004200-18A7-4195-8B80-87FB7A86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One reviewed case study; descriptive context, not a general depeg causal estimate.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483B25-6432-4667-8F6C-788844AA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DeFiLlama, CoinGecko and selected official protocol documentation. APY is quoted, not realized return.</a:t>
            </a:r>
          </a:p>
        </p:txBody>
      </p:sp>
    </p:spTree>
    <p:extLst>
      <p:ext uri="{BB962C8B-B14F-4D97-AF65-F5344CB8AC3E}">
        <p14:creationId xmlns:p14="http://schemas.microsoft.com/office/powerpoint/2010/main" val="468378634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BFCFF"/>
            </a:gs>
            <a:gs pos="64000">
              <a:srgbClr val="F4F7FF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FAF999-B321-4D79-A9A1-71C70CCF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3000"/>
            </a:srgbClr>
          </a:solidFill>
          <a:ln xmlns:a="http://schemas.openxmlformats.org/drawingml/2006/main"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0882F-F66E-4276-9C6D-17D8C5DC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JOINT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C8E05-B726-41B2-BA2D-B1717207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22EA3-A8D1-4DEA-B782-AF3C87BC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76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6E07C-93F6-4AEE-B2CF-33D8FD63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STABLECOIN YIELD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C057A-28B5-4173-A511-7291F80C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3333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4F2"/>
          </a:solidFill>
          <a:ln xmlns:a="http://schemas.openxmlformats.org/drawingml/2006/main" w="0">
            <a:solidFill>
              <a:srgbClr val="DCE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18CA0-B54D-41F3-9479-0B32AD5C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26193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A746B-6225-46FB-BC2D-F52AB62C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Only 15.2% clear all three descriptive thresholds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6A663-A957-4C3B-B6E9-F8CAC19A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Which pools combine APY, persistence and capacity?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F8300-9479-4D29-91CF-FFE1113F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3143250" cy="4057650"/>
          </a:xfrm>
          <a:prstGeom xmlns:a="http://schemas.openxmlformats.org/drawingml/2006/main" prst="roundRect">
            <a:avLst>
              <a:gd name="adj" fmla="val 7879"/>
            </a:avLst>
          </a:prstGeom>
          <a:gradFill xmlns:a="http://schemas.openxmlformats.org/drawingml/2006/main">
            <a:gsLst>
              <a:gs pos="0">
                <a:srgbClr val="8B5CF6">
                  <a:alpha val="20000"/>
                </a:srgbClr>
              </a:gs>
              <a:gs pos="78000">
                <a:srgbClr val="FFFFFF"/>
              </a:gs>
            </a:gsLst>
            <a:lin ang="8700000"/>
          </a:gradFill>
          <a:ln xmlns:a="http://schemas.openxmlformats.org/drawingml/2006/main" w="9525">
            <a:solidFill>
              <a:srgbClr val="8B5CF6">
                <a:alpha val="3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98570-E48E-4B66-85B2-70C58722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6000"/>
            </a:srgbClr>
          </a:solidFill>
          <a:ln xmlns:a="http://schemas.openxmlformats.org/drawingml/2006/main"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822FD-2186-45C3-A92E-69C7602F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THREE-MEDIAN SCREEN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CEBB4-0998-435E-AABE-565278C0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38 of 250 pools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30470-97F7-4DD7-A5C5-9D3DDCA6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245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clear APY, persistence and TVL thresholds simultaneously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3F622-6904-4E10-BA63-53C70D35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2457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7F45A-9A80-4799-8123-0E8B440E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4.47%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43799-70E6-47C0-B2E2-D333457E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910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Pool-level median APY threshold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F8340-A97C-4D77-9DCD-DFBEDB3A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6.1%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210CD-232B-4B3C-93FB-9F4ADA57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434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Persistence threshold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E4359-4624-4D65-B486-C3E70064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Bubble size = median TVL. This is not a Pareto frontier.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7C66A-0DA1-4648-955D-8C2AEF7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71650"/>
            <a:ext cx="7943850" cy="4057650"/>
          </a:xfrm>
          <a:prstGeom xmlns:a="http://schemas.openxmlformats.org/drawingml/2006/main" prst="roundRect">
            <a:avLst>
              <a:gd name="adj" fmla="val 6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99cedadf54b15"/>
          <a:stretch xmlns:a="http://schemas.openxmlformats.org/drawingml/2006/main"/>
        </p:blipFill>
        <p:spPr>
          <a:xfrm xmlns:a="http://schemas.openxmlformats.org/drawingml/2006/main">
            <a:off x="4095750" y="2000250"/>
            <a:ext cx="733425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0953DC-F2E7-47CF-A532-A66C4890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DeFiLlama, CoinGecko and selected official protocol documentation. APY is quoted, not realized return.</a:t>
            </a:r>
          </a:p>
        </p:txBody>
      </p:sp>
    </p:spTree>
    <p:extLst>
      <p:ext uri="{BB962C8B-B14F-4D97-AF65-F5344CB8AC3E}">
        <p14:creationId xmlns:p14="http://schemas.microsoft.com/office/powerpoint/2010/main" val="1387895130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BFCFF"/>
            </a:gs>
            <a:gs pos="64000">
              <a:srgbClr val="F4F7FF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7D2DCB-C429-4B45-976F-D764C99F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3000"/>
            </a:srgbClr>
          </a:solidFill>
          <a:ln xmlns:a="http://schemas.openxmlformats.org/drawingml/2006/main"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2D154-7E43-4DE9-BD5C-6A4D753F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EEDE6-8E7A-4BA4-8D53-73584A0D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6AB9A-899D-433F-8B81-1CBE76E8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76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E0B40-6F20-40E3-9461-8B36D6D7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STABLECOIN YIELD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19C7B-2565-4B84-BACA-B0ACCBE1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3333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4F2"/>
          </a:solidFill>
          <a:ln xmlns:a="http://schemas.openxmlformats.org/drawingml/2006/main" w="0">
            <a:solidFill>
              <a:srgbClr val="DCE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807C7-72D0-403D-A3CB-21419CE8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2857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FBD9C-3616-46D4-A871-3D21BD4D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The main duration result survives alternative thresholds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FF2D1-98F3-4742-9189-C919B482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Does the short-episode conclusion depend on one threshold?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234BD-348C-477E-961A-05AB9233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7239000" cy="4057650"/>
          </a:xfrm>
          <a:prstGeom xmlns:a="http://schemas.openxmlformats.org/drawingml/2006/main" prst="roundRect">
            <a:avLst>
              <a:gd name="adj" fmla="val 6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497EC-8AFA-4C3E-92A5-EAC5ED05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Episode count changes; median duration does not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d01959a754e64"/>
          <a:stretch xmlns:a="http://schemas.openxmlformats.org/drawingml/2006/main"/>
        </p:blipFill>
        <p:spPr>
          <a:xfrm xmlns:a="http://schemas.openxmlformats.org/drawingml/2006/main">
            <a:off x="800100" y="2476500"/>
            <a:ext cx="4095750" cy="2724150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0CB51-D7E3-42FA-93F0-5D57ADA2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527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2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76128-5DA6-411B-9A6D-91405B11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median duration at 5%, 10% and 20% APY thresholds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72FE0-E15D-4D23-84C0-EDF4AFA7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29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Counts: 3,688 | 2,668 | 964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D4C43-B018-45E5-AFEF-E687F4D7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71650"/>
            <a:ext cx="3810000" cy="4057650"/>
          </a:xfrm>
          <a:prstGeom xmlns:a="http://schemas.openxmlformats.org/drawingml/2006/main" prst="roundRect">
            <a:avLst>
              <a:gd name="adj" fmla="val 6500"/>
            </a:avLst>
          </a:prstGeom>
          <a:gradFill xmlns:a="http://schemas.openxmlformats.org/drawingml/2006/main">
            <a:gsLst>
              <a:gs pos="0">
                <a:srgbClr val="8B5CF6">
                  <a:alpha val="18000"/>
                </a:srgbClr>
              </a:gs>
              <a:gs pos="80000">
                <a:srgbClr val="FFFFFF"/>
              </a:gs>
            </a:gsLst>
            <a:lin ang="8700000"/>
          </a:gradFill>
          <a:ln xmlns:a="http://schemas.openxmlformats.org/drawingml/2006/main" w="9525">
            <a:solidFill>
              <a:srgbClr val="8B5CF6">
                <a:alpha val="3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F183D-5E25-41D0-BCCD-4C6C5DB7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1733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6000"/>
            </a:srgbClr>
          </a:solidFill>
          <a:ln xmlns:a="http://schemas.openxmlformats.org/drawingml/2006/main"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30377-6F0B-4A0F-ACFF-3BF483A1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97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FIVE CHECK FAMILIES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65561-F8C1-4D9A-AE8F-3812E08E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APY threshold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83BA7-96FE-4C1A-AF56-6E5186E9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5%, 10%, 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16107-1585-41F0-B878-8058265D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71800"/>
            <a:ext cx="3162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5CF6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C5C27F-6C65-431D-AB65-F076B924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5277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Minimum TVL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B35076-6F9B-4D9B-A680-3B8E3127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52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USD 0.5M, 1M, 5M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7700BA-60FE-4055-9B2F-41A177F6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52825"/>
            <a:ext cx="3162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5CF6">
                <a:alpha val="2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33E72C-0FAE-456C-95DB-C693DAF4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History length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BDC7EB-2031-401E-AF80-482DF600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33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90, 180, 365 days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D41533-EC5A-4F40-BF54-0CB74C5A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33850"/>
            <a:ext cx="3162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5CF6">
                <a:alpha val="2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E298AF-3C9F-4920-B67F-4296D375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148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Episode gap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98AE50-8AB0-4E73-B11D-F07FEBC7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148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0, 1, 3 days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BAC6CF-909F-45D8-9EA2-DFADF881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14875"/>
            <a:ext cx="3162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5CF6">
                <a:alpha val="24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5FE7C7-FC2E-4273-A3B3-BD51055A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958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Winsorization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9DC800-15B1-4C22-B6D4-C16A07BE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95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p1 to p99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520319-45F3-4A28-ABA9-C817BA9F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91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3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Robustness changes sample size and episode count; it does not turn quoted APY into realized return.</a:t>
            </a:r>
          </a:p>
        </p:txBody>
      </p:sp>
    </p:spTree>
    <p:extLst>
      <p:ext uri="{BB962C8B-B14F-4D97-AF65-F5344CB8AC3E}">
        <p14:creationId xmlns:p14="http://schemas.microsoft.com/office/powerpoint/2010/main" val="1301931272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BFCFF"/>
            </a:gs>
            <a:gs pos="64000">
              <a:srgbClr val="F4F7FF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2E32BD-3900-49D3-AB27-5D188273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>
              <a:alpha val="13000"/>
            </a:srgbClr>
          </a:solidFill>
          <a:ln xmlns:a="http://schemas.openxmlformats.org/drawingml/2006/main" w="9525">
            <a:solidFill>
              <a:srgbClr val="FF6B9D">
                <a:alpha val="22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5F23D-FB74-4BDB-A66B-D42B361D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LIMITS / ETHICS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D20CA-E283-4E35-9C6C-DBF2A0F7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95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9525">
            <a:solidFill>
              <a:srgbClr val="FF6B9D">
                <a:alpha val="22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4DCB5-6508-4AAD-A5E6-6DA966D4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76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C1CC1-5AED-4281-A9B9-425B29C1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STABLECOIN YIELD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33507-8913-4B90-907D-F1B2C24E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3333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4F2"/>
          </a:solidFill>
          <a:ln xmlns:a="http://schemas.openxmlformats.org/drawingml/2006/main" w="0">
            <a:solidFill>
              <a:srgbClr val="DCE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37C55-F981-4038-AA64-CF4A50FB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486525"/>
            <a:ext cx="30956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FF6B9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5661D-18E1-4D0F-A642-D50C6AB5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Market context is not total protocol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38314-6960-4161-8D28-B378B1B5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does the project deliberately not claim?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61A89-D748-4858-A59E-0D32DC87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66900"/>
            <a:ext cx="5353050" cy="3752850"/>
          </a:xfrm>
          <a:prstGeom xmlns:a="http://schemas.openxmlformats.org/drawingml/2006/main" prst="roundRect">
            <a:avLst>
              <a:gd name="adj" fmla="val 7107"/>
            </a:avLst>
          </a:prstGeom>
          <a:gradFill xmlns:a="http://schemas.openxmlformats.org/drawingml/2006/main">
            <a:gsLst>
              <a:gs pos="0">
                <a:srgbClr val="2BBBAD">
                  <a:alpha val="16000"/>
                </a:srgbClr>
              </a:gs>
              <a:gs pos="82000">
                <a:srgbClr val="FFFFFF"/>
              </a:gs>
            </a:gsLst>
            <a:lin ang="8700000"/>
          </a:gradFill>
          <a:ln xmlns:a="http://schemas.openxmlformats.org/drawingml/2006/main" w="9525">
            <a:solidFill>
              <a:srgbClr val="2BBBAD">
                <a:alpha val="2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162A7-FCF1-443D-A502-EF3501AB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BAD">
              <a:alpha val="16000"/>
            </a:srgbClr>
          </a:solidFill>
          <a:ln xmlns:a="http://schemas.openxmlformats.org/drawingml/2006/main" w="9525">
            <a:solidFill>
              <a:srgbClr val="2BBBAD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EDA3B-9F05-4157-AA6E-6B0BCCB7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BBA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BBAD"/>
                </a:solidFill>
                <a:latin typeface="Aptos"/>
                <a:ea typeface="Aptos"/>
                <a:cs typeface="Aptos"/>
              </a:rPr>
              <a:t>MEASURED HERE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8DD8B-6E3C-45B2-867A-2C6FDC2A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What the evidence supports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80A75-A0A5-4C71-92EE-920886E1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BAD"/>
          </a:solidFill>
          <a:ln xmlns:a="http://schemas.openxmlformats.org/drawingml/2006/main" w="0">
            <a:solidFill>
              <a:srgbClr val="2BBB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2D829-951F-460C-AED5-65FC2F81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Quoted APY level and persistence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7BB8B-BDB0-4C8F-8BD2-ACF1FFFC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BAD"/>
          </a:solidFill>
          <a:ln xmlns:a="http://schemas.openxmlformats.org/drawingml/2006/main" w="0">
            <a:solidFill>
              <a:srgbClr val="2BBB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FEB8D-4D75-4873-8E31-46F9DBAA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Observed TVL and reward components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CADB3-3364-4F42-BAFD-B25E3BB2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BAD"/>
          </a:solidFill>
          <a:ln xmlns:a="http://schemas.openxmlformats.org/drawingml/2006/main" w="0">
            <a:solidFill>
              <a:srgbClr val="2BBBA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34E23-6CD4-4640-8893-2F7BAFB9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Top-k membership stability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8323C-03B0-47DA-8F43-6F6DB394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BAD"/>
          </a:solidFill>
          <a:ln xmlns:a="http://schemas.openxmlformats.org/drawingml/2006/main" w="0">
            <a:solidFill>
              <a:srgbClr val="2BBBA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A34C0-1155-4A6D-9572-EA2B9FF0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Stablecoin peg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61A48-50AF-4829-A108-60BCCC2F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BAD"/>
          </a:solidFill>
          <a:ln xmlns:a="http://schemas.openxmlformats.org/drawingml/2006/main" w="0">
            <a:solidFill>
              <a:srgbClr val="2BBB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CC6348-9887-4CB1-B0D1-8F62B53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Data quality and sensitivity checks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6EAE2E-062E-4807-9E8F-32CDF8E1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66900"/>
            <a:ext cx="5772150" cy="3752850"/>
          </a:xfrm>
          <a:prstGeom xmlns:a="http://schemas.openxmlformats.org/drawingml/2006/main" prst="roundRect">
            <a:avLst>
              <a:gd name="adj" fmla="val 7107"/>
            </a:avLst>
          </a:prstGeom>
          <a:gradFill xmlns:a="http://schemas.openxmlformats.org/drawingml/2006/main">
            <a:gsLst>
              <a:gs pos="0">
                <a:srgbClr val="FF6B9D">
                  <a:alpha val="17000"/>
                </a:srgbClr>
              </a:gs>
              <a:gs pos="82000">
                <a:srgbClr val="FFFFFF"/>
              </a:gs>
            </a:gsLst>
            <a:lin ang="8700000"/>
          </a:gradFill>
          <a:ln xmlns:a="http://schemas.openxmlformats.org/drawingml/2006/main" w="9525">
            <a:solidFill>
              <a:srgbClr val="FF6B9D">
                <a:alpha val="2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6FE09C-3DD8-4DD8-95A0-F23E74EF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>
              <a:alpha val="16000"/>
            </a:srgbClr>
          </a:solidFill>
          <a:ln xmlns:a="http://schemas.openxmlformats.org/drawingml/2006/main" w="9525">
            <a:solidFill>
              <a:srgbClr val="FF6B9D">
                <a:alpha val="22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A9217C-367A-48D6-863A-B0FF0DB6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2407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NOT MEASURED HERE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858847-2DAB-48DF-A47C-B134DE15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What the project cannot rank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D2C6C5-85DA-4340-A31C-8675D132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051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FF6B9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FB0403-E3F9-4DBF-A749-50341E30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Smart-contract and oracle failure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2CBAD6-3744-4D5C-8C46-B6E90AE9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FF6B9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E0141F-BC3B-4FF9-B2C5-927EDF39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95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Counterparty and collateral quality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701B4-0111-4DEB-BD0E-4BC48FB7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814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FF6B9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0A7626-2128-4529-823F-545273D9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Bridge, chain and governance risk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A3ED51-E3B3-4259-B8CE-1D37A13D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FF6B9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91AB92-A38E-4EA6-B6F1-688BE917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72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Executable liquidity and slippage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259F85-9EE7-4886-926B-65538D06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577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FF6B9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3F2F47-A8A0-4BF0-A132-CEB1924E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10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Investor-specific realized return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55295B-99DF-456E-89A3-DE546EFD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48350"/>
            <a:ext cx="92583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F5838B-FCAE-4246-B6EA-1C1B7D91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436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Ethical consequence: no pool ranking, no hidden safety score and no financial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024070467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91127"/>
            </a:gs>
            <a:gs pos="58000">
              <a:srgbClr val="14275A"/>
            </a:gs>
            <a:gs pos="100000">
              <a:srgbClr val="3A2A7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F75C17-C0B6-4EDA-B8D7-83BDA0FD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866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23C9D8">
                <a:alpha val="22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957F1-8C17-40F6-8433-8EBC5D35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BC869-5F58-4DB2-BB7A-08993447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Stablecoin yield is best shown as trade-offs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BAB47-5E3F-412A-A2AD-A00C8E68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E6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DE6FF"/>
                </a:solidFill>
                <a:latin typeface="Aptos"/>
                <a:ea typeface="Aptos"/>
                <a:cs typeface="Aptos"/>
              </a:rPr>
              <a:t>The project closes on three lenses that keep a volatile number interpretable.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62E3D-F58F-4AC4-AA7E-9935D231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4095750" cy="2647950"/>
          </a:xfrm>
          <a:prstGeom xmlns:a="http://schemas.openxmlformats.org/drawingml/2006/main" prst="roundRect">
            <a:avLst>
              <a:gd name="adj" fmla="val 10791"/>
            </a:avLst>
          </a:prstGeom>
          <a:gradFill xmlns:a="http://schemas.openxmlformats.org/drawingml/2006/main">
            <a:gsLst>
              <a:gs pos="0">
                <a:srgbClr val="4F7CFF">
                  <a:alpha val="25000"/>
                </a:srgbClr>
              </a:gs>
              <a:gs pos="100000">
                <a:srgbClr val="8B5CF6">
                  <a:alpha val="18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79860-9E8B-4A3B-8B11-C406E8D2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9D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C9D8"/>
                </a:solidFill>
                <a:latin typeface="Aptos"/>
                <a:ea typeface="Aptos"/>
                <a:cs typeface="Aptos"/>
              </a:rPr>
              <a:t>ONE SENTENCE DEFENSE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CF978-2784-44E9-9DC6-D1C18B7C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3257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 stablecoin yield is common in snapshots. Persistent high yield with capacity and interpretable risk context is rarer.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B9DFA-8309-4CA8-B467-8CDD1936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6705600" cy="2647950"/>
          </a:xfrm>
          <a:prstGeom xmlns:a="http://schemas.openxmlformats.org/drawingml/2006/main" prst="roundRect">
            <a:avLst>
              <a:gd name="adj" fmla="val 1079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29EB1-48A1-4B53-9002-1E13A880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765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9D8">
              <a:alpha val="16000"/>
            </a:srgbClr>
          </a:solidFill>
          <a:ln xmlns:a="http://schemas.openxmlformats.org/drawingml/2006/main" w="9525">
            <a:solidFill>
              <a:srgbClr val="23C9D8">
                <a:alpha val="2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99EAC-84C9-4CFE-BE54-1CF93326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860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C9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C9D8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A32E0-86AD-4B6F-9DAE-E087E65F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1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Under the main 10% definition, the median episode lasts 2 days, so duration matters as much as level.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2C61F-62F2-463D-922B-63A5A4F3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86100"/>
            <a:ext cx="600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EFD15-F2C6-4347-ACFC-A0111E25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9D">
              <a:alpha val="16000"/>
            </a:srgbClr>
          </a:solidFill>
          <a:ln xmlns:a="http://schemas.openxmlformats.org/drawingml/2006/main" w="9525">
            <a:solidFill>
              <a:srgbClr val="FF6B9D">
                <a:alpha val="2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4E277-0EDC-4F3F-8958-8F8CA327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670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9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9D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5CB9E-6752-421C-AA90-0BF24E19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38500"/>
            <a:ext cx="411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Mechanism, reward dependence and peg stress change what a nominal APY number means.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EB3EF-F9DF-48D7-AD42-EB99A461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67150"/>
            <a:ext cx="600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2FA2C-29B2-4661-98D4-8A829662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84B">
              <a:alpha val="16000"/>
            </a:srgbClr>
          </a:solidFill>
          <a:ln xmlns:a="http://schemas.openxmlformats.org/drawingml/2006/main" w="9525">
            <a:solidFill>
              <a:srgbClr val="F6B84B">
                <a:alpha val="2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8A558-916A-430E-99CC-CEC21073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481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B8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B84B"/>
                </a:solidFill>
                <a:latin typeface="Aptos"/>
                <a:ea typeface="Aptos"/>
                <a:cs typeface="Aptos"/>
              </a:rPr>
              <a:t>RESPONSIBLE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65F5C-DCEC-4D06-AEEC-3EABDAF3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19550"/>
            <a:ext cx="411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joint screen keeps APY, persistence and capacity visible without encoding a recommendation.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3913E-E4D7-4436-A551-41962ED5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11144250" cy="781050"/>
          </a:xfrm>
          <a:prstGeom xmlns:a="http://schemas.openxmlformats.org/drawingml/2006/main" prst="roundRect">
            <a:avLst>
              <a:gd name="adj" fmla="val 29268"/>
            </a:avLst>
          </a:prstGeom>
          <a:gradFill xmlns:a="http://schemas.openxmlformats.org/drawingml/2006/main">
            <a:gsLst>
              <a:gs pos="0">
                <a:srgbClr val="23C9D8">
                  <a:alpha val="22000"/>
                </a:srgbClr>
              </a:gs>
              <a:gs pos="48000">
                <a:srgbClr val="4F7CFF">
                  <a:alpha val="22000"/>
                </a:srgbClr>
              </a:gs>
              <a:gs pos="100000">
                <a:srgbClr val="FF6B9D">
                  <a:alpha val="22000"/>
                </a:srgbClr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3A1C86-CE91-4A37-97C9-86A4CAB8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53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Reproducible by design: raw envelopes, canonical tables, quality checks, figures, report and deck are regenerated by one pipeline.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0934C-72C5-4E7F-818C-F8201D7D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Educational analysis only. No financial advice.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ACFE5-A8C6-4F6C-97A4-42F4A4A5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674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364032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2026-07-13T13:59:36.1880000Z</dcterms:created>
  <dcterms:modified xsi:type="dcterms:W3CDTF">2026-07-13T13:59:36.1880000Z</dcterms:modified>
</coreProperties>
</file>