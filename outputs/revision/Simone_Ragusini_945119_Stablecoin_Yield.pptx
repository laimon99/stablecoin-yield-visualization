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963d41ccc8443c" /><Relationship Type="http://schemas.openxmlformats.org/officeDocument/2006/relationships/extended-properties" Target="/docProps/app.xml" Id="Rcd33815ba0eb4304" /><Relationship Type="http://schemas.openxmlformats.org/officeDocument/2006/relationships/officeDocument" Target="/ppt/presentation.xml" Id="Rbad42953c50c4655" /></Relationships>
</file>

<file path=ppt/presentation.xml><?xml version="1.0" encoding="utf-8"?>
<p:presentation xmlns:p="http://schemas.openxmlformats.org/presentationml/2006/main">
  <p:sldMasterIdLst>
    <p:sldMasterId xmlns:r="http://schemas.openxmlformats.org/officeDocument/2006/relationships" id="2147483648" r:id="R677f5c78864e46d2"/>
  </p:sldMasterIdLst>
  <p:notesMasterIdLst>
    <p:notesMasterId xmlns:r="http://schemas.openxmlformats.org/officeDocument/2006/relationships" r:id="R33706f8eb9d54bbe"/>
  </p:notesMasterIdLst>
  <p:sldIdLst>
    <p:sldId xmlns:r="http://schemas.openxmlformats.org/officeDocument/2006/relationships" id="256" r:id="R3d991a36365b4258"/>
    <p:sldId xmlns:r="http://schemas.openxmlformats.org/officeDocument/2006/relationships" id="257" r:id="R51678f53fccc4440"/>
    <p:sldId xmlns:r="http://schemas.openxmlformats.org/officeDocument/2006/relationships" id="258" r:id="R3b10dbe233e34508"/>
    <p:sldId xmlns:r="http://schemas.openxmlformats.org/officeDocument/2006/relationships" id="259" r:id="R7507769cf18447b8"/>
    <p:sldId xmlns:r="http://schemas.openxmlformats.org/officeDocument/2006/relationships" id="260" r:id="Rba48cda1e0894b98"/>
    <p:sldId xmlns:r="http://schemas.openxmlformats.org/officeDocument/2006/relationships" id="261" r:id="Rfe17586efac54fb0"/>
    <p:sldId xmlns:r="http://schemas.openxmlformats.org/officeDocument/2006/relationships" id="262" r:id="R1f5f5da8dd464321"/>
    <p:sldId xmlns:r="http://schemas.openxmlformats.org/officeDocument/2006/relationships" id="263" r:id="R290b5c8d2ce54173"/>
    <p:sldId xmlns:r="http://schemas.openxmlformats.org/officeDocument/2006/relationships" id="264" r:id="R2e4cfdc0c15e4bf0"/>
    <p:sldId xmlns:r="http://schemas.openxmlformats.org/officeDocument/2006/relationships" id="265" r:id="R375507e2419d44d7"/>
    <p:sldId xmlns:r="http://schemas.openxmlformats.org/officeDocument/2006/relationships" id="266" r:id="R7da2d7f34f9b4004"/>
    <p:sldId xmlns:r="http://schemas.openxmlformats.org/officeDocument/2006/relationships" id="267" r:id="R29111bd5b05f419d"/>
    <p:sldId xmlns:r="http://schemas.openxmlformats.org/officeDocument/2006/relationships" id="268" r:id="Re11a6c039ebc473c"/>
    <p:sldId xmlns:r="http://schemas.openxmlformats.org/officeDocument/2006/relationships" id="269" r:id="R801cda03d5514a4e"/>
    <p:sldId xmlns:r="http://schemas.openxmlformats.org/officeDocument/2006/relationships" id="270" r:id="R94cbd7898ce649c8"/>
    <p:sldId xmlns:r="http://schemas.openxmlformats.org/officeDocument/2006/relationships" id="271" r:id="R7a8190d7d4944e01"/>
    <p:sldId xmlns:r="http://schemas.openxmlformats.org/officeDocument/2006/relationships" id="272" r:id="Rc19e68d072b546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77b36e56434a10" /><Relationship Type="http://schemas.openxmlformats.org/officeDocument/2006/relationships/slideMaster" Target="/ppt/slideMasters/slideMaster1.xml" Id="R677f5c78864e46d2" /><Relationship Type="http://schemas.openxmlformats.org/officeDocument/2006/relationships/notesMaster" Target="/ppt/notesMasters/notesMaster1.xml" Id="R33706f8eb9d54bbe" /><Relationship Type="http://schemas.openxmlformats.org/officeDocument/2006/relationships/presProps" Target="/ppt/presProps.xml" Id="R21fdb7eb8cbe4ebe" /><Relationship Type="http://schemas.openxmlformats.org/officeDocument/2006/relationships/tableStyles" Target="/ppt/tableStyles.xml" Id="Rf8bf7757a07c4b52" /><Relationship Type="http://schemas.openxmlformats.org/officeDocument/2006/relationships/slide" Target="/ppt/slides/slide1.xml" Id="R3d991a36365b4258" /><Relationship Type="http://schemas.openxmlformats.org/officeDocument/2006/relationships/slide" Target="/ppt/slides/slide2.xml" Id="R51678f53fccc4440" /><Relationship Type="http://schemas.openxmlformats.org/officeDocument/2006/relationships/slide" Target="/ppt/slides/slide3.xml" Id="R3b10dbe233e34508" /><Relationship Type="http://schemas.openxmlformats.org/officeDocument/2006/relationships/slide" Target="/ppt/slides/slide4.xml" Id="R7507769cf18447b8" /><Relationship Type="http://schemas.openxmlformats.org/officeDocument/2006/relationships/slide" Target="/ppt/slides/slide5.xml" Id="Rba48cda1e0894b98" /><Relationship Type="http://schemas.openxmlformats.org/officeDocument/2006/relationships/slide" Target="/ppt/slides/slide6.xml" Id="Rfe17586efac54fb0" /><Relationship Type="http://schemas.openxmlformats.org/officeDocument/2006/relationships/slide" Target="/ppt/slides/slide7.xml" Id="R1f5f5da8dd464321" /><Relationship Type="http://schemas.openxmlformats.org/officeDocument/2006/relationships/slide" Target="/ppt/slides/slide8.xml" Id="R290b5c8d2ce54173" /><Relationship Type="http://schemas.openxmlformats.org/officeDocument/2006/relationships/slide" Target="/ppt/slides/slide9.xml" Id="R2e4cfdc0c15e4bf0" /><Relationship Type="http://schemas.openxmlformats.org/officeDocument/2006/relationships/slide" Target="/ppt/slides/slide10.xml" Id="R375507e2419d44d7" /><Relationship Type="http://schemas.openxmlformats.org/officeDocument/2006/relationships/slide" Target="/ppt/slides/slide11.xml" Id="R7da2d7f34f9b4004" /><Relationship Type="http://schemas.openxmlformats.org/officeDocument/2006/relationships/slide" Target="/ppt/slides/slide12.xml" Id="R29111bd5b05f419d" /><Relationship Type="http://schemas.openxmlformats.org/officeDocument/2006/relationships/slide" Target="/ppt/slides/slide13.xml" Id="Re11a6c039ebc473c" /><Relationship Type="http://schemas.openxmlformats.org/officeDocument/2006/relationships/slide" Target="/ppt/slides/slide14.xml" Id="R801cda03d5514a4e" /><Relationship Type="http://schemas.openxmlformats.org/officeDocument/2006/relationships/slide" Target="/ppt/slides/slide15.xml" Id="R94cbd7898ce649c8" /><Relationship Type="http://schemas.openxmlformats.org/officeDocument/2006/relationships/slide" Target="/ppt/slides/slide16.xml" Id="R7a8190d7d4944e01" /><Relationship Type="http://schemas.openxmlformats.org/officeDocument/2006/relationships/slide" Target="/ppt/slides/slide17.xml" Id="Rc19e68d072b546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0595105d4e44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e6531cbf0240e0" /><Relationship Type="http://schemas.openxmlformats.org/officeDocument/2006/relationships/notesMaster" Target="/ppt/notesMasters/notesMaster1.xml" Id="Rabb785c8d3374a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8413a71fff484d" /><Relationship Type="http://schemas.openxmlformats.org/officeDocument/2006/relationships/notesMaster" Target="/ppt/notesMasters/notesMaster1.xml" Id="R625ec47dd28742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93329731e14d7b" /><Relationship Type="http://schemas.openxmlformats.org/officeDocument/2006/relationships/notesMaster" Target="/ppt/notesMasters/notesMaster1.xml" Id="R1d715597020e42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2833ccddeb42dc" /><Relationship Type="http://schemas.openxmlformats.org/officeDocument/2006/relationships/notesMaster" Target="/ppt/notesMasters/notesMaster1.xml" Id="R4118631f5bcb4f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a6bc5c7a924939" /><Relationship Type="http://schemas.openxmlformats.org/officeDocument/2006/relationships/notesMaster" Target="/ppt/notesMasters/notesMaster1.xml" Id="R72a58ecb9def4c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e43023f6f4887" /><Relationship Type="http://schemas.openxmlformats.org/officeDocument/2006/relationships/notesMaster" Target="/ppt/notesMasters/notesMaster1.xml" Id="Rd71460e26f5549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077ae272c64da6" /><Relationship Type="http://schemas.openxmlformats.org/officeDocument/2006/relationships/notesMaster" Target="/ppt/notesMasters/notesMaster1.xml" Id="R3a3627dc91f94e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b343718623437a" /><Relationship Type="http://schemas.openxmlformats.org/officeDocument/2006/relationships/notesMaster" Target="/ppt/notesMasters/notesMaster1.xml" Id="R1bae7a90fc2743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aecd054a7c404d" /><Relationship Type="http://schemas.openxmlformats.org/officeDocument/2006/relationships/notesMaster" Target="/ppt/notesMasters/notesMaster1.xml" Id="R13ffec7f16644f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ed2bda066d244f7" /><Relationship Type="http://schemas.openxmlformats.org/officeDocument/2006/relationships/notesMaster" Target="/ppt/notesMasters/notesMaster1.xml" Id="Rc768e556b90949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66e70604394cd2" /><Relationship Type="http://schemas.openxmlformats.org/officeDocument/2006/relationships/notesMaster" Target="/ppt/notesMasters/notesMaster1.xml" Id="Rdc9bde3eefd448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a43ea7648f4c73" /><Relationship Type="http://schemas.openxmlformats.org/officeDocument/2006/relationships/notesMaster" Target="/ppt/notesMasters/notesMaster1.xml" Id="Ra35efef1cf31449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f8c6e9e7d84d6a" /><Relationship Type="http://schemas.openxmlformats.org/officeDocument/2006/relationships/notesMaster" Target="/ppt/notesMasters/notesMaster1.xml" Id="R04057c699e2745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61b44d890f4174" /><Relationship Type="http://schemas.openxmlformats.org/officeDocument/2006/relationships/notesMaster" Target="/ppt/notesMasters/notesMaster1.xml" Id="R4984a20e1a084a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169a9f57df4dcb" /><Relationship Type="http://schemas.openxmlformats.org/officeDocument/2006/relationships/notesMaster" Target="/ppt/notesMasters/notesMaster1.xml" Id="R2f40fd961d4f42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64932c27314247" /><Relationship Type="http://schemas.openxmlformats.org/officeDocument/2006/relationships/notesMaster" Target="/ppt/notesMasters/notesMaster1.xml" Id="R416b490ac0ab40c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10d288048e4835" /><Relationship Type="http://schemas.openxmlformats.org/officeDocument/2006/relationships/notesMaster" Target="/ppt/notesMasters/notesMaster1.xml" Id="Rf0003438fc2446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precise scope: persistence, mechanisms and observed TVL response. State that this is not a protocol-risk model or a recommendation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five research questions and the decision to use pool-day as the analytical grain.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eligibility rules: stablecoin flag, at least USD 1 million TVL and 180 history observations. The 250-pool cap combines 70 percent highest TVL with the remaining capacity highest 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main 10% episode specification, one-missing-day tolerance, right censoring, churn formula, APY-jump event trigger and the three-median joint screen. Emphasize that the screen is not a Pareto frontier.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p99 display cap and preserved extreme-value flags to justify robust summaries without deleting source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Kaplan-Meier survival and right censoring. Report 2,668 episodes, median 2 days, p90 16 days and 1.2 percent censored.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churn as one minus top-k retention. The heatmap cells are separate top-10 and top-20 date means. The text summary pools all valid observed-date/top-k comparisons, so it is weighted by their counts: 2,669 at 1 day, 2,657 at 7 days and 2,612 at 30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chart. Contrast incentive-driven pools with base-yield categories and report 90.3 percent base coverage versus 61.6 percent reward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event trigger and show the four event-time points. State immediately that TVL is an observational balance-sheet proxy, not a causal wallet-flow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 selected reviewed event, the 10-pool exposure window and the descriptive APY change. Do not generalize one event into a causal risk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this a joint threshold screen, not a Pareto frontier. Bubble size encodes median TVL; highlighted points clear all three medians.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episode counts change with the threshold but the median duration does not. Mention all five robustness families materialized by the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unmeasured dimensions: smart-contract, counterparty, bridge, chain, oracle, liquidity and collateral quality. This boundary is why the project avoids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 is the existing lifelines 95% pointwise log-log confidence interval. It is not simultaneous and is not clustered by pool. S(30) means probability of an observed episode lasting more than 30 calendar days. Left-boundary episodes can be incomplete, and the original specification treats long observation gaps as episode endings rather than known economic failures. Gap sensitivity is reassuring for the observed median but does not establish non-informative censoring. The history-90 check operates within a sample already selected for at least 180 provider observations. Sources: outputs/tables/episode_survival.csv, outputs/tables/robustness_checks.csv, src/stablecoin_yield/metrics/episodes.py,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includes the actual Plotly heatmap on page 7 and Matplotlib plots on pages 6, 9 and 10. No live demonstration is needed. The two distinct visualization libraries are Matplotlib and Plotly; Seaborn is documented as supporting Matplotlib, not counted as an independent rendering system. Matplotlib code: src/stablecoin_yield/visualization/figures.py. Plotly code: scripts/reproduce_published.py. Presentation charts are assembled separately by @oai/artifact-tool. Versions are locked in uv.lock and recorded in outputs/revision/published_evidence_audit.json. Repository: https://github.com/Laimon99/stablecoin-yield-visualization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URL: https://github.com/Laimon99/stablecoin-yield-visualization . Exact package versions: uv.lock. Published evidence reconstruction needs only the aggregate CSVs and report_summary.json. This is computational verification of published statistics, not independent reconstruction from the historical raw data. Full live collection can return a changed sample and provider revisions. PowerPoint rebuilding is optional and requires @oai/artifact-tool; rendered deliverables remain accessible without it. Code licence: MIT, https://opensource.org/license/mit . Original authored presentation/report/text: CC BY 4.0, https://creativecommons.org/licenses/by/4.0/ . Third-party data excluded. DeFiLlama: https://defillama.com/terms . CoinGecko: https://www.coingecko.com/en/api_terms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one-sentence defense, reproducibility and the no-financial-advice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2c1af8a54f44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0e04e7a9be4178" /><Relationship Type="http://schemas.openxmlformats.org/officeDocument/2006/relationships/slideLayout" Target="/ppt/slideLayouts/slideLayout1.xml" Id="Rba5bb4c3a9ce43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5bb4c3a9ce43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6897a4ec224589" /><Relationship Type="http://schemas.openxmlformats.org/officeDocument/2006/relationships/notesSlide" Target="/ppt/notesSlides/notesSlide1.xml" Id="Rd8f20f896a624d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7b51fe7b2e4d22" /><Relationship Type="http://schemas.openxmlformats.org/officeDocument/2006/relationships/notesSlide" Target="/ppt/notesSlides/notesSlide2.xml" Id="R7c310adb70a042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12fd170c7e424b" /><Relationship Type="http://schemas.openxmlformats.org/officeDocument/2006/relationships/image" Target="/ppt/media/image.png" Id="R125b8bd4d4ad4102" /><Relationship Type="http://schemas.openxmlformats.org/officeDocument/2006/relationships/notesSlide" Target="/ppt/notesSlides/notesSlide3.xml" Id="R56f65901a41b47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86effa299e4a4e" /><Relationship Type="http://schemas.openxmlformats.org/officeDocument/2006/relationships/notesSlide" Target="/ppt/notesSlides/notesSlide4.xml" Id="R797b70b1384b42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ecde27e742461b" /><Relationship Type="http://schemas.openxmlformats.org/officeDocument/2006/relationships/image" Target="/ppt/media/image2.png" Id="R558e122620954ab2" /><Relationship Type="http://schemas.openxmlformats.org/officeDocument/2006/relationships/notesSlide" Target="/ppt/notesSlides/notesSlide5.xml" Id="R4dae984a402a42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afb324ff4c4070" /><Relationship Type="http://schemas.openxmlformats.org/officeDocument/2006/relationships/image" Target="/ppt/media/image3.png" Id="R1c0eaee97fab4b09" /><Relationship Type="http://schemas.openxmlformats.org/officeDocument/2006/relationships/notesSlide" Target="/ppt/notesSlides/notesSlide6.xml" Id="R39d37b9feaec41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191099042f4cdd" /><Relationship Type="http://schemas.openxmlformats.org/officeDocument/2006/relationships/image" Target="/ppt/media/image4.png" Id="Rcd1b06e0e0674a18" /><Relationship Type="http://schemas.openxmlformats.org/officeDocument/2006/relationships/notesSlide" Target="/ppt/notesSlides/notesSlide7.xml" Id="R7861bdb85e094a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c531efeda54d7b" /><Relationship Type="http://schemas.openxmlformats.org/officeDocument/2006/relationships/image" Target="/ppt/media/image5.png" Id="R7ffd6bfd14904e0b" /><Relationship Type="http://schemas.openxmlformats.org/officeDocument/2006/relationships/notesSlide" Target="/ppt/notesSlides/notesSlide8.xml" Id="R902bd7697df241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469e1f5abfb4084" /><Relationship Type="http://schemas.openxmlformats.org/officeDocument/2006/relationships/image" Target="/ppt/media/image6.png" Id="R191bd7d8855c49ba" /><Relationship Type="http://schemas.openxmlformats.org/officeDocument/2006/relationships/image" Target="/ppt/media/image7.png" Id="R61de10fab8994d60" /><Relationship Type="http://schemas.openxmlformats.org/officeDocument/2006/relationships/notesSlide" Target="/ppt/notesSlides/notesSlide9.xml" Id="Rd1d53c4446dc4f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4bc913363345dd" /><Relationship Type="http://schemas.openxmlformats.org/officeDocument/2006/relationships/image" Target="/ppt/media/image8.png" Id="R13e46c01adf04b99" /><Relationship Type="http://schemas.openxmlformats.org/officeDocument/2006/relationships/image" Target="/ppt/media/image9.png" Id="Ree2ee10b73f24928" /><Relationship Type="http://schemas.openxmlformats.org/officeDocument/2006/relationships/notesSlide" Target="/ppt/notesSlides/notesSlide10.xml" Id="Ra3f10175028346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bda77865b64577" /><Relationship Type="http://schemas.openxmlformats.org/officeDocument/2006/relationships/image" Target="/ppt/media/image10.png" Id="Rda1bdcb901b14944" /><Relationship Type="http://schemas.openxmlformats.org/officeDocument/2006/relationships/notesSlide" Target="/ppt/notesSlides/notesSlide11.xml" Id="Rd7f5f91ebe664d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c055c4fb9d48ff" /><Relationship Type="http://schemas.openxmlformats.org/officeDocument/2006/relationships/image" Target="/ppt/media/image11.png" Id="R5ab78383ecb14c32" /><Relationship Type="http://schemas.openxmlformats.org/officeDocument/2006/relationships/notesSlide" Target="/ppt/notesSlides/notesSlide12.xml" Id="Rc136f30708b842a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facb1b29f2444c" /><Relationship Type="http://schemas.openxmlformats.org/officeDocument/2006/relationships/notesSlide" Target="/ppt/notesSlides/notesSlide13.xml" Id="Ra4bba863238642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c494cc1e944caa" /><Relationship Type="http://schemas.openxmlformats.org/officeDocument/2006/relationships/notesSlide" Target="/ppt/notesSlides/notesSlide14.xml" Id="R00d2b90360494d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2289c1195c48ec" /><Relationship Type="http://schemas.openxmlformats.org/officeDocument/2006/relationships/notesSlide" Target="/ppt/notesSlides/notesSlide15.xml" Id="R11a9b93b4c704f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bae8469bd348cf" /><Relationship Type="http://schemas.openxmlformats.org/officeDocument/2006/relationships/hyperlink" Target="https://github.com/Laimon99/stablecoin-yield-visualization" TargetMode="External" Id="Rec66640c778747a2" /><Relationship Type="http://schemas.openxmlformats.org/officeDocument/2006/relationships/notesSlide" Target="/ppt/notesSlides/notesSlide16.xml" Id="R88a4e024bae143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ccbc9debf134104" /><Relationship Type="http://schemas.openxmlformats.org/officeDocument/2006/relationships/notesSlide" Target="/ppt/notesSlides/notesSlide17.xml" Id="R742c5ea108fa41fc" /></Relationships>
</file>

<file path=ppt/slides/slide1.xml><?xml version="1.0" encoding="utf-8"?>
<p:sld xmlns:p="http://schemas.openxmlformats.org/presentationml/2006/main">
  <p:cSld>
    <p:bg>
      <p:bgPr>
        <a:gradFill xmlns:a="http://schemas.openxmlformats.org/drawingml/2006/main">
          <a:gsLst>
            <a:gs pos="0">
              <a:srgbClr val="091127"/>
            </a:gs>
            <a:gs pos="58000">
              <a:srgbClr val="172B66"/>
            </a:gs>
            <a:gs pos="100000">
              <a:srgbClr val="5B3CC4"/>
            </a:gs>
          </a:gsLst>
          <a:lin ang="8100000"/>
        </a:gra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5F34602-B9C7-47A9-BD0D-DD295AEC4C7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oundRect">
            <a:avLst>
              <a:gd name="adj" fmla="val 0"/>
            </a:avLst>
          </a:prstGeom>
          <a:gradFill xmlns:a="http://schemas.openxmlformats.org/drawingml/2006/main">
            <a:gsLst>
              <a:gs pos="0">
                <a:srgbClr val="23C9D8"/>
              </a:gs>
              <a:gs pos="48000">
                <a:srgbClr val="4F7CFF"/>
              </a:gs>
              <a:gs pos="100000">
                <a:srgbClr val="FF6B9D"/>
              </a:gs>
            </a:gsLst>
            <a:lin ang="0"/>
          </a:gradFill>
          <a:ln xmlns:a="http://schemas.openxmlformats.org/drawingml/2006/main" w="0">
            <a:gradFill>
              <a:gsLst>
                <a:gs pos="0">
                  <a:srgbClr val="23C9D8"/>
                </a:gs>
                <a:gs pos="48000">
                  <a:srgbClr val="4F7CFF"/>
                </a:gs>
                <a:gs pos="100000">
                  <a:srgbClr val="FF6B9D"/>
                </a:gs>
              </a:gsLst>
              <a:lin ang="0"/>
            </a:gradFill>
            <a:prstDash val="solid"/>
          </a:ln>
        </p:spPr>
      </p:sp>
      <p:sp>
        <p:nvSpPr>
          <p:cNvPr id="2" name="">
            <a:extLst xmlns:a="http://schemas.openxmlformats.org/drawingml/2006/main">
              <a:ext uri="{FF2B5EF4-FFF2-40B4-BE49-F238E27FC236}">
                <a16:creationId xmlns:a16="http://schemas.microsoft.com/office/drawing/2014/main" id="{2B7DF972-EFB1-4734-A578-ECA91A2B0D47}"/>
              </a:ext>
            </a:extLst>
          </p:cNvPr>
          <p:cNvSpPr>
            <a:spLocks xmlns:a="http://schemas.openxmlformats.org/drawingml/2006/main" noGrp="1"/>
          </p:cNvSpPr>
          <p:nvPr/>
        </p:nvSpPr>
        <p:spPr>
          <a:xfrm xmlns:a="http://schemas.openxmlformats.org/drawingml/2006/main">
            <a:off x="514350" y="457200"/>
            <a:ext cx="2800350" cy="361950"/>
          </a:xfrm>
          <a:prstGeom xmlns:a="http://schemas.openxmlformats.org/drawingml/2006/main" prst="roundRect">
            <a:avLst>
              <a:gd name="adj" fmla="val 50000"/>
            </a:avLst>
          </a:prstGeom>
          <a:solidFill xmlns:a="http://schemas.openxmlformats.org/drawingml/2006/main">
            <a:srgbClr val="FFFFFF">
              <a:alpha val="12000"/>
            </a:srgbClr>
          </a:solidFill>
          <a:ln xmlns:a="http://schemas.openxmlformats.org/drawingml/2006/main" w="9525">
            <a:solidFill>
              <a:srgbClr val="23C9D8">
                <a:alpha val="22000"/>
              </a:srgbClr>
            </a:solidFill>
            <a:prstDash val="solid"/>
          </a:ln>
        </p:spPr>
      </p:sp>
      <p:sp>
        <p:nvSpPr>
          <p:cNvPr id="3" name="">
            <a:extLst xmlns:a="http://schemas.openxmlformats.org/drawingml/2006/main">
              <a:ext uri="{FF2B5EF4-FFF2-40B4-BE49-F238E27FC236}">
                <a16:creationId xmlns:a16="http://schemas.microsoft.com/office/drawing/2014/main" id="{113EB74F-DE6C-43D9-B861-EDC157E9A261}"/>
              </a:ext>
            </a:extLst>
          </p:cNvPr>
          <p:cNvSpPr>
            <a:spLocks xmlns:a="http://schemas.openxmlformats.org/drawingml/2006/main" noGrp="1"/>
          </p:cNvSpPr>
          <p:nvPr/>
        </p:nvSpPr>
        <p:spPr>
          <a:xfrm xmlns:a="http://schemas.openxmlformats.org/drawingml/2006/main">
            <a:off x="628650" y="4667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DATA VISUALIZATION / DEFI</a:t>
            </a:r>
          </a:p>
        </p:txBody>
      </p:sp>
      <p:sp>
        <p:nvSpPr>
          <p:cNvPr id="4" name="cover-title">
            <a:extLst xmlns:a="http://schemas.openxmlformats.org/drawingml/2006/main">
              <a:ext uri="{FF2B5EF4-FFF2-40B4-BE49-F238E27FC236}">
                <a16:creationId xmlns:a16="http://schemas.microsoft.com/office/drawing/2014/main" id="{35C4CF70-5105-4B6F-B76E-4437F00456A9}"/>
              </a:ext>
            </a:extLst>
          </p:cNvPr>
          <p:cNvSpPr>
            <a:spLocks xmlns:a="http://schemas.openxmlformats.org/drawingml/2006/main" noGrp="1"/>
          </p:cNvSpPr>
          <p:nvPr/>
        </p:nvSpPr>
        <p:spPr>
          <a:xfrm xmlns:a="http://schemas.openxmlformats.org/drawingml/2006/main">
            <a:off x="514350" y="1200150"/>
            <a:ext cx="628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ptos"/>
                <a:ea typeface="Aptos"/>
                <a:cs typeface="Aptos"/>
              </a:defRPr>
            </a:pPr>
            <a:r>
              <a:rPr sz="5400" b="1">
                <a:solidFill>
                  <a:srgbClr val="FFFFFF"/>
                </a:solidFill>
                <a:latin typeface="Aptos"/>
                <a:ea typeface="Aptos"/>
                <a:cs typeface="Aptos"/>
              </a:rPr>
              <a:t>Stablecoin Yield</a:t>
            </a:r>
          </a:p>
        </p:txBody>
      </p:sp>
      <p:sp>
        <p:nvSpPr>
          <p:cNvPr id="5" name="">
            <a:extLst xmlns:a="http://schemas.openxmlformats.org/drawingml/2006/main">
              <a:ext uri="{FF2B5EF4-FFF2-40B4-BE49-F238E27FC236}">
                <a16:creationId xmlns:a16="http://schemas.microsoft.com/office/drawing/2014/main" id="{139E1C6A-A9EF-4B9C-84AC-31D07F0CA3B2}"/>
              </a:ext>
            </a:extLst>
          </p:cNvPr>
          <p:cNvSpPr>
            <a:spLocks xmlns:a="http://schemas.openxmlformats.org/drawingml/2006/main" noGrp="1"/>
          </p:cNvSpPr>
          <p:nvPr/>
        </p:nvSpPr>
        <p:spPr>
          <a:xfrm xmlns:a="http://schemas.openxmlformats.org/drawingml/2006/main">
            <a:off x="533400" y="2190750"/>
            <a:ext cx="60483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0">
                <a:solidFill>
                  <a:srgbClr val="DDE6FF"/>
                </a:solidFill>
                <a:latin typeface="Aptos"/>
                <a:ea typeface="Aptos"/>
                <a:cs typeface="Aptos"/>
              </a:defRPr>
            </a:pPr>
            <a:r>
              <a:rPr sz="2100" b="0">
                <a:solidFill>
                  <a:srgbClr val="DDE6FF"/>
                </a:solidFill>
                <a:latin typeface="Aptos"/>
                <a:ea typeface="Aptos"/>
                <a:cs typeface="Aptos"/>
              </a:rPr>
              <a:t>The price of yield: persistence, mechanisms and TVL response in stablecoin DeFi</a:t>
            </a:r>
          </a:p>
        </p:txBody>
      </p:sp>
      <p:sp>
        <p:nvSpPr>
          <p:cNvPr id="6" name="">
            <a:extLst xmlns:a="http://schemas.openxmlformats.org/drawingml/2006/main">
              <a:ext uri="{FF2B5EF4-FFF2-40B4-BE49-F238E27FC236}">
                <a16:creationId xmlns:a16="http://schemas.microsoft.com/office/drawing/2014/main" id="{AD806231-74C8-46AA-852F-D2DBEABE6BB5}"/>
              </a:ext>
            </a:extLst>
          </p:cNvPr>
          <p:cNvSpPr>
            <a:spLocks xmlns:a="http://schemas.openxmlformats.org/drawingml/2006/main" noGrp="1"/>
          </p:cNvSpPr>
          <p:nvPr/>
        </p:nvSpPr>
        <p:spPr>
          <a:xfrm xmlns:a="http://schemas.openxmlformats.org/drawingml/2006/main">
            <a:off x="514350" y="3257550"/>
            <a:ext cx="5905500" cy="1104900"/>
          </a:xfrm>
          <a:prstGeom xmlns:a="http://schemas.openxmlformats.org/drawingml/2006/main" prst="roundRect">
            <a:avLst>
              <a:gd name="adj" fmla="val 22414"/>
            </a:avLst>
          </a:prstGeom>
          <a:solidFill xmlns:a="http://schemas.openxmlformats.org/drawingml/2006/main">
            <a:srgbClr val="FFFFFF">
              <a:alpha val="10000"/>
            </a:srgbClr>
          </a:solidFill>
          <a:ln xmlns:a="http://schemas.openxmlformats.org/drawingml/2006/main" w="9525">
            <a:solidFill>
              <a:srgbClr val="FFFFFF">
                <a:alpha val="16000"/>
              </a:srgbClr>
            </a:solidFill>
            <a:prstDash val="solid"/>
          </a:ln>
        </p:spPr>
      </p:sp>
      <p:sp>
        <p:nvSpPr>
          <p:cNvPr id="7" name="">
            <a:extLst xmlns:a="http://schemas.openxmlformats.org/drawingml/2006/main">
              <a:ext uri="{FF2B5EF4-FFF2-40B4-BE49-F238E27FC236}">
                <a16:creationId xmlns:a16="http://schemas.microsoft.com/office/drawing/2014/main" id="{C0FC186C-C626-48A1-B254-9A0DE423B45D}"/>
              </a:ext>
            </a:extLst>
          </p:cNvPr>
          <p:cNvSpPr>
            <a:spLocks xmlns:a="http://schemas.openxmlformats.org/drawingml/2006/main" noGrp="1"/>
          </p:cNvSpPr>
          <p:nvPr/>
        </p:nvSpPr>
        <p:spPr>
          <a:xfrm xmlns:a="http://schemas.openxmlformats.org/drawingml/2006/main">
            <a:off x="781050" y="34861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3C9D8"/>
                </a:solidFill>
                <a:latin typeface="Aptos"/>
                <a:ea typeface="Aptos"/>
                <a:cs typeface="Aptos"/>
              </a:defRPr>
            </a:pPr>
            <a:r>
              <a:rPr sz="1050" b="1">
                <a:solidFill>
                  <a:srgbClr val="23C9D8"/>
                </a:solidFill>
                <a:latin typeface="Aptos"/>
                <a:ea typeface="Aptos"/>
                <a:cs typeface="Aptos"/>
              </a:rPr>
              <a:t>CENTRAL CLAIM</a:t>
            </a:r>
          </a:p>
        </p:txBody>
      </p:sp>
      <p:sp>
        <p:nvSpPr>
          <p:cNvPr id="8" name="">
            <a:extLst xmlns:a="http://schemas.openxmlformats.org/drawingml/2006/main">
              <a:ext uri="{FF2B5EF4-FFF2-40B4-BE49-F238E27FC236}">
                <a16:creationId xmlns:a16="http://schemas.microsoft.com/office/drawing/2014/main" id="{FB691D2D-5153-4DE6-8143-54BF96706E16}"/>
              </a:ext>
            </a:extLst>
          </p:cNvPr>
          <p:cNvSpPr>
            <a:spLocks xmlns:a="http://schemas.openxmlformats.org/drawingml/2006/main" noGrp="1"/>
          </p:cNvSpPr>
          <p:nvPr/>
        </p:nvSpPr>
        <p:spPr>
          <a:xfrm xmlns:a="http://schemas.openxmlformats.org/drawingml/2006/main">
            <a:off x="781050" y="380047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Stablecoin APY becomes interpretable only when duration, TVL, mechanism and peg context are shown together.</a:t>
            </a:r>
          </a:p>
        </p:txBody>
      </p:sp>
      <p:sp>
        <p:nvSpPr>
          <p:cNvPr id="9" name="">
            <a:extLst xmlns:a="http://schemas.openxmlformats.org/drawingml/2006/main">
              <a:ext uri="{FF2B5EF4-FFF2-40B4-BE49-F238E27FC236}">
                <a16:creationId xmlns:a16="http://schemas.microsoft.com/office/drawing/2014/main" id="{C8DBEA0E-DE9E-4017-8909-46650845F0E9}"/>
              </a:ext>
            </a:extLst>
          </p:cNvPr>
          <p:cNvSpPr>
            <a:spLocks xmlns:a="http://schemas.openxmlformats.org/drawingml/2006/main" noGrp="1"/>
          </p:cNvSpPr>
          <p:nvPr/>
        </p:nvSpPr>
        <p:spPr>
          <a:xfrm xmlns:a="http://schemas.openxmlformats.org/drawingml/2006/main">
            <a:off x="7105650" y="723900"/>
            <a:ext cx="4495800" cy="4762500"/>
          </a:xfrm>
          <a:prstGeom xmlns:a="http://schemas.openxmlformats.org/drawingml/2006/main" prst="roundRect">
            <a:avLst>
              <a:gd name="adj" fmla="val 7203"/>
            </a:avLst>
          </a:prstGeom>
          <a:solidFill xmlns:a="http://schemas.openxmlformats.org/drawingml/2006/main">
            <a:srgbClr val="FFFFFF">
              <a:alpha val="11000"/>
            </a:srgbClr>
          </a:solidFill>
          <a:ln xmlns:a="http://schemas.openxmlformats.org/drawingml/2006/main" w="9525">
            <a:solidFill>
              <a:srgbClr val="FFFFFF">
                <a:alpha val="18000"/>
              </a:srgbClr>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215BE30-26F8-4F6E-894B-9EEB51F7C2BE}"/>
              </a:ext>
            </a:extLst>
          </p:cNvPr>
          <p:cNvSpPr>
            <a:spLocks xmlns:a="http://schemas.openxmlformats.org/drawingml/2006/main" noGrp="1"/>
          </p:cNvSpPr>
          <p:nvPr/>
        </p:nvSpPr>
        <p:spPr>
          <a:xfrm xmlns:a="http://schemas.openxmlformats.org/drawingml/2006/main">
            <a:off x="7448550" y="10477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Evidence snapshot</a:t>
            </a:r>
          </a:p>
        </p:txBody>
      </p:sp>
      <p:sp>
        <p:nvSpPr>
          <p:cNvPr id="11" name="">
            <a:extLst xmlns:a="http://schemas.openxmlformats.org/drawingml/2006/main">
              <a:ext uri="{FF2B5EF4-FFF2-40B4-BE49-F238E27FC236}">
                <a16:creationId xmlns:a16="http://schemas.microsoft.com/office/drawing/2014/main" id="{0CE0A4AD-E48E-4237-9F06-EBD4F3AA2159}"/>
              </a:ext>
            </a:extLst>
          </p:cNvPr>
          <p:cNvSpPr>
            <a:spLocks xmlns:a="http://schemas.openxmlformats.org/drawingml/2006/main" noGrp="1"/>
          </p:cNvSpPr>
          <p:nvPr/>
        </p:nvSpPr>
        <p:spPr>
          <a:xfrm xmlns:a="http://schemas.openxmlformats.org/drawingml/2006/main">
            <a:off x="7448550" y="1466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DDE6FF"/>
                </a:solidFill>
                <a:latin typeface="Aptos"/>
                <a:ea typeface="Aptos"/>
                <a:cs typeface="Aptos"/>
              </a:defRPr>
            </a:pPr>
            <a:r>
              <a:rPr sz="1275" b="0">
                <a:solidFill>
                  <a:srgbClr val="DDE6FF"/>
                </a:solidFill>
                <a:latin typeface="Aptos"/>
                <a:ea typeface="Aptos"/>
                <a:cs typeface="Aptos"/>
              </a:rPr>
              <a:t>A compact view of the analytical scale</a:t>
            </a:r>
          </a:p>
        </p:txBody>
      </p:sp>
      <p:sp>
        <p:nvSpPr>
          <p:cNvPr id="12" name="">
            <a:extLst xmlns:a="http://schemas.openxmlformats.org/drawingml/2006/main">
              <a:ext uri="{FF2B5EF4-FFF2-40B4-BE49-F238E27FC236}">
                <a16:creationId xmlns:a16="http://schemas.microsoft.com/office/drawing/2014/main" id="{BCCD4C36-0A4C-4FC5-B7F0-9B9371742B90}"/>
              </a:ext>
            </a:extLst>
          </p:cNvPr>
          <p:cNvSpPr>
            <a:spLocks xmlns:a="http://schemas.openxmlformats.org/drawingml/2006/main" noGrp="1"/>
          </p:cNvSpPr>
          <p:nvPr/>
        </p:nvSpPr>
        <p:spPr>
          <a:xfrm xmlns:a="http://schemas.openxmlformats.org/drawingml/2006/main">
            <a:off x="7448550" y="1952625"/>
            <a:ext cx="3810000" cy="9525"/>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3" name="">
            <a:extLst xmlns:a="http://schemas.openxmlformats.org/drawingml/2006/main">
              <a:ext uri="{FF2B5EF4-FFF2-40B4-BE49-F238E27FC236}">
                <a16:creationId xmlns:a16="http://schemas.microsoft.com/office/drawing/2014/main" id="{E4AE7D07-351B-43E5-8807-78C207CFD586}"/>
              </a:ext>
            </a:extLst>
          </p:cNvPr>
          <p:cNvSpPr>
            <a:spLocks xmlns:a="http://schemas.openxmlformats.org/drawingml/2006/main" noGrp="1"/>
          </p:cNvSpPr>
          <p:nvPr/>
        </p:nvSpPr>
        <p:spPr>
          <a:xfrm xmlns:a="http://schemas.openxmlformats.org/drawingml/2006/main">
            <a:off x="9353550" y="2076450"/>
            <a:ext cx="9525" cy="2876550"/>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4" name="">
            <a:extLst xmlns:a="http://schemas.openxmlformats.org/drawingml/2006/main">
              <a:ext uri="{FF2B5EF4-FFF2-40B4-BE49-F238E27FC236}">
                <a16:creationId xmlns:a16="http://schemas.microsoft.com/office/drawing/2014/main" id="{C8FF12FC-09DC-4EA2-914F-8BB951FF61D5}"/>
              </a:ext>
            </a:extLst>
          </p:cNvPr>
          <p:cNvSpPr>
            <a:spLocks xmlns:a="http://schemas.openxmlformats.org/drawingml/2006/main" noGrp="1"/>
          </p:cNvSpPr>
          <p:nvPr/>
        </p:nvSpPr>
        <p:spPr>
          <a:xfrm xmlns:a="http://schemas.openxmlformats.org/drawingml/2006/main">
            <a:off x="7448550" y="3486150"/>
            <a:ext cx="381000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5" name="">
            <a:extLst xmlns:a="http://schemas.openxmlformats.org/drawingml/2006/main">
              <a:ext uri="{FF2B5EF4-FFF2-40B4-BE49-F238E27FC236}">
                <a16:creationId xmlns:a16="http://schemas.microsoft.com/office/drawing/2014/main" id="{E233AE32-D820-46B5-A82E-865990563826}"/>
              </a:ext>
            </a:extLst>
          </p:cNvPr>
          <p:cNvSpPr>
            <a:spLocks xmlns:a="http://schemas.openxmlformats.org/drawingml/2006/main" noGrp="1"/>
          </p:cNvSpPr>
          <p:nvPr/>
        </p:nvSpPr>
        <p:spPr>
          <a:xfrm xmlns:a="http://schemas.openxmlformats.org/drawingml/2006/main">
            <a:off x="7543800" y="2209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250</a:t>
            </a:r>
          </a:p>
        </p:txBody>
      </p:sp>
      <p:sp>
        <p:nvSpPr>
          <p:cNvPr id="16" name="">
            <a:extLst xmlns:a="http://schemas.openxmlformats.org/drawingml/2006/main">
              <a:ext uri="{FF2B5EF4-FFF2-40B4-BE49-F238E27FC236}">
                <a16:creationId xmlns:a16="http://schemas.microsoft.com/office/drawing/2014/main" id="{2B44842F-20BA-4734-ACF0-A00A5CBF3773}"/>
              </a:ext>
            </a:extLst>
          </p:cNvPr>
          <p:cNvSpPr>
            <a:spLocks xmlns:a="http://schemas.openxmlformats.org/drawingml/2006/main" noGrp="1"/>
          </p:cNvSpPr>
          <p:nvPr/>
        </p:nvSpPr>
        <p:spPr>
          <a:xfrm xmlns:a="http://schemas.openxmlformats.org/drawingml/2006/main">
            <a:off x="7543800" y="2895600"/>
            <a:ext cx="400050" cy="47625"/>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17" name="">
            <a:extLst xmlns:a="http://schemas.openxmlformats.org/drawingml/2006/main">
              <a:ext uri="{FF2B5EF4-FFF2-40B4-BE49-F238E27FC236}">
                <a16:creationId xmlns:a16="http://schemas.microsoft.com/office/drawing/2014/main" id="{897758F3-4591-41AD-A3C7-FFB90558D3A1}"/>
              </a:ext>
            </a:extLst>
          </p:cNvPr>
          <p:cNvSpPr>
            <a:spLocks xmlns:a="http://schemas.openxmlformats.org/drawingml/2006/main" noGrp="1"/>
          </p:cNvSpPr>
          <p:nvPr/>
        </p:nvSpPr>
        <p:spPr>
          <a:xfrm xmlns:a="http://schemas.openxmlformats.org/drawingml/2006/main">
            <a:off x="7543800" y="3048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POOLS</a:t>
            </a:r>
          </a:p>
        </p:txBody>
      </p:sp>
      <p:sp>
        <p:nvSpPr>
          <p:cNvPr id="18" name="">
            <a:extLst xmlns:a="http://schemas.openxmlformats.org/drawingml/2006/main">
              <a:ext uri="{FF2B5EF4-FFF2-40B4-BE49-F238E27FC236}">
                <a16:creationId xmlns:a16="http://schemas.microsoft.com/office/drawing/2014/main" id="{5E23AF52-F3E3-411B-B71B-880461054B73}"/>
              </a:ext>
            </a:extLst>
          </p:cNvPr>
          <p:cNvSpPr>
            <a:spLocks xmlns:a="http://schemas.openxmlformats.org/drawingml/2006/main" noGrp="1"/>
          </p:cNvSpPr>
          <p:nvPr/>
        </p:nvSpPr>
        <p:spPr>
          <a:xfrm xmlns:a="http://schemas.openxmlformats.org/drawingml/2006/main">
            <a:off x="9601200" y="2209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137k</a:t>
            </a:r>
          </a:p>
        </p:txBody>
      </p:sp>
      <p:sp>
        <p:nvSpPr>
          <p:cNvPr id="19" name="">
            <a:extLst xmlns:a="http://schemas.openxmlformats.org/drawingml/2006/main">
              <a:ext uri="{FF2B5EF4-FFF2-40B4-BE49-F238E27FC236}">
                <a16:creationId xmlns:a16="http://schemas.microsoft.com/office/drawing/2014/main" id="{20EE4755-5CE6-40F4-9710-487D4D3EFB31}"/>
              </a:ext>
            </a:extLst>
          </p:cNvPr>
          <p:cNvSpPr>
            <a:spLocks xmlns:a="http://schemas.openxmlformats.org/drawingml/2006/main" noGrp="1"/>
          </p:cNvSpPr>
          <p:nvPr/>
        </p:nvSpPr>
        <p:spPr>
          <a:xfrm xmlns:a="http://schemas.openxmlformats.org/drawingml/2006/main">
            <a:off x="9601200" y="2895600"/>
            <a:ext cx="400050" cy="47625"/>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0" name="">
            <a:extLst xmlns:a="http://schemas.openxmlformats.org/drawingml/2006/main">
              <a:ext uri="{FF2B5EF4-FFF2-40B4-BE49-F238E27FC236}">
                <a16:creationId xmlns:a16="http://schemas.microsoft.com/office/drawing/2014/main" id="{697E8C60-A3F2-4E33-8E7E-702AC56B4E07}"/>
              </a:ext>
            </a:extLst>
          </p:cNvPr>
          <p:cNvSpPr>
            <a:spLocks xmlns:a="http://schemas.openxmlformats.org/drawingml/2006/main" noGrp="1"/>
          </p:cNvSpPr>
          <p:nvPr/>
        </p:nvSpPr>
        <p:spPr>
          <a:xfrm xmlns:a="http://schemas.openxmlformats.org/drawingml/2006/main">
            <a:off x="9601200" y="3048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POOL-DAYS</a:t>
            </a:r>
          </a:p>
        </p:txBody>
      </p:sp>
      <p:sp>
        <p:nvSpPr>
          <p:cNvPr id="21" name="">
            <a:extLst xmlns:a="http://schemas.openxmlformats.org/drawingml/2006/main">
              <a:ext uri="{FF2B5EF4-FFF2-40B4-BE49-F238E27FC236}">
                <a16:creationId xmlns:a16="http://schemas.microsoft.com/office/drawing/2014/main" id="{CD0BB1AB-BCCE-4502-B83B-2A3E7BF3CE94}"/>
              </a:ext>
            </a:extLst>
          </p:cNvPr>
          <p:cNvSpPr>
            <a:spLocks xmlns:a="http://schemas.openxmlformats.org/drawingml/2006/main" noGrp="1"/>
          </p:cNvSpPr>
          <p:nvPr/>
        </p:nvSpPr>
        <p:spPr>
          <a:xfrm xmlns:a="http://schemas.openxmlformats.org/drawingml/2006/main">
            <a:off x="7543800" y="3733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4.3%</a:t>
            </a:r>
          </a:p>
        </p:txBody>
      </p:sp>
      <p:sp>
        <p:nvSpPr>
          <p:cNvPr id="22" name="">
            <a:extLst xmlns:a="http://schemas.openxmlformats.org/drawingml/2006/main">
              <a:ext uri="{FF2B5EF4-FFF2-40B4-BE49-F238E27FC236}">
                <a16:creationId xmlns:a16="http://schemas.microsoft.com/office/drawing/2014/main" id="{A9A0B910-D477-4D54-8619-ECA9104D1A3A}"/>
              </a:ext>
            </a:extLst>
          </p:cNvPr>
          <p:cNvSpPr>
            <a:spLocks xmlns:a="http://schemas.openxmlformats.org/drawingml/2006/main" noGrp="1"/>
          </p:cNvSpPr>
          <p:nvPr/>
        </p:nvSpPr>
        <p:spPr>
          <a:xfrm xmlns:a="http://schemas.openxmlformats.org/drawingml/2006/main">
            <a:off x="7543800" y="4419600"/>
            <a:ext cx="400050" cy="47625"/>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0">
            <a:solidFill>
              <a:srgbClr val="F6B84B"/>
            </a:solidFill>
            <a:prstDash val="solid"/>
          </a:ln>
        </p:spPr>
      </p:sp>
      <p:sp>
        <p:nvSpPr>
          <p:cNvPr id="23" name="">
            <a:extLst xmlns:a="http://schemas.openxmlformats.org/drawingml/2006/main">
              <a:ext uri="{FF2B5EF4-FFF2-40B4-BE49-F238E27FC236}">
                <a16:creationId xmlns:a16="http://schemas.microsoft.com/office/drawing/2014/main" id="{465449C2-5CA6-4A86-94BE-4BD28ED3FB5C}"/>
              </a:ext>
            </a:extLst>
          </p:cNvPr>
          <p:cNvSpPr>
            <a:spLocks xmlns:a="http://schemas.openxmlformats.org/drawingml/2006/main" noGrp="1"/>
          </p:cNvSpPr>
          <p:nvPr/>
        </p:nvSpPr>
        <p:spPr>
          <a:xfrm xmlns:a="http://schemas.openxmlformats.org/drawingml/2006/main">
            <a:off x="7543800" y="4572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POOL-DAY MEDIAN APY</a:t>
            </a:r>
          </a:p>
        </p:txBody>
      </p:sp>
      <p:sp>
        <p:nvSpPr>
          <p:cNvPr id="24" name="">
            <a:extLst xmlns:a="http://schemas.openxmlformats.org/drawingml/2006/main">
              <a:ext uri="{FF2B5EF4-FFF2-40B4-BE49-F238E27FC236}">
                <a16:creationId xmlns:a16="http://schemas.microsoft.com/office/drawing/2014/main" id="{1CEE7726-5FCA-46E9-8A53-05A828A3731F}"/>
              </a:ext>
            </a:extLst>
          </p:cNvPr>
          <p:cNvSpPr>
            <a:spLocks xmlns:a="http://schemas.openxmlformats.org/drawingml/2006/main" noGrp="1"/>
          </p:cNvSpPr>
          <p:nvPr/>
        </p:nvSpPr>
        <p:spPr>
          <a:xfrm xmlns:a="http://schemas.openxmlformats.org/drawingml/2006/main">
            <a:off x="9601200" y="3733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2</a:t>
            </a:r>
          </a:p>
        </p:txBody>
      </p:sp>
      <p:sp>
        <p:nvSpPr>
          <p:cNvPr id="25" name="">
            <a:extLst xmlns:a="http://schemas.openxmlformats.org/drawingml/2006/main">
              <a:ext uri="{FF2B5EF4-FFF2-40B4-BE49-F238E27FC236}">
                <a16:creationId xmlns:a16="http://schemas.microsoft.com/office/drawing/2014/main" id="{A5E93731-D595-4456-A13E-FD4A50C7E0CB}"/>
              </a:ext>
            </a:extLst>
          </p:cNvPr>
          <p:cNvSpPr>
            <a:spLocks xmlns:a="http://schemas.openxmlformats.org/drawingml/2006/main" noGrp="1"/>
          </p:cNvSpPr>
          <p:nvPr/>
        </p:nvSpPr>
        <p:spPr>
          <a:xfrm xmlns:a="http://schemas.openxmlformats.org/drawingml/2006/main">
            <a:off x="9601200" y="4419600"/>
            <a:ext cx="400050" cy="47625"/>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26" name="">
            <a:extLst xmlns:a="http://schemas.openxmlformats.org/drawingml/2006/main">
              <a:ext uri="{FF2B5EF4-FFF2-40B4-BE49-F238E27FC236}">
                <a16:creationId xmlns:a16="http://schemas.microsoft.com/office/drawing/2014/main" id="{735483D1-7D9B-413F-B5F8-9194DFE24AFC}"/>
              </a:ext>
            </a:extLst>
          </p:cNvPr>
          <p:cNvSpPr>
            <a:spLocks xmlns:a="http://schemas.openxmlformats.org/drawingml/2006/main" noGrp="1"/>
          </p:cNvSpPr>
          <p:nvPr/>
        </p:nvSpPr>
        <p:spPr>
          <a:xfrm xmlns:a="http://schemas.openxmlformats.org/drawingml/2006/main">
            <a:off x="9601200" y="4572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MEDIAN EPISODE DURATION</a:t>
            </a:r>
          </a:p>
        </p:txBody>
      </p:sp>
      <p:sp>
        <p:nvSpPr>
          <p:cNvPr id="27" name="">
            <a:extLst xmlns:a="http://schemas.openxmlformats.org/drawingml/2006/main">
              <a:ext uri="{FF2B5EF4-FFF2-40B4-BE49-F238E27FC236}">
                <a16:creationId xmlns:a16="http://schemas.microsoft.com/office/drawing/2014/main" id="{FF9F51BE-BFD9-4D8B-BE3C-57CBC4CB76E8}"/>
              </a:ext>
            </a:extLst>
          </p:cNvPr>
          <p:cNvSpPr>
            <a:spLocks xmlns:a="http://schemas.openxmlformats.org/drawingml/2006/main" noGrp="1"/>
          </p:cNvSpPr>
          <p:nvPr/>
        </p:nvSpPr>
        <p:spPr>
          <a:xfrm xmlns:a="http://schemas.openxmlformats.org/drawingml/2006/main">
            <a:off x="533400" y="46482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6B9D"/>
                </a:solidFill>
                <a:latin typeface="Aptos"/>
                <a:ea typeface="Aptos"/>
                <a:cs typeface="Aptos"/>
              </a:defRPr>
            </a:pPr>
            <a:r>
              <a:rPr sz="1800" b="1">
                <a:solidFill>
                  <a:srgbClr val="FF6B9D"/>
                </a:solidFill>
                <a:latin typeface="Aptos"/>
                <a:ea typeface="Aptos"/>
                <a:cs typeface="Aptos"/>
              </a:rPr>
              <a:t>Yield as a regime, not a ranking.</a:t>
            </a:r>
          </a:p>
        </p:txBody>
      </p:sp>
      <p:sp>
        <p:nvSpPr>
          <p:cNvPr id="28" name="">
            <a:extLst xmlns:a="http://schemas.openxmlformats.org/drawingml/2006/main">
              <a:ext uri="{FF2B5EF4-FFF2-40B4-BE49-F238E27FC236}">
                <a16:creationId xmlns:a16="http://schemas.microsoft.com/office/drawing/2014/main" id="{DD2A93D7-F7CE-4CD2-B1E9-6F846724703A}"/>
              </a:ext>
            </a:extLst>
          </p:cNvPr>
          <p:cNvSpPr>
            <a:spLocks xmlns:a="http://schemas.openxmlformats.org/drawingml/2006/main" noGrp="1"/>
          </p:cNvSpPr>
          <p:nvPr/>
        </p:nvSpPr>
        <p:spPr>
          <a:xfrm xmlns:a="http://schemas.openxmlformats.org/drawingml/2006/main">
            <a:off x="533400" y="5248275"/>
            <a:ext cx="614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Simone Ragusini  ·  945119</a:t>
            </a:r>
          </a:p>
        </p:txBody>
      </p:sp>
      <p:sp>
        <p:nvSpPr>
          <p:cNvPr id="29" name="">
            <a:extLst xmlns:a="http://schemas.openxmlformats.org/drawingml/2006/main">
              <a:ext uri="{FF2B5EF4-FFF2-40B4-BE49-F238E27FC236}">
                <a16:creationId xmlns:a16="http://schemas.microsoft.com/office/drawing/2014/main" id="{70790657-CBFB-4851-AEE2-42B8098E5F0B}"/>
              </a:ext>
            </a:extLst>
          </p:cNvPr>
          <p:cNvSpPr>
            <a:spLocks xmlns:a="http://schemas.openxmlformats.org/drawingml/2006/main" noGrp="1"/>
          </p:cNvSpPr>
          <p:nvPr/>
        </p:nvSpPr>
        <p:spPr>
          <a:xfrm xmlns:a="http://schemas.openxmlformats.org/drawingml/2006/main">
            <a:off x="533400" y="5600700"/>
            <a:ext cx="614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DDE6FF"/>
                </a:solidFill>
                <a:latin typeface="Aptos"/>
                <a:ea typeface="Aptos"/>
                <a:cs typeface="Aptos"/>
              </a:defRPr>
            </a:pPr>
            <a:r>
              <a:rPr sz="1575" b="0">
                <a:solidFill>
                  <a:srgbClr val="DDE6FF"/>
                </a:solidFill>
                <a:latin typeface="Aptos"/>
                <a:ea typeface="Aptos"/>
                <a:cs typeface="Aptos"/>
              </a:rPr>
              <a:t>s.ragusini@campus.unimib.it</a:t>
            </a:r>
          </a:p>
        </p:txBody>
      </p:sp>
      <p:sp>
        <p:nvSpPr>
          <p:cNvPr id="30" name="">
            <a:extLst xmlns:a="http://schemas.openxmlformats.org/drawingml/2006/main">
              <a:ext uri="{FF2B5EF4-FFF2-40B4-BE49-F238E27FC236}">
                <a16:creationId xmlns:a16="http://schemas.microsoft.com/office/drawing/2014/main" id="{696122EF-0369-4D52-8A59-43820B491E0D}"/>
              </a:ext>
            </a:extLst>
          </p:cNvPr>
          <p:cNvSpPr>
            <a:spLocks xmlns:a="http://schemas.openxmlformats.org/drawingml/2006/main" noGrp="1"/>
          </p:cNvSpPr>
          <p:nvPr/>
        </p:nvSpPr>
        <p:spPr>
          <a:xfrm xmlns:a="http://schemas.openxmlformats.org/drawingml/2006/main">
            <a:off x="533400" y="60579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C7D2FE"/>
                </a:solidFill>
                <a:latin typeface="Aptos"/>
                <a:ea typeface="Aptos"/>
                <a:cs typeface="Aptos"/>
              </a:defRPr>
            </a:pPr>
            <a:r>
              <a:rPr sz="1200" b="0">
                <a:solidFill>
                  <a:srgbClr val="C7D2FE"/>
                </a:solidFill>
                <a:latin typeface="Aptos"/>
                <a:ea typeface="Aptos"/>
                <a:cs typeface="Aptos"/>
              </a:rPr>
              <a:t>Educational analysis only. No financial advice, no pool ranking.</a:t>
            </a:r>
          </a:p>
        </p:txBody>
      </p:sp>
      <p:sp>
        <p:nvSpPr>
          <p:cNvPr id="31" name="">
            <a:extLst xmlns:a="http://schemas.openxmlformats.org/drawingml/2006/main">
              <a:ext uri="{FF2B5EF4-FFF2-40B4-BE49-F238E27FC236}">
                <a16:creationId xmlns:a16="http://schemas.microsoft.com/office/drawing/2014/main" id="{4976E1A6-E0CE-4944-8D55-FDCADA248F9E}"/>
              </a:ext>
            </a:extLst>
          </p:cNvPr>
          <p:cNvSpPr>
            <a:spLocks xmlns:a="http://schemas.openxmlformats.org/drawingml/2006/main" noGrp="1"/>
          </p:cNvSpPr>
          <p:nvPr/>
        </p:nvSpPr>
        <p:spPr>
          <a:xfrm xmlns:a="http://schemas.openxmlformats.org/drawingml/2006/main">
            <a:off x="10572750" y="6057900"/>
            <a:ext cx="100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01 / 17</a:t>
            </a:r>
          </a:p>
        </p:txBody>
      </p:sp>
    </p:spTree>
    <p:extLst>
      <p:ext uri="{BB962C8B-B14F-4D97-AF65-F5344CB8AC3E}">
        <p14:creationId xmlns:p14="http://schemas.microsoft.com/office/powerpoint/2010/main" val="521148433"/>
      </p:ext>
    </p:extLst>
  </p:cSld>
</p:sld>
</file>

<file path=ppt/slides/slide2.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3F4BCEA-0296-45AC-9F80-B99B109DC826}"/>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0505D08D-F47F-4A76-9A8F-9DE03C9978AD}"/>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RESEARCH FRAME</a:t>
            </a:r>
          </a:p>
        </p:txBody>
      </p:sp>
      <p:sp>
        <p:nvSpPr>
          <p:cNvPr id="3" name="">
            <a:extLst xmlns:a="http://schemas.openxmlformats.org/drawingml/2006/main">
              <a:ext uri="{FF2B5EF4-FFF2-40B4-BE49-F238E27FC236}">
                <a16:creationId xmlns:a16="http://schemas.microsoft.com/office/drawing/2014/main" id="{5A8ADE48-6DE6-481C-878F-9FDF8EBCF908}"/>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859EE075-AEBB-4D1D-9B76-205B0A9B4B97}"/>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B791B013-61F5-4DF3-800E-4C1787F2C5D5}"/>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1327A95B-B68F-4104-93E1-C525E6F17E44}"/>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87CAAE90-6512-4E88-B1AE-C28837A1B6D6}"/>
              </a:ext>
            </a:extLst>
          </p:cNvPr>
          <p:cNvSpPr>
            <a:spLocks xmlns:a="http://schemas.openxmlformats.org/drawingml/2006/main" noGrp="1"/>
          </p:cNvSpPr>
          <p:nvPr/>
        </p:nvSpPr>
        <p:spPr>
          <a:xfrm xmlns:a="http://schemas.openxmlformats.org/drawingml/2006/main">
            <a:off x="8420100" y="6486525"/>
            <a:ext cx="392206"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729BA35F-1428-4A5B-87A3-E5B13A867264}"/>
              </a:ext>
            </a:extLst>
          </p:cNvPr>
          <p:cNvSpPr>
            <a:spLocks xmlns:a="http://schemas.openxmlformats.org/drawingml/2006/main" noGrp="1"/>
          </p:cNvSpPr>
          <p:nvPr/>
        </p:nvSpPr>
        <p:spPr>
          <a:xfrm xmlns:a="http://schemas.openxmlformats.org/drawingml/2006/main">
            <a:off x="419100" y="8191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a:solidFill>
                  <a:srgbClr val="14213D"/>
                </a:solidFill>
                <a:latin typeface="Aptos"/>
                <a:ea typeface="Aptos"/>
                <a:cs typeface="Aptos"/>
              </a:defRPr>
            </a:pPr>
            <a:r>
              <a:rPr sz="3300" b="1">
                <a:solidFill>
                  <a:srgbClr val="14213D"/>
                </a:solidFill>
                <a:latin typeface="Aptos"/>
                <a:ea typeface="Aptos"/>
                <a:cs typeface="Aptos"/>
              </a:rPr>
              <a:t>Yield is a regime, not a rank</a:t>
            </a:r>
          </a:p>
        </p:txBody>
      </p:sp>
      <p:sp>
        <p:nvSpPr>
          <p:cNvPr id="9" name="">
            <a:extLst xmlns:a="http://schemas.openxmlformats.org/drawingml/2006/main">
              <a:ext uri="{FF2B5EF4-FFF2-40B4-BE49-F238E27FC236}">
                <a16:creationId xmlns:a16="http://schemas.microsoft.com/office/drawing/2014/main" id="{29A853D0-DAC1-48D8-AC9D-E35121E71615}"/>
              </a:ext>
            </a:extLst>
          </p:cNvPr>
          <p:cNvSpPr>
            <a:spLocks xmlns:a="http://schemas.openxmlformats.org/drawingml/2006/main" noGrp="1"/>
          </p:cNvSpPr>
          <p:nvPr/>
        </p:nvSpPr>
        <p:spPr>
          <a:xfrm xmlns:a="http://schemas.openxmlformats.org/drawingml/2006/main">
            <a:off x="419100" y="140970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67085"/>
                </a:solidFill>
                <a:latin typeface="Aptos"/>
                <a:ea typeface="Aptos"/>
                <a:cs typeface="Aptos"/>
              </a:defRPr>
            </a:pPr>
            <a:r>
              <a:rPr sz="1575" b="0">
                <a:solidFill>
                  <a:srgbClr val="667085"/>
                </a:solidFill>
                <a:latin typeface="Aptos"/>
                <a:ea typeface="Aptos"/>
                <a:cs typeface="Aptos"/>
              </a:rPr>
              <a:t>APY = quoted annualized yield. TVL = total value locked, measured in USD.</a:t>
            </a:r>
          </a:p>
        </p:txBody>
      </p:sp>
      <p:sp>
        <p:nvSpPr>
          <p:cNvPr id="10" name="">
            <a:extLst xmlns:a="http://schemas.openxmlformats.org/drawingml/2006/main">
              <a:ext uri="{FF2B5EF4-FFF2-40B4-BE49-F238E27FC236}">
                <a16:creationId xmlns:a16="http://schemas.microsoft.com/office/drawing/2014/main" id="{82631A76-D287-469F-8AB3-74FF33CD2F9E}"/>
              </a:ext>
            </a:extLst>
          </p:cNvPr>
          <p:cNvSpPr>
            <a:spLocks xmlns:a="http://schemas.openxmlformats.org/drawingml/2006/main" noGrp="1"/>
          </p:cNvSpPr>
          <p:nvPr/>
        </p:nvSpPr>
        <p:spPr>
          <a:xfrm xmlns:a="http://schemas.openxmlformats.org/drawingml/2006/main">
            <a:off x="419100" y="2038350"/>
            <a:ext cx="3905250" cy="3714750"/>
          </a:xfrm>
          <a:prstGeom xmlns:a="http://schemas.openxmlformats.org/drawingml/2006/main" prst="roundRect">
            <a:avLst>
              <a:gd name="adj" fmla="val 7692"/>
            </a:avLst>
          </a:prstGeom>
          <a:gradFill xmlns:a="http://schemas.openxmlformats.org/drawingml/2006/main">
            <a:gsLst>
              <a:gs pos="0">
                <a:srgbClr val="4F7CFF"/>
              </a:gs>
              <a:gs pos="58000">
                <a:srgbClr val="6B63E8"/>
              </a:gs>
              <a:gs pos="100000">
                <a:srgbClr val="8B5CF6"/>
              </a:gs>
            </a:gsLst>
            <a:lin ang="8700000"/>
          </a:gradFill>
          <a:ln xmlns:a="http://schemas.openxmlformats.org/drawingml/2006/main" w="0">
            <a:gradFill>
              <a:gsLst>
                <a:gs pos="0">
                  <a:srgbClr val="4F7CFF"/>
                </a:gs>
                <a:gs pos="58000">
                  <a:srgbClr val="6B63E8"/>
                </a:gs>
                <a:gs pos="100000">
                  <a:srgbClr val="8B5CF6"/>
                </a:gs>
              </a:gsLst>
              <a:lin ang="8700000"/>
            </a:gra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2D22984-7F57-4E48-9282-B34A3B7FEC10}"/>
              </a:ext>
            </a:extLst>
          </p:cNvPr>
          <p:cNvSpPr>
            <a:spLocks xmlns:a="http://schemas.openxmlformats.org/drawingml/2006/main" noGrp="1"/>
          </p:cNvSpPr>
          <p:nvPr/>
        </p:nvSpPr>
        <p:spPr>
          <a:xfrm xmlns:a="http://schemas.openxmlformats.org/drawingml/2006/main">
            <a:off x="723900" y="2362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DE6FF"/>
                </a:solidFill>
                <a:latin typeface="Aptos"/>
                <a:ea typeface="Aptos"/>
                <a:cs typeface="Aptos"/>
              </a:defRPr>
            </a:pPr>
            <a:r>
              <a:rPr sz="1050" b="1">
                <a:solidFill>
                  <a:srgbClr val="DDE6FF"/>
                </a:solidFill>
                <a:latin typeface="Aptos"/>
                <a:ea typeface="Aptos"/>
                <a:cs typeface="Aptos"/>
              </a:rPr>
              <a:t>ONE ANALYTICAL GRAIN</a:t>
            </a:r>
          </a:p>
        </p:txBody>
      </p:sp>
      <p:sp>
        <p:nvSpPr>
          <p:cNvPr id="12" name="">
            <a:extLst xmlns:a="http://schemas.openxmlformats.org/drawingml/2006/main">
              <a:ext uri="{FF2B5EF4-FFF2-40B4-BE49-F238E27FC236}">
                <a16:creationId xmlns:a16="http://schemas.microsoft.com/office/drawing/2014/main" id="{8E2D8C44-AC69-4791-AD62-123744F52E1A}"/>
              </a:ext>
            </a:extLst>
          </p:cNvPr>
          <p:cNvSpPr>
            <a:spLocks xmlns:a="http://schemas.openxmlformats.org/drawingml/2006/main" noGrp="1"/>
          </p:cNvSpPr>
          <p:nvPr/>
        </p:nvSpPr>
        <p:spPr>
          <a:xfrm xmlns:a="http://schemas.openxmlformats.org/drawingml/2006/main">
            <a:off x="723900" y="27813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POOL × DAY</a:t>
            </a:r>
          </a:p>
        </p:txBody>
      </p:sp>
      <p:sp>
        <p:nvSpPr>
          <p:cNvPr id="13" name="">
            <a:extLst xmlns:a="http://schemas.openxmlformats.org/drawingml/2006/main">
              <a:ext uri="{FF2B5EF4-FFF2-40B4-BE49-F238E27FC236}">
                <a16:creationId xmlns:a16="http://schemas.microsoft.com/office/drawing/2014/main" id="{73A7EDF9-120B-4ED2-BD10-7029A67550F0}"/>
              </a:ext>
            </a:extLst>
          </p:cNvPr>
          <p:cNvSpPr>
            <a:spLocks xmlns:a="http://schemas.openxmlformats.org/drawingml/2006/main" noGrp="1"/>
          </p:cNvSpPr>
          <p:nvPr/>
        </p:nvSpPr>
        <p:spPr>
          <a:xfrm xmlns:a="http://schemas.openxmlformats.org/drawingml/2006/main">
            <a:off x="723900" y="3619500"/>
            <a:ext cx="3028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FFFFFF"/>
                </a:solidFill>
                <a:latin typeface="Aptos"/>
                <a:ea typeface="Aptos"/>
                <a:cs typeface="Aptos"/>
              </a:defRPr>
            </a:pPr>
            <a:r>
              <a:rPr sz="1575" b="0">
                <a:solidFill>
                  <a:srgbClr val="FFFFFF"/>
                </a:solidFill>
                <a:latin typeface="Aptos"/>
                <a:ea typeface="Aptos"/>
                <a:cs typeface="Aptos"/>
              </a:rPr>
              <a:t>Each observation connects yield level, capacity, mechanism and market context at a defensible temporal resolution.</a:t>
            </a:r>
          </a:p>
        </p:txBody>
      </p:sp>
      <p:sp>
        <p:nvSpPr>
          <p:cNvPr id="14" name="">
            <a:extLst xmlns:a="http://schemas.openxmlformats.org/drawingml/2006/main">
              <a:ext uri="{FF2B5EF4-FFF2-40B4-BE49-F238E27FC236}">
                <a16:creationId xmlns:a16="http://schemas.microsoft.com/office/drawing/2014/main" id="{B3C41096-FBD9-44C3-9E0D-5D7B6CDA4DFE}"/>
              </a:ext>
            </a:extLst>
          </p:cNvPr>
          <p:cNvSpPr>
            <a:spLocks xmlns:a="http://schemas.openxmlformats.org/drawingml/2006/main" noGrp="1"/>
          </p:cNvSpPr>
          <p:nvPr/>
        </p:nvSpPr>
        <p:spPr>
          <a:xfrm xmlns:a="http://schemas.openxmlformats.org/drawingml/2006/main">
            <a:off x="723900" y="4819650"/>
            <a:ext cx="3028950" cy="19050"/>
          </a:xfrm>
          <a:prstGeom xmlns:a="http://schemas.openxmlformats.org/drawingml/2006/main" prst="line">
            <a:avLst/>
          </a:prstGeom>
          <a:noFill xmlns:a="http://schemas.openxmlformats.org/drawingml/2006/main"/>
          <a:ln xmlns:a="http://schemas.openxmlformats.org/drawingml/2006/main" w="19050">
            <a:solidFill>
              <a:srgbClr val="FFFFFF">
                <a:alpha val="28000"/>
              </a:srgbClr>
            </a:solidFill>
            <a:prstDash val="solid"/>
          </a:ln>
        </p:spPr>
      </p:sp>
      <p:sp>
        <p:nvSpPr>
          <p:cNvPr id="15" name="">
            <a:extLst xmlns:a="http://schemas.openxmlformats.org/drawingml/2006/main">
              <a:ext uri="{FF2B5EF4-FFF2-40B4-BE49-F238E27FC236}">
                <a16:creationId xmlns:a16="http://schemas.microsoft.com/office/drawing/2014/main" id="{4545ED42-1208-4183-9523-A4857FFE9B29}"/>
              </a:ext>
            </a:extLst>
          </p:cNvPr>
          <p:cNvSpPr>
            <a:spLocks xmlns:a="http://schemas.openxmlformats.org/drawingml/2006/main" noGrp="1"/>
          </p:cNvSpPr>
          <p:nvPr/>
        </p:nvSpPr>
        <p:spPr>
          <a:xfrm xmlns:a="http://schemas.openxmlformats.org/drawingml/2006/main">
            <a:off x="723900" y="5010150"/>
            <a:ext cx="3028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E9E7FF"/>
                </a:solidFill>
                <a:latin typeface="Aptos"/>
                <a:ea typeface="Aptos"/>
                <a:cs typeface="Aptos"/>
              </a:defRPr>
            </a:pPr>
            <a:r>
              <a:rPr sz="1200" b="0">
                <a:solidFill>
                  <a:srgbClr val="E9E7FF"/>
                </a:solidFill>
                <a:latin typeface="Aptos"/>
                <a:ea typeface="Aptos"/>
                <a:cs typeface="Aptos"/>
              </a:rPr>
              <a:t>Boundary: APY is quoted annualized APY. TVL change is an observed proxy, not direct wallet-level flow.</a:t>
            </a:r>
          </a:p>
        </p:txBody>
      </p:sp>
      <p:sp>
        <p:nvSpPr>
          <p:cNvPr id="16" name="">
            <a:extLst xmlns:a="http://schemas.openxmlformats.org/drawingml/2006/main">
              <a:ext uri="{FF2B5EF4-FFF2-40B4-BE49-F238E27FC236}">
                <a16:creationId xmlns:a16="http://schemas.microsoft.com/office/drawing/2014/main" id="{37A8487C-4B2F-45BE-9EBD-689E06861BED}"/>
              </a:ext>
            </a:extLst>
          </p:cNvPr>
          <p:cNvSpPr>
            <a:spLocks xmlns:a="http://schemas.openxmlformats.org/drawingml/2006/main" noGrp="1"/>
          </p:cNvSpPr>
          <p:nvPr/>
        </p:nvSpPr>
        <p:spPr>
          <a:xfrm xmlns:a="http://schemas.openxmlformats.org/drawingml/2006/main">
            <a:off x="4686300" y="2038350"/>
            <a:ext cx="7067550" cy="37147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1494108-ADD6-4667-A001-C50B43D2FF03}"/>
              </a:ext>
            </a:extLst>
          </p:cNvPr>
          <p:cNvSpPr>
            <a:spLocks xmlns:a="http://schemas.openxmlformats.org/drawingml/2006/main" noGrp="1"/>
          </p:cNvSpPr>
          <p:nvPr/>
        </p:nvSpPr>
        <p:spPr>
          <a:xfrm xmlns:a="http://schemas.openxmlformats.org/drawingml/2006/main">
            <a:off x="4972050" y="2305050"/>
            <a:ext cx="495300" cy="361950"/>
          </a:xfrm>
          <a:prstGeom xmlns:a="http://schemas.openxmlformats.org/drawingml/2006/main" prst="roundRect">
            <a:avLst>
              <a:gd name="adj" fmla="val 50000"/>
            </a:avLst>
          </a:prstGeom>
          <a:solidFill xmlns:a="http://schemas.openxmlformats.org/drawingml/2006/main">
            <a:srgbClr val="8B5CF6">
              <a:alpha val="14000"/>
            </a:srgbClr>
          </a:solidFill>
          <a:ln xmlns:a="http://schemas.openxmlformats.org/drawingml/2006/main" w="9525">
            <a:solidFill>
              <a:srgbClr val="8B5CF6">
                <a:alpha val="22000"/>
              </a:srgbClr>
            </a:solidFill>
            <a:prstDash val="solid"/>
          </a:ln>
        </p:spPr>
      </p:sp>
      <p:sp>
        <p:nvSpPr>
          <p:cNvPr id="18" name="">
            <a:extLst xmlns:a="http://schemas.openxmlformats.org/drawingml/2006/main">
              <a:ext uri="{FF2B5EF4-FFF2-40B4-BE49-F238E27FC236}">
                <a16:creationId xmlns:a16="http://schemas.microsoft.com/office/drawing/2014/main" id="{36053483-35AF-45E2-AF23-B1525878E204}"/>
              </a:ext>
            </a:extLst>
          </p:cNvPr>
          <p:cNvSpPr>
            <a:spLocks xmlns:a="http://schemas.openxmlformats.org/drawingml/2006/main" noGrp="1"/>
          </p:cNvSpPr>
          <p:nvPr/>
        </p:nvSpPr>
        <p:spPr>
          <a:xfrm xmlns:a="http://schemas.openxmlformats.org/drawingml/2006/main">
            <a:off x="5086350" y="23145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8B5CF6"/>
                </a:solidFill>
                <a:latin typeface="Aptos"/>
                <a:ea typeface="Aptos"/>
                <a:cs typeface="Aptos"/>
              </a:defRPr>
            </a:pPr>
            <a:r>
              <a:rPr sz="1125" b="1">
                <a:solidFill>
                  <a:srgbClr val="8B5CF6"/>
                </a:solidFill>
                <a:latin typeface="Aptos"/>
                <a:ea typeface="Aptos"/>
                <a:cs typeface="Aptos"/>
              </a:rPr>
              <a:t>01</a:t>
            </a:r>
          </a:p>
        </p:txBody>
      </p:sp>
      <p:sp>
        <p:nvSpPr>
          <p:cNvPr id="19" name="">
            <a:extLst xmlns:a="http://schemas.openxmlformats.org/drawingml/2006/main">
              <a:ext uri="{FF2B5EF4-FFF2-40B4-BE49-F238E27FC236}">
                <a16:creationId xmlns:a16="http://schemas.microsoft.com/office/drawing/2014/main" id="{A193DDF0-7C61-4F21-99D4-F27C400683D4}"/>
              </a:ext>
            </a:extLst>
          </p:cNvPr>
          <p:cNvSpPr>
            <a:spLocks xmlns:a="http://schemas.openxmlformats.org/drawingml/2006/main" noGrp="1"/>
          </p:cNvSpPr>
          <p:nvPr/>
        </p:nvSpPr>
        <p:spPr>
          <a:xfrm xmlns:a="http://schemas.openxmlformats.org/drawingml/2006/main">
            <a:off x="5676900" y="22860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4213D"/>
                </a:solidFill>
                <a:latin typeface="Aptos"/>
                <a:ea typeface="Aptos"/>
                <a:cs typeface="Aptos"/>
              </a:defRPr>
            </a:pPr>
            <a:r>
              <a:rPr sz="1500" b="1">
                <a:solidFill>
                  <a:srgbClr val="14213D"/>
                </a:solidFill>
                <a:latin typeface="Aptos"/>
                <a:ea typeface="Aptos"/>
                <a:cs typeface="Aptos"/>
              </a:rPr>
              <a:t>How long do episodes at or above 10% APY last?</a:t>
            </a:r>
          </a:p>
        </p:txBody>
      </p:sp>
      <p:sp>
        <p:nvSpPr>
          <p:cNvPr id="20" name="">
            <a:extLst xmlns:a="http://schemas.openxmlformats.org/drawingml/2006/main">
              <a:ext uri="{FF2B5EF4-FFF2-40B4-BE49-F238E27FC236}">
                <a16:creationId xmlns:a16="http://schemas.microsoft.com/office/drawing/2014/main" id="{2727202C-47C0-4B37-B283-3DB64C3C7C65}"/>
              </a:ext>
            </a:extLst>
          </p:cNvPr>
          <p:cNvSpPr>
            <a:spLocks xmlns:a="http://schemas.openxmlformats.org/drawingml/2006/main" noGrp="1"/>
          </p:cNvSpPr>
          <p:nvPr/>
        </p:nvSpPr>
        <p:spPr>
          <a:xfrm xmlns:a="http://schemas.openxmlformats.org/drawingml/2006/main">
            <a:off x="4972050" y="282892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1" name="">
            <a:extLst xmlns:a="http://schemas.openxmlformats.org/drawingml/2006/main">
              <a:ext uri="{FF2B5EF4-FFF2-40B4-BE49-F238E27FC236}">
                <a16:creationId xmlns:a16="http://schemas.microsoft.com/office/drawing/2014/main" id="{2E42585B-F5B2-4F2A-8587-2BFDC36B7BC9}"/>
              </a:ext>
            </a:extLst>
          </p:cNvPr>
          <p:cNvSpPr>
            <a:spLocks xmlns:a="http://schemas.openxmlformats.org/drawingml/2006/main" noGrp="1"/>
          </p:cNvSpPr>
          <p:nvPr/>
        </p:nvSpPr>
        <p:spPr>
          <a:xfrm xmlns:a="http://schemas.openxmlformats.org/drawingml/2006/main">
            <a:off x="4972050" y="2971800"/>
            <a:ext cx="495300" cy="361950"/>
          </a:xfrm>
          <a:prstGeom xmlns:a="http://schemas.openxmlformats.org/drawingml/2006/main" prst="roundRect">
            <a:avLst>
              <a:gd name="adj" fmla="val 50000"/>
            </a:avLst>
          </a:prstGeom>
          <a:solidFill xmlns:a="http://schemas.openxmlformats.org/drawingml/2006/main">
            <a:srgbClr val="23C9D8">
              <a:alpha val="14000"/>
            </a:srgbClr>
          </a:solidFill>
          <a:ln xmlns:a="http://schemas.openxmlformats.org/drawingml/2006/main" w="9525">
            <a:solidFill>
              <a:srgbClr val="23C9D8">
                <a:alpha val="22000"/>
              </a:srgbClr>
            </a:solidFill>
            <a:prstDash val="solid"/>
          </a:ln>
        </p:spPr>
      </p:sp>
      <p:sp>
        <p:nvSpPr>
          <p:cNvPr id="22" name="">
            <a:extLst xmlns:a="http://schemas.openxmlformats.org/drawingml/2006/main">
              <a:ext uri="{FF2B5EF4-FFF2-40B4-BE49-F238E27FC236}">
                <a16:creationId xmlns:a16="http://schemas.microsoft.com/office/drawing/2014/main" id="{60F8665A-8EF5-48CE-8134-40EACB450B4D}"/>
              </a:ext>
            </a:extLst>
          </p:cNvPr>
          <p:cNvSpPr>
            <a:spLocks xmlns:a="http://schemas.openxmlformats.org/drawingml/2006/main" noGrp="1"/>
          </p:cNvSpPr>
          <p:nvPr/>
        </p:nvSpPr>
        <p:spPr>
          <a:xfrm xmlns:a="http://schemas.openxmlformats.org/drawingml/2006/main">
            <a:off x="5086350" y="29813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3C9D8"/>
                </a:solidFill>
                <a:latin typeface="Aptos"/>
                <a:ea typeface="Aptos"/>
                <a:cs typeface="Aptos"/>
              </a:defRPr>
            </a:pPr>
            <a:r>
              <a:rPr sz="1125" b="1">
                <a:solidFill>
                  <a:srgbClr val="23C9D8"/>
                </a:solidFill>
                <a:latin typeface="Aptos"/>
                <a:ea typeface="Aptos"/>
                <a:cs typeface="Aptos"/>
              </a:rPr>
              <a:t>02</a:t>
            </a:r>
          </a:p>
        </p:txBody>
      </p:sp>
      <p:sp>
        <p:nvSpPr>
          <p:cNvPr id="23" name="">
            <a:extLst xmlns:a="http://schemas.openxmlformats.org/drawingml/2006/main">
              <a:ext uri="{FF2B5EF4-FFF2-40B4-BE49-F238E27FC236}">
                <a16:creationId xmlns:a16="http://schemas.microsoft.com/office/drawing/2014/main" id="{D280317B-7FA8-43F0-9BD1-88AA2B05EDDF}"/>
              </a:ext>
            </a:extLst>
          </p:cNvPr>
          <p:cNvSpPr>
            <a:spLocks xmlns:a="http://schemas.openxmlformats.org/drawingml/2006/main" noGrp="1"/>
          </p:cNvSpPr>
          <p:nvPr/>
        </p:nvSpPr>
        <p:spPr>
          <a:xfrm xmlns:a="http://schemas.openxmlformats.org/drawingml/2006/main">
            <a:off x="5676900" y="295275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Which mechanisms explain headline APY?</a:t>
            </a:r>
          </a:p>
        </p:txBody>
      </p:sp>
      <p:sp>
        <p:nvSpPr>
          <p:cNvPr id="24" name="">
            <a:extLst xmlns:a="http://schemas.openxmlformats.org/drawingml/2006/main">
              <a:ext uri="{FF2B5EF4-FFF2-40B4-BE49-F238E27FC236}">
                <a16:creationId xmlns:a16="http://schemas.microsoft.com/office/drawing/2014/main" id="{B787C952-4481-4D49-9AF4-697514718837}"/>
              </a:ext>
            </a:extLst>
          </p:cNvPr>
          <p:cNvSpPr>
            <a:spLocks xmlns:a="http://schemas.openxmlformats.org/drawingml/2006/main" noGrp="1"/>
          </p:cNvSpPr>
          <p:nvPr/>
        </p:nvSpPr>
        <p:spPr>
          <a:xfrm xmlns:a="http://schemas.openxmlformats.org/drawingml/2006/main">
            <a:off x="4972050" y="349567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5" name="">
            <a:extLst xmlns:a="http://schemas.openxmlformats.org/drawingml/2006/main">
              <a:ext uri="{FF2B5EF4-FFF2-40B4-BE49-F238E27FC236}">
                <a16:creationId xmlns:a16="http://schemas.microsoft.com/office/drawing/2014/main" id="{67EABE3F-0077-4B0E-986A-8FF7CD6737EF}"/>
              </a:ext>
            </a:extLst>
          </p:cNvPr>
          <p:cNvSpPr>
            <a:spLocks xmlns:a="http://schemas.openxmlformats.org/drawingml/2006/main" noGrp="1"/>
          </p:cNvSpPr>
          <p:nvPr/>
        </p:nvSpPr>
        <p:spPr>
          <a:xfrm xmlns:a="http://schemas.openxmlformats.org/drawingml/2006/main">
            <a:off x="4972050" y="3638550"/>
            <a:ext cx="495300" cy="361950"/>
          </a:xfrm>
          <a:prstGeom xmlns:a="http://schemas.openxmlformats.org/drawingml/2006/main" prst="roundRect">
            <a:avLst>
              <a:gd name="adj" fmla="val 50000"/>
            </a:avLst>
          </a:prstGeom>
          <a:solidFill xmlns:a="http://schemas.openxmlformats.org/drawingml/2006/main">
            <a:srgbClr val="4F7CFF">
              <a:alpha val="14000"/>
            </a:srgbClr>
          </a:solidFill>
          <a:ln xmlns:a="http://schemas.openxmlformats.org/drawingml/2006/main" w="9525">
            <a:solidFill>
              <a:srgbClr val="4F7CFF">
                <a:alpha val="22000"/>
              </a:srgbClr>
            </a:solidFill>
            <a:prstDash val="solid"/>
          </a:ln>
        </p:spPr>
      </p:sp>
      <p:sp>
        <p:nvSpPr>
          <p:cNvPr id="26" name="">
            <a:extLst xmlns:a="http://schemas.openxmlformats.org/drawingml/2006/main">
              <a:ext uri="{FF2B5EF4-FFF2-40B4-BE49-F238E27FC236}">
                <a16:creationId xmlns:a16="http://schemas.microsoft.com/office/drawing/2014/main" id="{01FA78DC-3C46-46C0-B88A-23709B9D2656}"/>
              </a:ext>
            </a:extLst>
          </p:cNvPr>
          <p:cNvSpPr>
            <a:spLocks xmlns:a="http://schemas.openxmlformats.org/drawingml/2006/main" noGrp="1"/>
          </p:cNvSpPr>
          <p:nvPr/>
        </p:nvSpPr>
        <p:spPr>
          <a:xfrm xmlns:a="http://schemas.openxmlformats.org/drawingml/2006/main">
            <a:off x="5086350" y="36480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4F7CFF"/>
                </a:solidFill>
                <a:latin typeface="Aptos"/>
                <a:ea typeface="Aptos"/>
                <a:cs typeface="Aptos"/>
              </a:defRPr>
            </a:pPr>
            <a:r>
              <a:rPr sz="1125" b="1">
                <a:solidFill>
                  <a:srgbClr val="4F7CFF"/>
                </a:solidFill>
                <a:latin typeface="Aptos"/>
                <a:ea typeface="Aptos"/>
                <a:cs typeface="Aptos"/>
              </a:rPr>
              <a:t>03</a:t>
            </a:r>
          </a:p>
        </p:txBody>
      </p:sp>
      <p:sp>
        <p:nvSpPr>
          <p:cNvPr id="27" name="">
            <a:extLst xmlns:a="http://schemas.openxmlformats.org/drawingml/2006/main">
              <a:ext uri="{FF2B5EF4-FFF2-40B4-BE49-F238E27FC236}">
                <a16:creationId xmlns:a16="http://schemas.microsoft.com/office/drawing/2014/main" id="{E69DF312-CD0C-407B-85F7-AE606B5381A1}"/>
              </a:ext>
            </a:extLst>
          </p:cNvPr>
          <p:cNvSpPr>
            <a:spLocks xmlns:a="http://schemas.openxmlformats.org/drawingml/2006/main" noGrp="1"/>
          </p:cNvSpPr>
          <p:nvPr/>
        </p:nvSpPr>
        <p:spPr>
          <a:xfrm xmlns:a="http://schemas.openxmlformats.org/drawingml/2006/main">
            <a:off x="5676900" y="36195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How stable are top-yield rankings?</a:t>
            </a:r>
          </a:p>
        </p:txBody>
      </p:sp>
      <p:sp>
        <p:nvSpPr>
          <p:cNvPr id="28" name="">
            <a:extLst xmlns:a="http://schemas.openxmlformats.org/drawingml/2006/main">
              <a:ext uri="{FF2B5EF4-FFF2-40B4-BE49-F238E27FC236}">
                <a16:creationId xmlns:a16="http://schemas.microsoft.com/office/drawing/2014/main" id="{7AFC79EB-6D78-43E0-96FF-0208DF0B87B7}"/>
              </a:ext>
            </a:extLst>
          </p:cNvPr>
          <p:cNvSpPr>
            <a:spLocks xmlns:a="http://schemas.openxmlformats.org/drawingml/2006/main" noGrp="1"/>
          </p:cNvSpPr>
          <p:nvPr/>
        </p:nvSpPr>
        <p:spPr>
          <a:xfrm xmlns:a="http://schemas.openxmlformats.org/drawingml/2006/main">
            <a:off x="4972050" y="416242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9" name="">
            <a:extLst xmlns:a="http://schemas.openxmlformats.org/drawingml/2006/main">
              <a:ext uri="{FF2B5EF4-FFF2-40B4-BE49-F238E27FC236}">
                <a16:creationId xmlns:a16="http://schemas.microsoft.com/office/drawing/2014/main" id="{31550B66-131E-4971-8357-2910C6DF41B8}"/>
              </a:ext>
            </a:extLst>
          </p:cNvPr>
          <p:cNvSpPr>
            <a:spLocks xmlns:a="http://schemas.openxmlformats.org/drawingml/2006/main" noGrp="1"/>
          </p:cNvSpPr>
          <p:nvPr/>
        </p:nvSpPr>
        <p:spPr>
          <a:xfrm xmlns:a="http://schemas.openxmlformats.org/drawingml/2006/main">
            <a:off x="4972050" y="4305300"/>
            <a:ext cx="495300" cy="361950"/>
          </a:xfrm>
          <a:prstGeom xmlns:a="http://schemas.openxmlformats.org/drawingml/2006/main" prst="roundRect">
            <a:avLst>
              <a:gd name="adj" fmla="val 50000"/>
            </a:avLst>
          </a:prstGeom>
          <a:solidFill xmlns:a="http://schemas.openxmlformats.org/drawingml/2006/main">
            <a:srgbClr val="FF6B9D">
              <a:alpha val="14000"/>
            </a:srgbClr>
          </a:solidFill>
          <a:ln xmlns:a="http://schemas.openxmlformats.org/drawingml/2006/main" w="9525">
            <a:solidFill>
              <a:srgbClr val="FF6B9D">
                <a:alpha val="22000"/>
              </a:srgbClr>
            </a:solidFill>
            <a:prstDash val="solid"/>
          </a:ln>
        </p:spPr>
      </p:sp>
      <p:sp>
        <p:nvSpPr>
          <p:cNvPr id="30" name="">
            <a:extLst xmlns:a="http://schemas.openxmlformats.org/drawingml/2006/main">
              <a:ext uri="{FF2B5EF4-FFF2-40B4-BE49-F238E27FC236}">
                <a16:creationId xmlns:a16="http://schemas.microsoft.com/office/drawing/2014/main" id="{788DC53D-993E-425B-9DF3-7D984BA4CE4C}"/>
              </a:ext>
            </a:extLst>
          </p:cNvPr>
          <p:cNvSpPr>
            <a:spLocks xmlns:a="http://schemas.openxmlformats.org/drawingml/2006/main" noGrp="1"/>
          </p:cNvSpPr>
          <p:nvPr/>
        </p:nvSpPr>
        <p:spPr>
          <a:xfrm xmlns:a="http://schemas.openxmlformats.org/drawingml/2006/main">
            <a:off x="5086350" y="43148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6B9D"/>
                </a:solidFill>
                <a:latin typeface="Aptos"/>
                <a:ea typeface="Aptos"/>
                <a:cs typeface="Aptos"/>
              </a:defRPr>
            </a:pPr>
            <a:r>
              <a:rPr sz="1125" b="1">
                <a:solidFill>
                  <a:srgbClr val="FF6B9D"/>
                </a:solidFill>
                <a:latin typeface="Aptos"/>
                <a:ea typeface="Aptos"/>
                <a:cs typeface="Aptos"/>
              </a:rPr>
              <a:t>04</a:t>
            </a:r>
          </a:p>
        </p:txBody>
      </p:sp>
      <p:sp>
        <p:nvSpPr>
          <p:cNvPr id="31" name="">
            <a:extLst xmlns:a="http://schemas.openxmlformats.org/drawingml/2006/main">
              <a:ext uri="{FF2B5EF4-FFF2-40B4-BE49-F238E27FC236}">
                <a16:creationId xmlns:a16="http://schemas.microsoft.com/office/drawing/2014/main" id="{6EDDA125-2902-47C5-869E-DCD3E98FBC20}"/>
              </a:ext>
            </a:extLst>
          </p:cNvPr>
          <p:cNvSpPr>
            <a:spLocks xmlns:a="http://schemas.openxmlformats.org/drawingml/2006/main" noGrp="1"/>
          </p:cNvSpPr>
          <p:nvPr/>
        </p:nvSpPr>
        <p:spPr>
          <a:xfrm xmlns:a="http://schemas.openxmlformats.org/drawingml/2006/main">
            <a:off x="5676900" y="428625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What changes during peg stress?</a:t>
            </a:r>
          </a:p>
        </p:txBody>
      </p:sp>
      <p:sp>
        <p:nvSpPr>
          <p:cNvPr id="32" name="">
            <a:extLst xmlns:a="http://schemas.openxmlformats.org/drawingml/2006/main">
              <a:ext uri="{FF2B5EF4-FFF2-40B4-BE49-F238E27FC236}">
                <a16:creationId xmlns:a16="http://schemas.microsoft.com/office/drawing/2014/main" id="{FF7E11A2-2FAD-456C-8213-7F87BDFBF99C}"/>
              </a:ext>
            </a:extLst>
          </p:cNvPr>
          <p:cNvSpPr>
            <a:spLocks xmlns:a="http://schemas.openxmlformats.org/drawingml/2006/main" noGrp="1"/>
          </p:cNvSpPr>
          <p:nvPr/>
        </p:nvSpPr>
        <p:spPr>
          <a:xfrm xmlns:a="http://schemas.openxmlformats.org/drawingml/2006/main">
            <a:off x="4972050" y="482917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33" name="">
            <a:extLst xmlns:a="http://schemas.openxmlformats.org/drawingml/2006/main">
              <a:ext uri="{FF2B5EF4-FFF2-40B4-BE49-F238E27FC236}">
                <a16:creationId xmlns:a16="http://schemas.microsoft.com/office/drawing/2014/main" id="{092F3923-A9FE-47E6-B412-D0F786FFDEE0}"/>
              </a:ext>
            </a:extLst>
          </p:cNvPr>
          <p:cNvSpPr>
            <a:spLocks xmlns:a="http://schemas.openxmlformats.org/drawingml/2006/main" noGrp="1"/>
          </p:cNvSpPr>
          <p:nvPr/>
        </p:nvSpPr>
        <p:spPr>
          <a:xfrm xmlns:a="http://schemas.openxmlformats.org/drawingml/2006/main">
            <a:off x="4972050" y="4972050"/>
            <a:ext cx="495300" cy="361950"/>
          </a:xfrm>
          <a:prstGeom xmlns:a="http://schemas.openxmlformats.org/drawingml/2006/main" prst="roundRect">
            <a:avLst>
              <a:gd name="adj" fmla="val 50000"/>
            </a:avLst>
          </a:prstGeom>
          <a:solidFill xmlns:a="http://schemas.openxmlformats.org/drawingml/2006/main">
            <a:srgbClr val="2BBBAD">
              <a:alpha val="14000"/>
            </a:srgbClr>
          </a:solidFill>
          <a:ln xmlns:a="http://schemas.openxmlformats.org/drawingml/2006/main" w="9525">
            <a:solidFill>
              <a:srgbClr val="2BBBAD">
                <a:alpha val="22000"/>
              </a:srgbClr>
            </a:solidFill>
            <a:prstDash val="solid"/>
          </a:ln>
        </p:spPr>
      </p:sp>
      <p:sp>
        <p:nvSpPr>
          <p:cNvPr id="34" name="">
            <a:extLst xmlns:a="http://schemas.openxmlformats.org/drawingml/2006/main">
              <a:ext uri="{FF2B5EF4-FFF2-40B4-BE49-F238E27FC236}">
                <a16:creationId xmlns:a16="http://schemas.microsoft.com/office/drawing/2014/main" id="{3D462C6C-1FCE-4B0D-B114-3FA5E5E7E3D3}"/>
              </a:ext>
            </a:extLst>
          </p:cNvPr>
          <p:cNvSpPr>
            <a:spLocks xmlns:a="http://schemas.openxmlformats.org/drawingml/2006/main" noGrp="1"/>
          </p:cNvSpPr>
          <p:nvPr/>
        </p:nvSpPr>
        <p:spPr>
          <a:xfrm xmlns:a="http://schemas.openxmlformats.org/drawingml/2006/main">
            <a:off x="5086350" y="49815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BBBAD"/>
                </a:solidFill>
                <a:latin typeface="Aptos"/>
                <a:ea typeface="Aptos"/>
                <a:cs typeface="Aptos"/>
              </a:defRPr>
            </a:pPr>
            <a:r>
              <a:rPr sz="1125" b="1">
                <a:solidFill>
                  <a:srgbClr val="2BBBAD"/>
                </a:solidFill>
                <a:latin typeface="Aptos"/>
                <a:ea typeface="Aptos"/>
                <a:cs typeface="Aptos"/>
              </a:rPr>
              <a:t>05</a:t>
            </a:r>
          </a:p>
        </p:txBody>
      </p:sp>
      <p:sp>
        <p:nvSpPr>
          <p:cNvPr id="35" name="">
            <a:extLst xmlns:a="http://schemas.openxmlformats.org/drawingml/2006/main">
              <a:ext uri="{FF2B5EF4-FFF2-40B4-BE49-F238E27FC236}">
                <a16:creationId xmlns:a16="http://schemas.microsoft.com/office/drawing/2014/main" id="{A0D6272C-FD4C-40B5-A8E9-55BA7AED9E59}"/>
              </a:ext>
            </a:extLst>
          </p:cNvPr>
          <p:cNvSpPr>
            <a:spLocks xmlns:a="http://schemas.openxmlformats.org/drawingml/2006/main" noGrp="1"/>
          </p:cNvSpPr>
          <p:nvPr/>
        </p:nvSpPr>
        <p:spPr>
          <a:xfrm xmlns:a="http://schemas.openxmlformats.org/drawingml/2006/main">
            <a:off x="5676900" y="49530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Which pools clear all three thresholds?</a:t>
            </a:r>
          </a:p>
        </p:txBody>
      </p:sp>
    </p:spTree>
    <p:extLst>
      <p:ext uri="{BB962C8B-B14F-4D97-AF65-F5344CB8AC3E}">
        <p14:creationId xmlns:p14="http://schemas.microsoft.com/office/powerpoint/2010/main" val="600462064"/>
      </p:ext>
    </p:extLst>
  </p:cSld>
</p:sld>
</file>

<file path=ppt/slides/slide3.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0D8BB94-C801-4CDD-8D48-D53DD2498C47}"/>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3C9D8">
              <a:alpha val="13000"/>
            </a:srgbClr>
          </a:solidFill>
          <a:ln xmlns:a="http://schemas.openxmlformats.org/drawingml/2006/main" w="9525">
            <a:solidFill>
              <a:srgbClr val="23C9D8">
                <a:alpha val="22000"/>
              </a:srgbClr>
            </a:solidFill>
            <a:prstDash val="solid"/>
          </a:ln>
        </p:spPr>
      </p:sp>
      <p:sp>
        <p:nvSpPr>
          <p:cNvPr id="2" name="">
            <a:extLst xmlns:a="http://schemas.openxmlformats.org/drawingml/2006/main">
              <a:ext uri="{FF2B5EF4-FFF2-40B4-BE49-F238E27FC236}">
                <a16:creationId xmlns:a16="http://schemas.microsoft.com/office/drawing/2014/main" id="{B32B5041-12C2-4FFA-92BC-67F432BCCC2A}"/>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3C9D8"/>
                </a:solidFill>
                <a:latin typeface="Aptos"/>
                <a:ea typeface="Aptos"/>
                <a:cs typeface="Aptos"/>
              </a:defRPr>
            </a:pPr>
            <a:r>
              <a:rPr sz="975" b="1">
                <a:solidFill>
                  <a:srgbClr val="23C9D8"/>
                </a:solidFill>
                <a:latin typeface="Aptos"/>
                <a:ea typeface="Aptos"/>
                <a:cs typeface="Aptos"/>
              </a:rPr>
              <a:t>DATA SCOPE</a:t>
            </a:r>
          </a:p>
        </p:txBody>
      </p:sp>
      <p:sp>
        <p:nvSpPr>
          <p:cNvPr id="3" name="">
            <a:extLst xmlns:a="http://schemas.openxmlformats.org/drawingml/2006/main">
              <a:ext uri="{FF2B5EF4-FFF2-40B4-BE49-F238E27FC236}">
                <a16:creationId xmlns:a16="http://schemas.microsoft.com/office/drawing/2014/main" id="{DDA23930-6489-4DCF-8EAF-76B00C6D343A}"/>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9525">
            <a:solidFill>
              <a:srgbClr val="23C9D8">
                <a:alpha val="22000"/>
              </a:srgbClr>
            </a:solidFill>
            <a:prstDash val="solid"/>
          </a:ln>
        </p:spPr>
      </p:sp>
      <p:sp>
        <p:nvSpPr>
          <p:cNvPr id="4" name="">
            <a:extLst xmlns:a="http://schemas.openxmlformats.org/drawingml/2006/main">
              <a:ext uri="{FF2B5EF4-FFF2-40B4-BE49-F238E27FC236}">
                <a16:creationId xmlns:a16="http://schemas.microsoft.com/office/drawing/2014/main" id="{69D32958-3687-45D5-8A61-EA6BAC717714}"/>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9522721D-9D27-4F10-BED9-36D5CD3469EB}"/>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C50EFAB3-4297-489F-9237-E3CFF9CC460E}"/>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2B48A64C-DDED-4E98-9ACD-4520CF13C610}"/>
              </a:ext>
            </a:extLst>
          </p:cNvPr>
          <p:cNvSpPr>
            <a:spLocks xmlns:a="http://schemas.openxmlformats.org/drawingml/2006/main" noGrp="1"/>
          </p:cNvSpPr>
          <p:nvPr/>
        </p:nvSpPr>
        <p:spPr>
          <a:xfrm xmlns:a="http://schemas.openxmlformats.org/drawingml/2006/main">
            <a:off x="8420100" y="6486525"/>
            <a:ext cx="588309" cy="38100"/>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8" name="">
            <a:extLst xmlns:a="http://schemas.openxmlformats.org/drawingml/2006/main">
              <a:ext uri="{FF2B5EF4-FFF2-40B4-BE49-F238E27FC236}">
                <a16:creationId xmlns:a16="http://schemas.microsoft.com/office/drawing/2014/main" id="{9F924801-2A84-4305-8505-E486FCBF9C6D}"/>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The sample is broad, but deliberately selected</a:t>
            </a:r>
          </a:p>
        </p:txBody>
      </p:sp>
      <p:sp>
        <p:nvSpPr>
          <p:cNvPr id="9" name="">
            <a:extLst xmlns:a="http://schemas.openxmlformats.org/drawingml/2006/main">
              <a:ext uri="{FF2B5EF4-FFF2-40B4-BE49-F238E27FC236}">
                <a16:creationId xmlns:a16="http://schemas.microsoft.com/office/drawing/2014/main" id="{95DF0D88-41D3-4081-800C-0AFD5E48A32B}"/>
              </a:ext>
            </a:extLst>
          </p:cNvPr>
          <p:cNvSpPr>
            <a:spLocks xmlns:a="http://schemas.openxmlformats.org/drawingml/2006/main" noGrp="1"/>
          </p:cNvSpPr>
          <p:nvPr/>
        </p:nvSpPr>
        <p:spPr>
          <a:xfrm xmlns:a="http://schemas.openxmlformats.org/drawingml/2006/main">
            <a:off x="419100" y="13335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2022-02-11 to 2026-07-08 | 137,095 pool-days | unbalanced panel</a:t>
            </a:r>
          </a:p>
        </p:txBody>
      </p:sp>
      <p:sp>
        <p:nvSpPr>
          <p:cNvPr id="10" name="">
            <a:extLst xmlns:a="http://schemas.openxmlformats.org/drawingml/2006/main">
              <a:ext uri="{FF2B5EF4-FFF2-40B4-BE49-F238E27FC236}">
                <a16:creationId xmlns:a16="http://schemas.microsoft.com/office/drawing/2014/main" id="{CD0304DB-7CF7-4A85-BFC7-3271987B7027}"/>
              </a:ext>
            </a:extLst>
          </p:cNvPr>
          <p:cNvSpPr>
            <a:spLocks xmlns:a="http://schemas.openxmlformats.org/drawingml/2006/main" noGrp="1"/>
          </p:cNvSpPr>
          <p:nvPr/>
        </p:nvSpPr>
        <p:spPr>
          <a:xfrm xmlns:a="http://schemas.openxmlformats.org/drawingml/2006/main">
            <a:off x="419100" y="1790700"/>
            <a:ext cx="6591300" cy="4038600"/>
          </a:xfrm>
          <a:prstGeom xmlns:a="http://schemas.openxmlformats.org/drawingml/2006/main" prst="roundRect">
            <a:avLst>
              <a:gd name="adj" fmla="val 6132"/>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93E1F2FD-71ED-486E-B826-1ED06736DEC6}"/>
              </a:ext>
            </a:extLst>
          </p:cNvPr>
          <p:cNvSpPr>
            <a:spLocks xmlns:a="http://schemas.openxmlformats.org/drawingml/2006/main" noGrp="1"/>
          </p:cNvSpPr>
          <p:nvPr/>
        </p:nvSpPr>
        <p:spPr>
          <a:xfrm xmlns:a="http://schemas.openxmlformats.org/drawingml/2006/main">
            <a:off x="685800" y="20002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4213D"/>
                </a:solidFill>
                <a:latin typeface="Aptos"/>
                <a:ea typeface="Aptos"/>
                <a:cs typeface="Aptos"/>
              </a:defRPr>
            </a:pPr>
            <a:r>
              <a:rPr sz="1800" b="1">
                <a:solidFill>
                  <a:srgbClr val="14213D"/>
                </a:solidFill>
                <a:latin typeface="Aptos"/>
                <a:ea typeface="Aptos"/>
                <a:cs typeface="Aptos"/>
              </a:rPr>
              <a:t>Selected pools by analytical type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25b8bd4d4ad4102"/>
          <a:stretch xmlns:a="http://schemas.openxmlformats.org/drawingml/2006/main"/>
        </p:blipFill>
        <p:spPr>
          <a:xfrm xmlns:a="http://schemas.openxmlformats.org/drawingml/2006/main">
            <a:off x="666750" y="2400300"/>
            <a:ext cx="6000750" cy="3048000"/>
          </a:xfrm>
          <a:prstGeom xmlns:a="http://schemas.openxmlformats.org/drawingml/2006/main" prst="roundRect">
            <a:avLst>
              <a:gd name="adj" fmla="val 5000"/>
            </a:avLst>
          </a:prstGeom>
        </p:spPr>
      </p:pic>
      <p:sp>
        <p:nvSpPr>
          <p:cNvPr id="13" name="">
            <a:extLst xmlns:a="http://schemas.openxmlformats.org/drawingml/2006/main">
              <a:ext uri="{FF2B5EF4-FFF2-40B4-BE49-F238E27FC236}">
                <a16:creationId xmlns:a16="http://schemas.microsoft.com/office/drawing/2014/main" id="{F01A3D08-5DC5-4E83-9424-A98D9FF24113}"/>
              </a:ext>
            </a:extLst>
          </p:cNvPr>
          <p:cNvSpPr>
            <a:spLocks xmlns:a="http://schemas.openxmlformats.org/drawingml/2006/main" noGrp="1"/>
          </p:cNvSpPr>
          <p:nvPr/>
        </p:nvSpPr>
        <p:spPr>
          <a:xfrm xmlns:a="http://schemas.openxmlformats.org/drawingml/2006/main">
            <a:off x="7334250" y="1790700"/>
            <a:ext cx="4419600" cy="4038600"/>
          </a:xfrm>
          <a:prstGeom xmlns:a="http://schemas.openxmlformats.org/drawingml/2006/main" prst="roundRect">
            <a:avLst>
              <a:gd name="adj" fmla="val 6132"/>
            </a:avLst>
          </a:prstGeom>
          <a:gradFill xmlns:a="http://schemas.openxmlformats.org/drawingml/2006/main">
            <a:gsLst>
              <a:gs pos="0">
                <a:srgbClr val="23C9D8">
                  <a:alpha val="15000"/>
                </a:srgbClr>
              </a:gs>
              <a:gs pos="78000">
                <a:srgbClr val="FFFFFF"/>
              </a:gs>
            </a:gsLst>
            <a:lin ang="8700000"/>
          </a:gradFill>
          <a:ln xmlns:a="http://schemas.openxmlformats.org/drawingml/2006/main" w="9525">
            <a:solidFill>
              <a:srgbClr val="23C9D8">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1357C1A-B361-4B73-9A67-B61EC9CF4F93}"/>
              </a:ext>
            </a:extLst>
          </p:cNvPr>
          <p:cNvSpPr>
            <a:spLocks xmlns:a="http://schemas.openxmlformats.org/drawingml/2006/main" noGrp="1"/>
          </p:cNvSpPr>
          <p:nvPr/>
        </p:nvSpPr>
        <p:spPr>
          <a:xfrm xmlns:a="http://schemas.openxmlformats.org/drawingml/2006/main">
            <a:off x="7600950" y="2019300"/>
            <a:ext cx="1790700" cy="304800"/>
          </a:xfrm>
          <a:prstGeom xmlns:a="http://schemas.openxmlformats.org/drawingml/2006/main" prst="roundRect">
            <a:avLst>
              <a:gd name="adj" fmla="val 50000"/>
            </a:avLst>
          </a:prstGeom>
          <a:solidFill xmlns:a="http://schemas.openxmlformats.org/drawingml/2006/main">
            <a:srgbClr val="23C9D8">
              <a:alpha val="15000"/>
            </a:srgbClr>
          </a:solidFill>
          <a:ln xmlns:a="http://schemas.openxmlformats.org/drawingml/2006/main" w="9525">
            <a:solidFill>
              <a:srgbClr val="23C9D8">
                <a:alpha val="22000"/>
              </a:srgbClr>
            </a:solidFill>
            <a:prstDash val="solid"/>
          </a:ln>
        </p:spPr>
      </p:sp>
      <p:sp>
        <p:nvSpPr>
          <p:cNvPr id="15" name="">
            <a:extLst xmlns:a="http://schemas.openxmlformats.org/drawingml/2006/main">
              <a:ext uri="{FF2B5EF4-FFF2-40B4-BE49-F238E27FC236}">
                <a16:creationId xmlns:a16="http://schemas.microsoft.com/office/drawing/2014/main" id="{46598202-89B8-43DC-83C3-BAFFE7CBFB21}"/>
              </a:ext>
            </a:extLst>
          </p:cNvPr>
          <p:cNvSpPr>
            <a:spLocks xmlns:a="http://schemas.openxmlformats.org/drawingml/2006/main" noGrp="1"/>
          </p:cNvSpPr>
          <p:nvPr/>
        </p:nvSpPr>
        <p:spPr>
          <a:xfrm xmlns:a="http://schemas.openxmlformats.org/drawingml/2006/main">
            <a:off x="7715250" y="20288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3C9D8"/>
                </a:solidFill>
                <a:latin typeface="Aptos"/>
                <a:ea typeface="Aptos"/>
                <a:cs typeface="Aptos"/>
              </a:defRPr>
            </a:pPr>
            <a:r>
              <a:rPr sz="975" b="1">
                <a:solidFill>
                  <a:srgbClr val="23C9D8"/>
                </a:solidFill>
                <a:latin typeface="Aptos"/>
                <a:ea typeface="Aptos"/>
                <a:cs typeface="Aptos"/>
              </a:rPr>
              <a:t>SELECTION LOGIC</a:t>
            </a:r>
          </a:p>
        </p:txBody>
      </p:sp>
      <p:sp>
        <p:nvSpPr>
          <p:cNvPr id="16" name="">
            <a:extLst xmlns:a="http://schemas.openxmlformats.org/drawingml/2006/main">
              <a:ext uri="{FF2B5EF4-FFF2-40B4-BE49-F238E27FC236}">
                <a16:creationId xmlns:a16="http://schemas.microsoft.com/office/drawing/2014/main" id="{9CB84AB4-11CD-4E91-B3BE-89450D60564F}"/>
              </a:ext>
            </a:extLst>
          </p:cNvPr>
          <p:cNvSpPr>
            <a:spLocks xmlns:a="http://schemas.openxmlformats.org/drawingml/2006/main" noGrp="1"/>
          </p:cNvSpPr>
          <p:nvPr/>
        </p:nvSpPr>
        <p:spPr>
          <a:xfrm xmlns:a="http://schemas.openxmlformats.org/drawingml/2006/main">
            <a:off x="7620000" y="25336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Eligibility</a:t>
            </a:r>
          </a:p>
        </p:txBody>
      </p:sp>
      <p:sp>
        <p:nvSpPr>
          <p:cNvPr id="17" name="">
            <a:extLst xmlns:a="http://schemas.openxmlformats.org/drawingml/2006/main">
              <a:ext uri="{FF2B5EF4-FFF2-40B4-BE49-F238E27FC236}">
                <a16:creationId xmlns:a16="http://schemas.microsoft.com/office/drawing/2014/main" id="{916F28C1-3EB5-4FBE-81E0-E9E59655CA69}"/>
              </a:ext>
            </a:extLst>
          </p:cNvPr>
          <p:cNvSpPr>
            <a:spLocks xmlns:a="http://schemas.openxmlformats.org/drawingml/2006/main" noGrp="1"/>
          </p:cNvSpPr>
          <p:nvPr/>
        </p:nvSpPr>
        <p:spPr>
          <a:xfrm xmlns:a="http://schemas.openxmlformats.org/drawingml/2006/main">
            <a:off x="8991600" y="25146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Stablecoin pool, TVL &gt;= USD 1M, at least 180 provider history observations.</a:t>
            </a:r>
          </a:p>
        </p:txBody>
      </p:sp>
      <p:sp>
        <p:nvSpPr>
          <p:cNvPr id="18" name="">
            <a:extLst xmlns:a="http://schemas.openxmlformats.org/drawingml/2006/main">
              <a:ext uri="{FF2B5EF4-FFF2-40B4-BE49-F238E27FC236}">
                <a16:creationId xmlns:a16="http://schemas.microsoft.com/office/drawing/2014/main" id="{D3CBDA29-5EB6-4C1F-A874-1A49255B022A}"/>
              </a:ext>
            </a:extLst>
          </p:cNvPr>
          <p:cNvSpPr>
            <a:spLocks xmlns:a="http://schemas.openxmlformats.org/drawingml/2006/main" noGrp="1"/>
          </p:cNvSpPr>
          <p:nvPr/>
        </p:nvSpPr>
        <p:spPr>
          <a:xfrm xmlns:a="http://schemas.openxmlformats.org/drawingml/2006/main">
            <a:off x="7620000" y="3181350"/>
            <a:ext cx="3790950" cy="9525"/>
          </a:xfrm>
          <a:prstGeom xmlns:a="http://schemas.openxmlformats.org/drawingml/2006/main" prst="line">
            <a:avLst/>
          </a:prstGeom>
          <a:noFill xmlns:a="http://schemas.openxmlformats.org/drawingml/2006/main"/>
          <a:ln xmlns:a="http://schemas.openxmlformats.org/drawingml/2006/main" w="9525">
            <a:solidFill>
              <a:srgbClr val="23C9D8">
                <a:alpha val="24000"/>
              </a:srgbClr>
            </a:solidFill>
            <a:prstDash val="solid"/>
          </a:ln>
        </p:spPr>
      </p:sp>
      <p:sp>
        <p:nvSpPr>
          <p:cNvPr id="19" name="">
            <a:extLst xmlns:a="http://schemas.openxmlformats.org/drawingml/2006/main">
              <a:ext uri="{FF2B5EF4-FFF2-40B4-BE49-F238E27FC236}">
                <a16:creationId xmlns:a16="http://schemas.microsoft.com/office/drawing/2014/main" id="{16F43677-C49E-4363-B611-7ED9E726CE69}"/>
              </a:ext>
            </a:extLst>
          </p:cNvPr>
          <p:cNvSpPr>
            <a:spLocks xmlns:a="http://schemas.openxmlformats.org/drawingml/2006/main" noGrp="1"/>
          </p:cNvSpPr>
          <p:nvPr/>
        </p:nvSpPr>
        <p:spPr>
          <a:xfrm xmlns:a="http://schemas.openxmlformats.org/drawingml/2006/main">
            <a:off x="7620000" y="33718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Cap of 250</a:t>
            </a:r>
          </a:p>
        </p:txBody>
      </p:sp>
      <p:sp>
        <p:nvSpPr>
          <p:cNvPr id="20" name="">
            <a:extLst xmlns:a="http://schemas.openxmlformats.org/drawingml/2006/main">
              <a:ext uri="{FF2B5EF4-FFF2-40B4-BE49-F238E27FC236}">
                <a16:creationId xmlns:a16="http://schemas.microsoft.com/office/drawing/2014/main" id="{695CB1AA-6F2C-44AD-A3DB-1DC6DBEF2821}"/>
              </a:ext>
            </a:extLst>
          </p:cNvPr>
          <p:cNvSpPr>
            <a:spLocks xmlns:a="http://schemas.openxmlformats.org/drawingml/2006/main" noGrp="1"/>
          </p:cNvSpPr>
          <p:nvPr/>
        </p:nvSpPr>
        <p:spPr>
          <a:xfrm xmlns:a="http://schemas.openxmlformats.org/drawingml/2006/main">
            <a:off x="8991600" y="33528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70% highest TVL; remaining capacity highest current APY. No random sampling claim.</a:t>
            </a:r>
          </a:p>
        </p:txBody>
      </p:sp>
      <p:sp>
        <p:nvSpPr>
          <p:cNvPr id="21" name="">
            <a:extLst xmlns:a="http://schemas.openxmlformats.org/drawingml/2006/main">
              <a:ext uri="{FF2B5EF4-FFF2-40B4-BE49-F238E27FC236}">
                <a16:creationId xmlns:a16="http://schemas.microsoft.com/office/drawing/2014/main" id="{617955E4-720B-4305-9B71-DBA71271FD82}"/>
              </a:ext>
            </a:extLst>
          </p:cNvPr>
          <p:cNvSpPr>
            <a:spLocks xmlns:a="http://schemas.openxmlformats.org/drawingml/2006/main" noGrp="1"/>
          </p:cNvSpPr>
          <p:nvPr/>
        </p:nvSpPr>
        <p:spPr>
          <a:xfrm xmlns:a="http://schemas.openxmlformats.org/drawingml/2006/main">
            <a:off x="7620000" y="4019550"/>
            <a:ext cx="3790950" cy="9525"/>
          </a:xfrm>
          <a:prstGeom xmlns:a="http://schemas.openxmlformats.org/drawingml/2006/main" prst="line">
            <a:avLst/>
          </a:prstGeom>
          <a:noFill xmlns:a="http://schemas.openxmlformats.org/drawingml/2006/main"/>
          <a:ln xmlns:a="http://schemas.openxmlformats.org/drawingml/2006/main" w="9525">
            <a:solidFill>
              <a:srgbClr val="23C9D8">
                <a:alpha val="24000"/>
              </a:srgbClr>
            </a:solidFill>
            <a:prstDash val="solid"/>
          </a:ln>
        </p:spPr>
      </p:sp>
      <p:sp>
        <p:nvSpPr>
          <p:cNvPr id="22" name="">
            <a:extLst xmlns:a="http://schemas.openxmlformats.org/drawingml/2006/main">
              <a:ext uri="{FF2B5EF4-FFF2-40B4-BE49-F238E27FC236}">
                <a16:creationId xmlns:a16="http://schemas.microsoft.com/office/drawing/2014/main" id="{4A0945FB-74A3-4707-BB77-CFF1DBE1FA7B}"/>
              </a:ext>
            </a:extLst>
          </p:cNvPr>
          <p:cNvSpPr>
            <a:spLocks xmlns:a="http://schemas.openxmlformats.org/drawingml/2006/main" noGrp="1"/>
          </p:cNvSpPr>
          <p:nvPr/>
        </p:nvSpPr>
        <p:spPr>
          <a:xfrm xmlns:a="http://schemas.openxmlformats.org/drawingml/2006/main">
            <a:off x="7620000" y="42100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Entry and exit</a:t>
            </a:r>
          </a:p>
        </p:txBody>
      </p:sp>
      <p:sp>
        <p:nvSpPr>
          <p:cNvPr id="23" name="">
            <a:extLst xmlns:a="http://schemas.openxmlformats.org/drawingml/2006/main">
              <a:ext uri="{FF2B5EF4-FFF2-40B4-BE49-F238E27FC236}">
                <a16:creationId xmlns:a16="http://schemas.microsoft.com/office/drawing/2014/main" id="{AA9C09D7-3861-49C7-9D21-94B7AE6346C1}"/>
              </a:ext>
            </a:extLst>
          </p:cNvPr>
          <p:cNvSpPr>
            <a:spLocks xmlns:a="http://schemas.openxmlformats.org/drawingml/2006/main" noGrp="1"/>
          </p:cNvSpPr>
          <p:nvPr/>
        </p:nvSpPr>
        <p:spPr>
          <a:xfrm xmlns:a="http://schemas.openxmlformats.org/drawingml/2006/main">
            <a:off x="8991600" y="41910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Observed pool-specific dates only. No synthetic backfill or balanced-panel imputation.</a:t>
            </a:r>
          </a:p>
        </p:txBody>
      </p:sp>
      <p:sp>
        <p:nvSpPr>
          <p:cNvPr id="24" name="">
            <a:extLst xmlns:a="http://schemas.openxmlformats.org/drawingml/2006/main">
              <a:ext uri="{FF2B5EF4-FFF2-40B4-BE49-F238E27FC236}">
                <a16:creationId xmlns:a16="http://schemas.microsoft.com/office/drawing/2014/main" id="{A8044A95-2928-4E59-85F3-23C97EDE28C6}"/>
              </a:ext>
            </a:extLst>
          </p:cNvPr>
          <p:cNvSpPr>
            <a:spLocks xmlns:a="http://schemas.openxmlformats.org/drawingml/2006/main" noGrp="1"/>
          </p:cNvSpPr>
          <p:nvPr/>
        </p:nvSpPr>
        <p:spPr>
          <a:xfrm xmlns:a="http://schemas.openxmlformats.org/drawingml/2006/main">
            <a:off x="7600950" y="5067300"/>
            <a:ext cx="3790950" cy="514350"/>
          </a:xfrm>
          <a:prstGeom xmlns:a="http://schemas.openxmlformats.org/drawingml/2006/main" prst="roundRect">
            <a:avLst>
              <a:gd name="adj" fmla="val 29630"/>
            </a:avLst>
          </a:prstGeom>
          <a:solidFill xmlns:a="http://schemas.openxmlformats.org/drawingml/2006/main">
            <a:srgbClr val="FFFFFF">
              <a:alpha val="72000"/>
            </a:srgbClr>
          </a:solidFill>
          <a:ln xmlns:a="http://schemas.openxmlformats.org/drawingml/2006/main" w="9525">
            <a:solidFill>
              <a:srgbClr val="DCE4F2"/>
            </a:solidFill>
            <a:prstDash val="solid"/>
          </a:ln>
        </p:spPr>
      </p:sp>
      <p:sp>
        <p:nvSpPr>
          <p:cNvPr id="25" name="">
            <a:extLst xmlns:a="http://schemas.openxmlformats.org/drawingml/2006/main">
              <a:ext uri="{FF2B5EF4-FFF2-40B4-BE49-F238E27FC236}">
                <a16:creationId xmlns:a16="http://schemas.microsoft.com/office/drawing/2014/main" id="{DE19C2F9-A115-4FD9-BBA9-B0CA338A2DD0}"/>
              </a:ext>
            </a:extLst>
          </p:cNvPr>
          <p:cNvSpPr>
            <a:spLocks xmlns:a="http://schemas.openxmlformats.org/drawingml/2006/main" noGrp="1"/>
          </p:cNvSpPr>
          <p:nvPr/>
        </p:nvSpPr>
        <p:spPr>
          <a:xfrm xmlns:a="http://schemas.openxmlformats.org/drawingml/2006/main">
            <a:off x="7753350" y="5191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Data quality</a:t>
            </a:r>
          </a:p>
        </p:txBody>
      </p:sp>
      <p:sp>
        <p:nvSpPr>
          <p:cNvPr id="26" name="">
            <a:extLst xmlns:a="http://schemas.openxmlformats.org/drawingml/2006/main">
              <a:ext uri="{FF2B5EF4-FFF2-40B4-BE49-F238E27FC236}">
                <a16:creationId xmlns:a16="http://schemas.microsoft.com/office/drawing/2014/main" id="{E4368460-FAA8-4788-BD09-541790DBBEC2}"/>
              </a:ext>
            </a:extLst>
          </p:cNvPr>
          <p:cNvSpPr>
            <a:spLocks xmlns:a="http://schemas.openxmlformats.org/drawingml/2006/main" noGrp="1"/>
          </p:cNvSpPr>
          <p:nvPr/>
        </p:nvSpPr>
        <p:spPr>
          <a:xfrm xmlns:a="http://schemas.openxmlformats.org/drawingml/2006/main">
            <a:off x="8858250" y="5191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0">
                <a:solidFill>
                  <a:srgbClr val="667085"/>
                </a:solidFill>
                <a:latin typeface="Aptos"/>
                <a:ea typeface="Aptos"/>
                <a:cs typeface="Aptos"/>
              </a:defRPr>
            </a:pPr>
            <a:r>
              <a:rPr sz="975" b="0">
                <a:solidFill>
                  <a:srgbClr val="667085"/>
                </a:solidFill>
                <a:latin typeface="Aptos"/>
                <a:ea typeface="Aptos"/>
                <a:cs typeface="Aptos"/>
              </a:rPr>
              <a:t>26 missing TVL rows | 32 APY &gt; 1,000% flagged, not hidden</a:t>
            </a:r>
          </a:p>
        </p:txBody>
      </p:sp>
    </p:spTree>
    <p:extLst>
      <p:ext uri="{BB962C8B-B14F-4D97-AF65-F5344CB8AC3E}">
        <p14:creationId xmlns:p14="http://schemas.microsoft.com/office/powerpoint/2010/main" val="524726086"/>
      </p:ext>
    </p:extLst>
  </p:cSld>
</p:sld>
</file>

<file path=ppt/slides/slide4.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3D4702D-1098-4432-8EFA-7CAD5B909CA2}"/>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987C9E68-602F-40B2-AC7F-BA458FC1D809}"/>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4F7CFF"/>
                </a:solidFill>
                <a:latin typeface="Aptos"/>
                <a:ea typeface="Aptos"/>
                <a:cs typeface="Aptos"/>
              </a:defRPr>
            </a:pPr>
            <a:r>
              <a:rPr sz="975" b="1">
                <a:solidFill>
                  <a:srgbClr val="4F7CFF"/>
                </a:solidFill>
                <a:latin typeface="Aptos"/>
                <a:ea typeface="Aptos"/>
                <a:cs typeface="Aptos"/>
              </a:rPr>
              <a:t>METHODS</a:t>
            </a:r>
          </a:p>
        </p:txBody>
      </p:sp>
      <p:sp>
        <p:nvSpPr>
          <p:cNvPr id="3" name="">
            <a:extLst xmlns:a="http://schemas.openxmlformats.org/drawingml/2006/main">
              <a:ext uri="{FF2B5EF4-FFF2-40B4-BE49-F238E27FC236}">
                <a16:creationId xmlns:a16="http://schemas.microsoft.com/office/drawing/2014/main" id="{23DDA887-2994-44B5-9C7C-954680932885}"/>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985F2BE1-F9D0-416A-8130-E29CB8B6772A}"/>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C7F91D49-C024-4545-87F9-974AD09CC3F9}"/>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E56DF88C-E680-4FD6-B761-B4D787927A5A}"/>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AD41AF6B-8ADD-4D7E-9ECE-8D17FAC792AD}"/>
              </a:ext>
            </a:extLst>
          </p:cNvPr>
          <p:cNvSpPr>
            <a:spLocks xmlns:a="http://schemas.openxmlformats.org/drawingml/2006/main" noGrp="1"/>
          </p:cNvSpPr>
          <p:nvPr/>
        </p:nvSpPr>
        <p:spPr>
          <a:xfrm xmlns:a="http://schemas.openxmlformats.org/drawingml/2006/main">
            <a:off x="8420100" y="6486525"/>
            <a:ext cx="784412"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43A27A12-18B6-44C1-ACEC-31C57F8D2E91}"/>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Four definitions make the analysis auditable</a:t>
            </a:r>
          </a:p>
        </p:txBody>
      </p:sp>
      <p:sp>
        <p:nvSpPr>
          <p:cNvPr id="9" name="">
            <a:extLst xmlns:a="http://schemas.openxmlformats.org/drawingml/2006/main">
              <a:ext uri="{FF2B5EF4-FFF2-40B4-BE49-F238E27FC236}">
                <a16:creationId xmlns:a16="http://schemas.microsoft.com/office/drawing/2014/main" id="{F842DD06-DFB2-488E-A1EC-A9B96F0AF7F7}"/>
              </a:ext>
            </a:extLst>
          </p:cNvPr>
          <p:cNvSpPr>
            <a:spLocks xmlns:a="http://schemas.openxmlformats.org/drawingml/2006/main" noGrp="1"/>
          </p:cNvSpPr>
          <p:nvPr/>
        </p:nvSpPr>
        <p:spPr>
          <a:xfrm xmlns:a="http://schemas.openxmlformats.org/drawingml/2006/main">
            <a:off x="419100" y="13335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Each result has an explicit threshold, comparison window and interpretation boundary.</a:t>
            </a:r>
          </a:p>
        </p:txBody>
      </p:sp>
      <p:sp>
        <p:nvSpPr>
          <p:cNvPr id="10" name="">
            <a:extLst xmlns:a="http://schemas.openxmlformats.org/drawingml/2006/main">
              <a:ext uri="{FF2B5EF4-FFF2-40B4-BE49-F238E27FC236}">
                <a16:creationId xmlns:a16="http://schemas.microsoft.com/office/drawing/2014/main" id="{7BA1BBA1-0244-45C5-8E06-01C72154FACC}"/>
              </a:ext>
            </a:extLst>
          </p:cNvPr>
          <p:cNvSpPr>
            <a:spLocks xmlns:a="http://schemas.openxmlformats.org/drawingml/2006/main" noGrp="1"/>
          </p:cNvSpPr>
          <p:nvPr/>
        </p:nvSpPr>
        <p:spPr>
          <a:xfrm xmlns:a="http://schemas.openxmlformats.org/drawingml/2006/main">
            <a:off x="419100" y="1790700"/>
            <a:ext cx="11334750" cy="4038600"/>
          </a:xfrm>
          <a:prstGeom xmlns:a="http://schemas.openxmlformats.org/drawingml/2006/main" prst="roundRect">
            <a:avLst>
              <a:gd name="adj" fmla="val 6604"/>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2FFD810-CEFA-43E5-AE42-0DCA9598C3D6}"/>
              </a:ext>
            </a:extLst>
          </p:cNvPr>
          <p:cNvSpPr>
            <a:spLocks xmlns:a="http://schemas.openxmlformats.org/drawingml/2006/main" noGrp="1"/>
          </p:cNvSpPr>
          <p:nvPr/>
        </p:nvSpPr>
        <p:spPr>
          <a:xfrm xmlns:a="http://schemas.openxmlformats.org/drawingml/2006/main">
            <a:off x="685800" y="2057400"/>
            <a:ext cx="552450" cy="381000"/>
          </a:xfrm>
          <a:prstGeom xmlns:a="http://schemas.openxmlformats.org/drawingml/2006/main" prst="roundRect">
            <a:avLst>
              <a:gd name="adj" fmla="val 50000"/>
            </a:avLst>
          </a:prstGeom>
          <a:solidFill xmlns:a="http://schemas.openxmlformats.org/drawingml/2006/main">
            <a:srgbClr val="8B5CF6">
              <a:alpha val="15000"/>
            </a:srgbClr>
          </a:solidFill>
          <a:ln xmlns:a="http://schemas.openxmlformats.org/drawingml/2006/main" w="9525">
            <a:solidFill>
              <a:srgbClr val="8B5CF6">
                <a:alpha val="22000"/>
              </a:srgbClr>
            </a:solidFill>
            <a:prstDash val="solid"/>
          </a:ln>
        </p:spPr>
      </p:sp>
      <p:sp>
        <p:nvSpPr>
          <p:cNvPr id="12" name="">
            <a:extLst xmlns:a="http://schemas.openxmlformats.org/drawingml/2006/main">
              <a:ext uri="{FF2B5EF4-FFF2-40B4-BE49-F238E27FC236}">
                <a16:creationId xmlns:a16="http://schemas.microsoft.com/office/drawing/2014/main" id="{6B66B361-CC7E-41BB-A3E2-7830AB007E83}"/>
              </a:ext>
            </a:extLst>
          </p:cNvPr>
          <p:cNvSpPr>
            <a:spLocks xmlns:a="http://schemas.openxmlformats.org/drawingml/2006/main" noGrp="1"/>
          </p:cNvSpPr>
          <p:nvPr/>
        </p:nvSpPr>
        <p:spPr>
          <a:xfrm xmlns:a="http://schemas.openxmlformats.org/drawingml/2006/main">
            <a:off x="800100" y="20669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8B5CF6"/>
                </a:solidFill>
                <a:latin typeface="Aptos"/>
                <a:ea typeface="Aptos"/>
                <a:cs typeface="Aptos"/>
              </a:defRPr>
            </a:pPr>
            <a:r>
              <a:rPr sz="1125" b="1">
                <a:solidFill>
                  <a:srgbClr val="8B5CF6"/>
                </a:solidFill>
                <a:latin typeface="Aptos"/>
                <a:ea typeface="Aptos"/>
                <a:cs typeface="Aptos"/>
              </a:rPr>
              <a:t>01</a:t>
            </a:r>
          </a:p>
        </p:txBody>
      </p:sp>
      <p:sp>
        <p:nvSpPr>
          <p:cNvPr id="13" name="">
            <a:extLst xmlns:a="http://schemas.openxmlformats.org/drawingml/2006/main">
              <a:ext uri="{FF2B5EF4-FFF2-40B4-BE49-F238E27FC236}">
                <a16:creationId xmlns:a16="http://schemas.microsoft.com/office/drawing/2014/main" id="{AA80DE6C-51D4-4469-AAF6-F20F872A96B6}"/>
              </a:ext>
            </a:extLst>
          </p:cNvPr>
          <p:cNvSpPr>
            <a:spLocks xmlns:a="http://schemas.openxmlformats.org/drawingml/2006/main" noGrp="1"/>
          </p:cNvSpPr>
          <p:nvPr/>
        </p:nvSpPr>
        <p:spPr>
          <a:xfrm xmlns:a="http://schemas.openxmlformats.org/drawingml/2006/main">
            <a:off x="1466850" y="2000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High-yield episode</a:t>
            </a:r>
          </a:p>
        </p:txBody>
      </p:sp>
      <p:sp>
        <p:nvSpPr>
          <p:cNvPr id="14" name="">
            <a:extLst xmlns:a="http://schemas.openxmlformats.org/drawingml/2006/main">
              <a:ext uri="{FF2B5EF4-FFF2-40B4-BE49-F238E27FC236}">
                <a16:creationId xmlns:a16="http://schemas.microsoft.com/office/drawing/2014/main" id="{B64902D5-E5AE-42FC-A820-2BEDE43E2C62}"/>
              </a:ext>
            </a:extLst>
          </p:cNvPr>
          <p:cNvSpPr>
            <a:spLocks xmlns:a="http://schemas.openxmlformats.org/drawingml/2006/main" noGrp="1"/>
          </p:cNvSpPr>
          <p:nvPr/>
        </p:nvSpPr>
        <p:spPr>
          <a:xfrm xmlns:a="http://schemas.openxmlformats.org/drawingml/2006/main">
            <a:off x="4095750" y="19812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APY at or above 10%; contiguous observed run; one missing calendar day tolerated; active runs right-censored.</a:t>
            </a:r>
          </a:p>
        </p:txBody>
      </p:sp>
      <p:sp>
        <p:nvSpPr>
          <p:cNvPr id="15" name="">
            <a:extLst xmlns:a="http://schemas.openxmlformats.org/drawingml/2006/main">
              <a:ext uri="{FF2B5EF4-FFF2-40B4-BE49-F238E27FC236}">
                <a16:creationId xmlns:a16="http://schemas.microsoft.com/office/drawing/2014/main" id="{347A251C-2228-452E-9F76-90F52EBE8E30}"/>
              </a:ext>
            </a:extLst>
          </p:cNvPr>
          <p:cNvSpPr>
            <a:spLocks xmlns:a="http://schemas.openxmlformats.org/drawingml/2006/main" noGrp="1"/>
          </p:cNvSpPr>
          <p:nvPr/>
        </p:nvSpPr>
        <p:spPr>
          <a:xfrm xmlns:a="http://schemas.openxmlformats.org/drawingml/2006/main">
            <a:off x="8858250" y="19812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Kaplan-Meier retains censored episodes.</a:t>
            </a:r>
          </a:p>
        </p:txBody>
      </p:sp>
      <p:sp>
        <p:nvSpPr>
          <p:cNvPr id="16" name="">
            <a:extLst xmlns:a="http://schemas.openxmlformats.org/drawingml/2006/main">
              <a:ext uri="{FF2B5EF4-FFF2-40B4-BE49-F238E27FC236}">
                <a16:creationId xmlns:a16="http://schemas.microsoft.com/office/drawing/2014/main" id="{5089CA41-BD2E-493A-9AB4-C12A2C777047}"/>
              </a:ext>
            </a:extLst>
          </p:cNvPr>
          <p:cNvSpPr>
            <a:spLocks xmlns:a="http://schemas.openxmlformats.org/drawingml/2006/main" noGrp="1"/>
          </p:cNvSpPr>
          <p:nvPr/>
        </p:nvSpPr>
        <p:spPr>
          <a:xfrm xmlns:a="http://schemas.openxmlformats.org/drawingml/2006/main">
            <a:off x="685800" y="268605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17" name="">
            <a:extLst xmlns:a="http://schemas.openxmlformats.org/drawingml/2006/main">
              <a:ext uri="{FF2B5EF4-FFF2-40B4-BE49-F238E27FC236}">
                <a16:creationId xmlns:a16="http://schemas.microsoft.com/office/drawing/2014/main" id="{CBD53970-B775-475B-B251-C12B6CACD2C0}"/>
              </a:ext>
            </a:extLst>
          </p:cNvPr>
          <p:cNvSpPr>
            <a:spLocks xmlns:a="http://schemas.openxmlformats.org/drawingml/2006/main" noGrp="1"/>
          </p:cNvSpPr>
          <p:nvPr/>
        </p:nvSpPr>
        <p:spPr>
          <a:xfrm xmlns:a="http://schemas.openxmlformats.org/drawingml/2006/main">
            <a:off x="685800" y="2952750"/>
            <a:ext cx="552450" cy="381000"/>
          </a:xfrm>
          <a:prstGeom xmlns:a="http://schemas.openxmlformats.org/drawingml/2006/main" prst="roundRect">
            <a:avLst>
              <a:gd name="adj" fmla="val 50000"/>
            </a:avLst>
          </a:prstGeom>
          <a:solidFill xmlns:a="http://schemas.openxmlformats.org/drawingml/2006/main">
            <a:srgbClr val="4F7CFF">
              <a:alpha val="15000"/>
            </a:srgbClr>
          </a:solidFill>
          <a:ln xmlns:a="http://schemas.openxmlformats.org/drawingml/2006/main" w="9525">
            <a:solidFill>
              <a:srgbClr val="4F7CFF">
                <a:alpha val="22000"/>
              </a:srgbClr>
            </a:solidFill>
            <a:prstDash val="solid"/>
          </a:ln>
        </p:spPr>
      </p:sp>
      <p:sp>
        <p:nvSpPr>
          <p:cNvPr id="18" name="">
            <a:extLst xmlns:a="http://schemas.openxmlformats.org/drawingml/2006/main">
              <a:ext uri="{FF2B5EF4-FFF2-40B4-BE49-F238E27FC236}">
                <a16:creationId xmlns:a16="http://schemas.microsoft.com/office/drawing/2014/main" id="{97C73B20-19B4-4616-A9A4-9F8E33287F27}"/>
              </a:ext>
            </a:extLst>
          </p:cNvPr>
          <p:cNvSpPr>
            <a:spLocks xmlns:a="http://schemas.openxmlformats.org/drawingml/2006/main" noGrp="1"/>
          </p:cNvSpPr>
          <p:nvPr/>
        </p:nvSpPr>
        <p:spPr>
          <a:xfrm xmlns:a="http://schemas.openxmlformats.org/drawingml/2006/main">
            <a:off x="800100" y="296227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4F7CFF"/>
                </a:solidFill>
                <a:latin typeface="Aptos"/>
                <a:ea typeface="Aptos"/>
                <a:cs typeface="Aptos"/>
              </a:defRPr>
            </a:pPr>
            <a:r>
              <a:rPr sz="1125" b="1">
                <a:solidFill>
                  <a:srgbClr val="4F7CFF"/>
                </a:solidFill>
                <a:latin typeface="Aptos"/>
                <a:ea typeface="Aptos"/>
                <a:cs typeface="Aptos"/>
              </a:rPr>
              <a:t>02</a:t>
            </a:r>
          </a:p>
        </p:txBody>
      </p:sp>
      <p:sp>
        <p:nvSpPr>
          <p:cNvPr id="19" name="">
            <a:extLst xmlns:a="http://schemas.openxmlformats.org/drawingml/2006/main">
              <a:ext uri="{FF2B5EF4-FFF2-40B4-BE49-F238E27FC236}">
                <a16:creationId xmlns:a16="http://schemas.microsoft.com/office/drawing/2014/main" id="{CB8667CC-0599-44E7-A5E0-FDBC4EA81DF5}"/>
              </a:ext>
            </a:extLst>
          </p:cNvPr>
          <p:cNvSpPr>
            <a:spLocks xmlns:a="http://schemas.openxmlformats.org/drawingml/2006/main" noGrp="1"/>
          </p:cNvSpPr>
          <p:nvPr/>
        </p:nvSpPr>
        <p:spPr>
          <a:xfrm xmlns:a="http://schemas.openxmlformats.org/drawingml/2006/main">
            <a:off x="1466850" y="2895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Ranking churn</a:t>
            </a:r>
          </a:p>
        </p:txBody>
      </p:sp>
      <p:sp>
        <p:nvSpPr>
          <p:cNvPr id="20" name="">
            <a:extLst xmlns:a="http://schemas.openxmlformats.org/drawingml/2006/main">
              <a:ext uri="{FF2B5EF4-FFF2-40B4-BE49-F238E27FC236}">
                <a16:creationId xmlns:a16="http://schemas.microsoft.com/office/drawing/2014/main" id="{C44B31B3-316D-43AB-B674-A39F2CB04208}"/>
              </a:ext>
            </a:extLst>
          </p:cNvPr>
          <p:cNvSpPr>
            <a:spLocks xmlns:a="http://schemas.openxmlformats.org/drawingml/2006/main" noGrp="1"/>
          </p:cNvSpPr>
          <p:nvPr/>
        </p:nvSpPr>
        <p:spPr>
          <a:xfrm xmlns:a="http://schemas.openxmlformats.org/drawingml/2006/main">
            <a:off x="4095750" y="28765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1 - intersection share of top-k sets at t and t+h; k = 10 or 20; h = 1, 7 or 30 days.</a:t>
            </a:r>
          </a:p>
        </p:txBody>
      </p:sp>
      <p:sp>
        <p:nvSpPr>
          <p:cNvPr id="21" name="">
            <a:extLst xmlns:a="http://schemas.openxmlformats.org/drawingml/2006/main">
              <a:ext uri="{FF2B5EF4-FFF2-40B4-BE49-F238E27FC236}">
                <a16:creationId xmlns:a16="http://schemas.microsoft.com/office/drawing/2014/main" id="{98578505-2965-402F-843F-4B380B6331F4}"/>
              </a:ext>
            </a:extLst>
          </p:cNvPr>
          <p:cNvSpPr>
            <a:spLocks xmlns:a="http://schemas.openxmlformats.org/drawingml/2006/main" noGrp="1"/>
          </p:cNvSpPr>
          <p:nvPr/>
        </p:nvSpPr>
        <p:spPr>
          <a:xfrm xmlns:a="http://schemas.openxmlformats.org/drawingml/2006/main">
            <a:off x="8858250" y="28765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4F7CFF"/>
                </a:solidFill>
                <a:latin typeface="Aptos"/>
                <a:ea typeface="Aptos"/>
                <a:cs typeface="Aptos"/>
              </a:defRPr>
            </a:pPr>
            <a:r>
              <a:rPr sz="1125" b="1">
                <a:solidFill>
                  <a:srgbClr val="4F7CFF"/>
                </a:solidFill>
                <a:latin typeface="Aptos"/>
                <a:ea typeface="Aptos"/>
                <a:cs typeface="Aptos"/>
              </a:rPr>
              <a:t>Stability diagnostic, not a leaderboard.</a:t>
            </a:r>
          </a:p>
        </p:txBody>
      </p:sp>
      <p:sp>
        <p:nvSpPr>
          <p:cNvPr id="22" name="">
            <a:extLst xmlns:a="http://schemas.openxmlformats.org/drawingml/2006/main">
              <a:ext uri="{FF2B5EF4-FFF2-40B4-BE49-F238E27FC236}">
                <a16:creationId xmlns:a16="http://schemas.microsoft.com/office/drawing/2014/main" id="{24191029-835A-4D62-822B-951D093366A7}"/>
              </a:ext>
            </a:extLst>
          </p:cNvPr>
          <p:cNvSpPr>
            <a:spLocks xmlns:a="http://schemas.openxmlformats.org/drawingml/2006/main" noGrp="1"/>
          </p:cNvSpPr>
          <p:nvPr/>
        </p:nvSpPr>
        <p:spPr>
          <a:xfrm xmlns:a="http://schemas.openxmlformats.org/drawingml/2006/main">
            <a:off x="685800" y="358140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3" name="">
            <a:extLst xmlns:a="http://schemas.openxmlformats.org/drawingml/2006/main">
              <a:ext uri="{FF2B5EF4-FFF2-40B4-BE49-F238E27FC236}">
                <a16:creationId xmlns:a16="http://schemas.microsoft.com/office/drawing/2014/main" id="{F9D184FB-70A7-4A5E-9B74-C9C475B27E5C}"/>
              </a:ext>
            </a:extLst>
          </p:cNvPr>
          <p:cNvSpPr>
            <a:spLocks xmlns:a="http://schemas.openxmlformats.org/drawingml/2006/main" noGrp="1"/>
          </p:cNvSpPr>
          <p:nvPr/>
        </p:nvSpPr>
        <p:spPr>
          <a:xfrm xmlns:a="http://schemas.openxmlformats.org/drawingml/2006/main">
            <a:off x="685800" y="3848100"/>
            <a:ext cx="552450" cy="381000"/>
          </a:xfrm>
          <a:prstGeom xmlns:a="http://schemas.openxmlformats.org/drawingml/2006/main" prst="roundRect">
            <a:avLst>
              <a:gd name="adj" fmla="val 50000"/>
            </a:avLst>
          </a:prstGeom>
          <a:solidFill xmlns:a="http://schemas.openxmlformats.org/drawingml/2006/main">
            <a:srgbClr val="F6B84B">
              <a:alpha val="15000"/>
            </a:srgbClr>
          </a:solidFill>
          <a:ln xmlns:a="http://schemas.openxmlformats.org/drawingml/2006/main" w="9525">
            <a:solidFill>
              <a:srgbClr val="F6B84B">
                <a:alpha val="22000"/>
              </a:srgbClr>
            </a:solidFill>
            <a:prstDash val="solid"/>
          </a:ln>
        </p:spPr>
      </p:sp>
      <p:sp>
        <p:nvSpPr>
          <p:cNvPr id="24" name="">
            <a:extLst xmlns:a="http://schemas.openxmlformats.org/drawingml/2006/main">
              <a:ext uri="{FF2B5EF4-FFF2-40B4-BE49-F238E27FC236}">
                <a16:creationId xmlns:a16="http://schemas.microsoft.com/office/drawing/2014/main" id="{D067FB4D-A263-402D-835F-4B8F2B7A1473}"/>
              </a:ext>
            </a:extLst>
          </p:cNvPr>
          <p:cNvSpPr>
            <a:spLocks xmlns:a="http://schemas.openxmlformats.org/drawingml/2006/main" noGrp="1"/>
          </p:cNvSpPr>
          <p:nvPr/>
        </p:nvSpPr>
        <p:spPr>
          <a:xfrm xmlns:a="http://schemas.openxmlformats.org/drawingml/2006/main">
            <a:off x="800100" y="38576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6B84B"/>
                </a:solidFill>
                <a:latin typeface="Aptos"/>
                <a:ea typeface="Aptos"/>
                <a:cs typeface="Aptos"/>
              </a:defRPr>
            </a:pPr>
            <a:r>
              <a:rPr sz="1125" b="1">
                <a:solidFill>
                  <a:srgbClr val="F6B84B"/>
                </a:solidFill>
                <a:latin typeface="Aptos"/>
                <a:ea typeface="Aptos"/>
                <a:cs typeface="Aptos"/>
              </a:rPr>
              <a:t>03</a:t>
            </a:r>
          </a:p>
        </p:txBody>
      </p:sp>
      <p:sp>
        <p:nvSpPr>
          <p:cNvPr id="25" name="">
            <a:extLst xmlns:a="http://schemas.openxmlformats.org/drawingml/2006/main">
              <a:ext uri="{FF2B5EF4-FFF2-40B4-BE49-F238E27FC236}">
                <a16:creationId xmlns:a16="http://schemas.microsoft.com/office/drawing/2014/main" id="{C7A8C4CA-B776-4774-B710-6FFDF3294CD3}"/>
              </a:ext>
            </a:extLst>
          </p:cNvPr>
          <p:cNvSpPr>
            <a:spLocks xmlns:a="http://schemas.openxmlformats.org/drawingml/2006/main" noGrp="1"/>
          </p:cNvSpPr>
          <p:nvPr/>
        </p:nvSpPr>
        <p:spPr>
          <a:xfrm xmlns:a="http://schemas.openxmlformats.org/drawingml/2006/main">
            <a:off x="1466850" y="3790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APY-jump event</a:t>
            </a:r>
          </a:p>
        </p:txBody>
      </p:sp>
      <p:sp>
        <p:nvSpPr>
          <p:cNvPr id="26" name="">
            <a:extLst xmlns:a="http://schemas.openxmlformats.org/drawingml/2006/main">
              <a:ext uri="{FF2B5EF4-FFF2-40B4-BE49-F238E27FC236}">
                <a16:creationId xmlns:a16="http://schemas.microsoft.com/office/drawing/2014/main" id="{DA9195C0-F01D-4BC1-BAC3-D18D61BF24B1}"/>
              </a:ext>
            </a:extLst>
          </p:cNvPr>
          <p:cNvSpPr>
            <a:spLocks xmlns:a="http://schemas.openxmlformats.org/drawingml/2006/main" noGrp="1"/>
          </p:cNvSpPr>
          <p:nvPr/>
        </p:nvSpPr>
        <p:spPr>
          <a:xfrm xmlns:a="http://schemas.openxmlformats.org/drawingml/2006/main">
            <a:off x="4095750" y="3771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Daily APY increase of at least 5 percentage points and level at or above 10%; maximum 3 events per pool; window -7 to +30 days.</a:t>
            </a:r>
          </a:p>
        </p:txBody>
      </p:sp>
      <p:sp>
        <p:nvSpPr>
          <p:cNvPr id="27" name="">
            <a:extLst xmlns:a="http://schemas.openxmlformats.org/drawingml/2006/main">
              <a:ext uri="{FF2B5EF4-FFF2-40B4-BE49-F238E27FC236}">
                <a16:creationId xmlns:a16="http://schemas.microsoft.com/office/drawing/2014/main" id="{87A26D1F-1D32-4F1B-9F30-E52819B4F978}"/>
              </a:ext>
            </a:extLst>
          </p:cNvPr>
          <p:cNvSpPr>
            <a:spLocks xmlns:a="http://schemas.openxmlformats.org/drawingml/2006/main" noGrp="1"/>
          </p:cNvSpPr>
          <p:nvPr/>
        </p:nvSpPr>
        <p:spPr>
          <a:xfrm xmlns:a="http://schemas.openxmlformats.org/drawingml/2006/main">
            <a:off x="8858250" y="37719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6B84B"/>
                </a:solidFill>
                <a:latin typeface="Aptos"/>
                <a:ea typeface="Aptos"/>
                <a:cs typeface="Aptos"/>
              </a:defRPr>
            </a:pPr>
            <a:r>
              <a:rPr sz="1125" b="1">
                <a:solidFill>
                  <a:srgbClr val="F6B84B"/>
                </a:solidFill>
                <a:latin typeface="Aptos"/>
                <a:ea typeface="Aptos"/>
                <a:cs typeface="Aptos"/>
              </a:rPr>
              <a:t>453 events at day 0; TVL remains observational.</a:t>
            </a:r>
          </a:p>
        </p:txBody>
      </p:sp>
      <p:sp>
        <p:nvSpPr>
          <p:cNvPr id="28" name="">
            <a:extLst xmlns:a="http://schemas.openxmlformats.org/drawingml/2006/main">
              <a:ext uri="{FF2B5EF4-FFF2-40B4-BE49-F238E27FC236}">
                <a16:creationId xmlns:a16="http://schemas.microsoft.com/office/drawing/2014/main" id="{5243FC77-F2C0-4D4E-852B-47BA79E38179}"/>
              </a:ext>
            </a:extLst>
          </p:cNvPr>
          <p:cNvSpPr>
            <a:spLocks xmlns:a="http://schemas.openxmlformats.org/drawingml/2006/main" noGrp="1"/>
          </p:cNvSpPr>
          <p:nvPr/>
        </p:nvSpPr>
        <p:spPr>
          <a:xfrm xmlns:a="http://schemas.openxmlformats.org/drawingml/2006/main">
            <a:off x="685800" y="447675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9" name="">
            <a:extLst xmlns:a="http://schemas.openxmlformats.org/drawingml/2006/main">
              <a:ext uri="{FF2B5EF4-FFF2-40B4-BE49-F238E27FC236}">
                <a16:creationId xmlns:a16="http://schemas.microsoft.com/office/drawing/2014/main" id="{F18ECA8D-50FD-446C-9BA7-6EABFE66A18D}"/>
              </a:ext>
            </a:extLst>
          </p:cNvPr>
          <p:cNvSpPr>
            <a:spLocks xmlns:a="http://schemas.openxmlformats.org/drawingml/2006/main" noGrp="1"/>
          </p:cNvSpPr>
          <p:nvPr/>
        </p:nvSpPr>
        <p:spPr>
          <a:xfrm xmlns:a="http://schemas.openxmlformats.org/drawingml/2006/main">
            <a:off x="685800" y="4743450"/>
            <a:ext cx="552450" cy="381000"/>
          </a:xfrm>
          <a:prstGeom xmlns:a="http://schemas.openxmlformats.org/drawingml/2006/main" prst="roundRect">
            <a:avLst>
              <a:gd name="adj" fmla="val 50000"/>
            </a:avLst>
          </a:prstGeom>
          <a:solidFill xmlns:a="http://schemas.openxmlformats.org/drawingml/2006/main">
            <a:srgbClr val="2BBBAD">
              <a:alpha val="15000"/>
            </a:srgbClr>
          </a:solidFill>
          <a:ln xmlns:a="http://schemas.openxmlformats.org/drawingml/2006/main" w="9525">
            <a:solidFill>
              <a:srgbClr val="2BBBAD">
                <a:alpha val="22000"/>
              </a:srgbClr>
            </a:solidFill>
            <a:prstDash val="solid"/>
          </a:ln>
        </p:spPr>
      </p:sp>
      <p:sp>
        <p:nvSpPr>
          <p:cNvPr id="30" name="">
            <a:extLst xmlns:a="http://schemas.openxmlformats.org/drawingml/2006/main">
              <a:ext uri="{FF2B5EF4-FFF2-40B4-BE49-F238E27FC236}">
                <a16:creationId xmlns:a16="http://schemas.microsoft.com/office/drawing/2014/main" id="{67E83B35-5211-438B-ABD4-0447D3597F42}"/>
              </a:ext>
            </a:extLst>
          </p:cNvPr>
          <p:cNvSpPr>
            <a:spLocks xmlns:a="http://schemas.openxmlformats.org/drawingml/2006/main" noGrp="1"/>
          </p:cNvSpPr>
          <p:nvPr/>
        </p:nvSpPr>
        <p:spPr>
          <a:xfrm xmlns:a="http://schemas.openxmlformats.org/drawingml/2006/main">
            <a:off x="800100" y="475297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2BBBAD"/>
                </a:solidFill>
                <a:latin typeface="Aptos"/>
                <a:ea typeface="Aptos"/>
                <a:cs typeface="Aptos"/>
              </a:defRPr>
            </a:pPr>
            <a:r>
              <a:rPr sz="1125" b="1">
                <a:solidFill>
                  <a:srgbClr val="2BBBAD"/>
                </a:solidFill>
                <a:latin typeface="Aptos"/>
                <a:ea typeface="Aptos"/>
                <a:cs typeface="Aptos"/>
              </a:rPr>
              <a:t>04</a:t>
            </a:r>
          </a:p>
        </p:txBody>
      </p:sp>
      <p:sp>
        <p:nvSpPr>
          <p:cNvPr id="31" name="">
            <a:extLst xmlns:a="http://schemas.openxmlformats.org/drawingml/2006/main">
              <a:ext uri="{FF2B5EF4-FFF2-40B4-BE49-F238E27FC236}">
                <a16:creationId xmlns:a16="http://schemas.microsoft.com/office/drawing/2014/main" id="{5A5A2C45-872E-4B26-A7EB-9A5DBFA9C77D}"/>
              </a:ext>
            </a:extLst>
          </p:cNvPr>
          <p:cNvSpPr>
            <a:spLocks xmlns:a="http://schemas.openxmlformats.org/drawingml/2006/main" noGrp="1"/>
          </p:cNvSpPr>
          <p:nvPr/>
        </p:nvSpPr>
        <p:spPr>
          <a:xfrm xmlns:a="http://schemas.openxmlformats.org/drawingml/2006/main">
            <a:off x="1466850" y="4686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Joint threshold screen</a:t>
            </a:r>
          </a:p>
        </p:txBody>
      </p:sp>
      <p:sp>
        <p:nvSpPr>
          <p:cNvPr id="32" name="">
            <a:extLst xmlns:a="http://schemas.openxmlformats.org/drawingml/2006/main">
              <a:ext uri="{FF2B5EF4-FFF2-40B4-BE49-F238E27FC236}">
                <a16:creationId xmlns:a16="http://schemas.microsoft.com/office/drawing/2014/main" id="{35EBF1D7-BC27-4890-9CFB-49D6091588A7}"/>
              </a:ext>
            </a:extLst>
          </p:cNvPr>
          <p:cNvSpPr>
            <a:spLocks xmlns:a="http://schemas.openxmlformats.org/drawingml/2006/main" noGrp="1"/>
          </p:cNvSpPr>
          <p:nvPr/>
        </p:nvSpPr>
        <p:spPr>
          <a:xfrm xmlns:a="http://schemas.openxmlformats.org/drawingml/2006/main">
            <a:off x="4095750" y="46672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Above the sample medians for pool-level APY, persistence and TVL at the same time.</a:t>
            </a:r>
          </a:p>
        </p:txBody>
      </p:sp>
      <p:sp>
        <p:nvSpPr>
          <p:cNvPr id="33" name="">
            <a:extLst xmlns:a="http://schemas.openxmlformats.org/drawingml/2006/main">
              <a:ext uri="{FF2B5EF4-FFF2-40B4-BE49-F238E27FC236}">
                <a16:creationId xmlns:a16="http://schemas.microsoft.com/office/drawing/2014/main" id="{16AB448E-CC39-4A62-8DB3-439D6294CD7B}"/>
              </a:ext>
            </a:extLst>
          </p:cNvPr>
          <p:cNvSpPr>
            <a:spLocks xmlns:a="http://schemas.openxmlformats.org/drawingml/2006/main" noGrp="1"/>
          </p:cNvSpPr>
          <p:nvPr/>
        </p:nvSpPr>
        <p:spPr>
          <a:xfrm xmlns:a="http://schemas.openxmlformats.org/drawingml/2006/main">
            <a:off x="8858250" y="46672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BBBAD"/>
                </a:solidFill>
                <a:latin typeface="Aptos"/>
                <a:ea typeface="Aptos"/>
                <a:cs typeface="Aptos"/>
              </a:defRPr>
            </a:pPr>
            <a:r>
              <a:rPr sz="1125" b="1">
                <a:solidFill>
                  <a:srgbClr val="2BBBAD"/>
                </a:solidFill>
                <a:latin typeface="Aptos"/>
                <a:ea typeface="Aptos"/>
                <a:cs typeface="Aptos"/>
              </a:rPr>
              <a:t>Descriptive three-threshold screen; not a Pareto frontier.</a:t>
            </a:r>
          </a:p>
        </p:txBody>
      </p:sp>
    </p:spTree>
    <p:extLst>
      <p:ext uri="{BB962C8B-B14F-4D97-AF65-F5344CB8AC3E}">
        <p14:creationId xmlns:p14="http://schemas.microsoft.com/office/powerpoint/2010/main" val="609912881"/>
      </p:ext>
    </p:extLst>
  </p:cSld>
</p:sld>
</file>

<file path=ppt/slides/slide5.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2B28C8F-1209-4A03-8674-F3BE0722323D}"/>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9BB20235-A3A3-4F33-8C88-B58E3A37FFE4}"/>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6B9D"/>
                </a:solidFill>
                <a:latin typeface="Aptos"/>
                <a:ea typeface="Aptos"/>
                <a:cs typeface="Aptos"/>
              </a:defRPr>
            </a:pPr>
            <a:r>
              <a:rPr sz="975" b="1">
                <a:solidFill>
                  <a:srgbClr val="FF6B9D"/>
                </a:solidFill>
                <a:latin typeface="Aptos"/>
                <a:ea typeface="Aptos"/>
                <a:cs typeface="Aptos"/>
              </a:rPr>
              <a:t>DISTRIBUTION</a:t>
            </a:r>
          </a:p>
        </p:txBody>
      </p:sp>
      <p:sp>
        <p:nvSpPr>
          <p:cNvPr id="3" name="">
            <a:extLst xmlns:a="http://schemas.openxmlformats.org/drawingml/2006/main">
              <a:ext uri="{FF2B5EF4-FFF2-40B4-BE49-F238E27FC236}">
                <a16:creationId xmlns:a16="http://schemas.microsoft.com/office/drawing/2014/main" id="{A98C5A7E-AC59-45B9-977A-C7B42AA50DBD}"/>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A02E24F1-679D-4199-BFE0-5D462847381A}"/>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668426D4-B097-417F-8F0F-9661588D6553}"/>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502835F9-AF32-46BA-8FEA-6E42517C4A09}"/>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A021997D-2CE6-4002-BC38-8F15E4C65631}"/>
              </a:ext>
            </a:extLst>
          </p:cNvPr>
          <p:cNvSpPr>
            <a:spLocks xmlns:a="http://schemas.openxmlformats.org/drawingml/2006/main" noGrp="1"/>
          </p:cNvSpPr>
          <p:nvPr/>
        </p:nvSpPr>
        <p:spPr>
          <a:xfrm xmlns:a="http://schemas.openxmlformats.org/drawingml/2006/main">
            <a:off x="8420100" y="6486525"/>
            <a:ext cx="980515"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93CFB0A6-095C-413F-890C-C6F211BEB74D}"/>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Headline APY needs robust summaries</a:t>
            </a:r>
          </a:p>
        </p:txBody>
      </p:sp>
      <p:sp>
        <p:nvSpPr>
          <p:cNvPr id="9" name="">
            <a:extLst xmlns:a="http://schemas.openxmlformats.org/drawingml/2006/main">
              <a:ext uri="{FF2B5EF4-FFF2-40B4-BE49-F238E27FC236}">
                <a16:creationId xmlns:a16="http://schemas.microsoft.com/office/drawing/2014/main" id="{893EB826-B693-4A01-8127-D5025437ED9E}"/>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Why are headline APY values hard to compare?</a:t>
            </a:r>
          </a:p>
        </p:txBody>
      </p:sp>
      <p:sp>
        <p:nvSpPr>
          <p:cNvPr id="10" name="">
            <a:extLst xmlns:a="http://schemas.openxmlformats.org/drawingml/2006/main">
              <a:ext uri="{FF2B5EF4-FFF2-40B4-BE49-F238E27FC236}">
                <a16:creationId xmlns:a16="http://schemas.microsoft.com/office/drawing/2014/main" id="{20CFD328-8187-4657-BAB6-D06F7E104A17}"/>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983197A-9B07-4AFF-8F08-E925349A4BC4}"/>
              </a:ext>
            </a:extLst>
          </p:cNvPr>
          <p:cNvSpPr>
            <a:spLocks xmlns:a="http://schemas.openxmlformats.org/drawingml/2006/main" noGrp="1"/>
          </p:cNvSpPr>
          <p:nvPr/>
        </p:nvSpPr>
        <p:spPr>
          <a:xfrm xmlns:a="http://schemas.openxmlformats.org/drawingml/2006/main">
            <a:off x="4019550" y="1943100"/>
            <a:ext cx="819150" cy="57150"/>
          </a:xfrm>
          <a:prstGeom xmlns:a="http://schemas.openxmlformats.org/drawingml/2006/main" prst="roundRect">
            <a:avLst>
              <a:gd name="adj" fmla="val 50000"/>
            </a:avLst>
          </a:prstGeom>
          <a:gradFill xmlns:a="http://schemas.openxmlformats.org/drawingml/2006/main">
            <a:gsLst>
              <a:gs pos="0">
                <a:srgbClr val="FF6B9D"/>
              </a:gs>
              <a:gs pos="100000">
                <a:srgbClr val="23C9D8"/>
              </a:gs>
            </a:gsLst>
            <a:lin ang="0"/>
          </a:gradFill>
          <a:ln xmlns:a="http://schemas.openxmlformats.org/drawingml/2006/main" w="0">
            <a:gradFill>
              <a:gsLst>
                <a:gs pos="0">
                  <a:srgbClr val="FF6B9D"/>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58e122620954ab2"/>
          <a:stretch xmlns:a="http://schemas.openxmlformats.org/drawingml/2006/main"/>
        </p:blipFill>
        <p:spPr>
          <a:xfrm xmlns:a="http://schemas.openxmlformats.org/drawingml/2006/main">
            <a:off x="3981450" y="2095500"/>
            <a:ext cx="7600950" cy="3562350"/>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1BC130DB-6DC7-4E2B-AE3B-B4EC99803EDF}"/>
              </a:ext>
            </a:extLst>
          </p:cNvPr>
          <p:cNvSpPr>
            <a:spLocks xmlns:a="http://schemas.openxmlformats.org/drawingml/2006/main" noGrp="1"/>
          </p:cNvSpPr>
          <p:nvPr/>
        </p:nvSpPr>
        <p:spPr>
          <a:xfrm xmlns:a="http://schemas.openxmlformats.org/drawingml/2006/main">
            <a:off x="419100" y="1771650"/>
            <a:ext cx="3124200" cy="4057650"/>
          </a:xfrm>
          <a:prstGeom xmlns:a="http://schemas.openxmlformats.org/drawingml/2006/main" prst="roundRect">
            <a:avLst>
              <a:gd name="adj" fmla="val 7927"/>
            </a:avLst>
          </a:prstGeom>
          <a:gradFill xmlns:a="http://schemas.openxmlformats.org/drawingml/2006/main">
            <a:gsLst>
              <a:gs pos="0">
                <a:srgbClr val="FF6B9D">
                  <a:alpha val="17000"/>
                </a:srgbClr>
              </a:gs>
              <a:gs pos="74000">
                <a:srgbClr val="FFFFFF"/>
              </a:gs>
            </a:gsLst>
            <a:lin ang="8700000"/>
          </a:gradFill>
          <a:ln xmlns:a="http://schemas.openxmlformats.org/drawingml/2006/main" w="9525">
            <a:solidFill>
              <a:srgbClr val="FF6B9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57A0098-0465-4F1E-B35D-D5A2F8983B3F}"/>
              </a:ext>
            </a:extLst>
          </p:cNvPr>
          <p:cNvSpPr>
            <a:spLocks xmlns:a="http://schemas.openxmlformats.org/drawingml/2006/main" noGrp="1"/>
          </p:cNvSpPr>
          <p:nvPr/>
        </p:nvSpPr>
        <p:spPr>
          <a:xfrm xmlns:a="http://schemas.openxmlformats.org/drawingml/2006/main">
            <a:off x="647700" y="1981200"/>
            <a:ext cx="1733550" cy="304800"/>
          </a:xfrm>
          <a:prstGeom xmlns:a="http://schemas.openxmlformats.org/drawingml/2006/main" prst="roundRect">
            <a:avLst>
              <a:gd name="adj" fmla="val 50000"/>
            </a:avLst>
          </a:prstGeom>
          <a:solidFill xmlns:a="http://schemas.openxmlformats.org/drawingml/2006/main">
            <a:srgbClr val="FF6B9D">
              <a:alpha val="15000"/>
            </a:srgbClr>
          </a:solidFill>
          <a:ln xmlns:a="http://schemas.openxmlformats.org/drawingml/2006/main" w="9525">
            <a:solidFill>
              <a:srgbClr val="FF6B9D">
                <a:alpha val="22000"/>
              </a:srgbClr>
            </a:solidFill>
            <a:prstDash val="solid"/>
          </a:ln>
        </p:spPr>
      </p:sp>
      <p:sp>
        <p:nvSpPr>
          <p:cNvPr id="15" name="">
            <a:extLst xmlns:a="http://schemas.openxmlformats.org/drawingml/2006/main">
              <a:ext uri="{FF2B5EF4-FFF2-40B4-BE49-F238E27FC236}">
                <a16:creationId xmlns:a16="http://schemas.microsoft.com/office/drawing/2014/main" id="{CE132D70-FB60-4108-9852-CF4E0F8B60DA}"/>
              </a:ext>
            </a:extLst>
          </p:cNvPr>
          <p:cNvSpPr>
            <a:spLocks xmlns:a="http://schemas.openxmlformats.org/drawingml/2006/main" noGrp="1"/>
          </p:cNvSpPr>
          <p:nvPr/>
        </p:nvSpPr>
        <p:spPr>
          <a:xfrm xmlns:a="http://schemas.openxmlformats.org/drawingml/2006/main">
            <a:off x="76200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6B9D"/>
                </a:solidFill>
                <a:latin typeface="Aptos"/>
                <a:ea typeface="Aptos"/>
                <a:cs typeface="Aptos"/>
              </a:defRPr>
            </a:pPr>
            <a:r>
              <a:rPr sz="975" b="1">
                <a:solidFill>
                  <a:srgbClr val="FF6B9D"/>
                </a:solidFill>
                <a:latin typeface="Aptos"/>
                <a:ea typeface="Aptos"/>
                <a:cs typeface="Aptos"/>
              </a:rPr>
              <a:t>WHAT THE CHART SAYS</a:t>
            </a:r>
          </a:p>
        </p:txBody>
      </p:sp>
      <p:sp>
        <p:nvSpPr>
          <p:cNvPr id="16" name="">
            <a:extLst xmlns:a="http://schemas.openxmlformats.org/drawingml/2006/main">
              <a:ext uri="{FF2B5EF4-FFF2-40B4-BE49-F238E27FC236}">
                <a16:creationId xmlns:a16="http://schemas.microsoft.com/office/drawing/2014/main" id="{BFC27BE1-11F4-4662-8D57-00813350EB50}"/>
              </a:ext>
            </a:extLst>
          </p:cNvPr>
          <p:cNvSpPr>
            <a:spLocks xmlns:a="http://schemas.openxmlformats.org/drawingml/2006/main" noGrp="1"/>
          </p:cNvSpPr>
          <p:nvPr/>
        </p:nvSpPr>
        <p:spPr>
          <a:xfrm xmlns:a="http://schemas.openxmlformats.org/drawingml/2006/main">
            <a:off x="64770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Pool-day median APY is 4.29% while the pool-day mean is 8.03%.</a:t>
            </a:r>
          </a:p>
        </p:txBody>
      </p:sp>
      <p:sp>
        <p:nvSpPr>
          <p:cNvPr id="17" name="">
            <a:extLst xmlns:a="http://schemas.openxmlformats.org/drawingml/2006/main">
              <a:ext uri="{FF2B5EF4-FFF2-40B4-BE49-F238E27FC236}">
                <a16:creationId xmlns:a16="http://schemas.microsoft.com/office/drawing/2014/main" id="{207E8112-7EC2-4492-AA19-604DCCAAA267}"/>
              </a:ext>
            </a:extLst>
          </p:cNvPr>
          <p:cNvSpPr>
            <a:spLocks xmlns:a="http://schemas.openxmlformats.org/drawingml/2006/main" noGrp="1"/>
          </p:cNvSpPr>
          <p:nvPr/>
        </p:nvSpPr>
        <p:spPr>
          <a:xfrm xmlns:a="http://schemas.openxmlformats.org/drawingml/2006/main">
            <a:off x="647700" y="3771900"/>
            <a:ext cx="2667000" cy="9525"/>
          </a:xfrm>
          <a:prstGeom xmlns:a="http://schemas.openxmlformats.org/drawingml/2006/main" prst="line">
            <a:avLst/>
          </a:prstGeom>
          <a:noFill xmlns:a="http://schemas.openxmlformats.org/drawingml/2006/main"/>
          <a:ln xmlns:a="http://schemas.openxmlformats.org/drawingml/2006/main" w="9525">
            <a:solidFill>
              <a:srgbClr val="FF6B9D">
                <a:alpha val="30000"/>
              </a:srgbClr>
            </a:solidFill>
            <a:prstDash val="solid"/>
          </a:ln>
        </p:spPr>
      </p:sp>
      <p:sp>
        <p:nvSpPr>
          <p:cNvPr id="18" name="">
            <a:extLst xmlns:a="http://schemas.openxmlformats.org/drawingml/2006/main">
              <a:ext uri="{FF2B5EF4-FFF2-40B4-BE49-F238E27FC236}">
                <a16:creationId xmlns:a16="http://schemas.microsoft.com/office/drawing/2014/main" id="{9530F18A-F820-426E-B4D3-3DD4181D4065}"/>
              </a:ext>
            </a:extLst>
          </p:cNvPr>
          <p:cNvSpPr>
            <a:spLocks xmlns:a="http://schemas.openxmlformats.org/drawingml/2006/main" noGrp="1"/>
          </p:cNvSpPr>
          <p:nvPr/>
        </p:nvSpPr>
        <p:spPr>
          <a:xfrm xmlns:a="http://schemas.openxmlformats.org/drawingml/2006/main">
            <a:off x="666750" y="405765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19" name="">
            <a:extLst xmlns:a="http://schemas.openxmlformats.org/drawingml/2006/main">
              <a:ext uri="{FF2B5EF4-FFF2-40B4-BE49-F238E27FC236}">
                <a16:creationId xmlns:a16="http://schemas.microsoft.com/office/drawing/2014/main" id="{439305A7-1FB5-491D-9497-98BA271067CD}"/>
              </a:ext>
            </a:extLst>
          </p:cNvPr>
          <p:cNvSpPr>
            <a:spLocks xmlns:a="http://schemas.openxmlformats.org/drawingml/2006/main" noGrp="1"/>
          </p:cNvSpPr>
          <p:nvPr/>
        </p:nvSpPr>
        <p:spPr>
          <a:xfrm xmlns:a="http://schemas.openxmlformats.org/drawingml/2006/main">
            <a:off x="89535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Pool-day median APY: 4.29%</a:t>
            </a:r>
          </a:p>
        </p:txBody>
      </p:sp>
      <p:sp>
        <p:nvSpPr>
          <p:cNvPr id="20" name="">
            <a:extLst xmlns:a="http://schemas.openxmlformats.org/drawingml/2006/main">
              <a:ext uri="{FF2B5EF4-FFF2-40B4-BE49-F238E27FC236}">
                <a16:creationId xmlns:a16="http://schemas.microsoft.com/office/drawing/2014/main" id="{2584B6D4-394D-415C-BC9E-44F0041C26A0}"/>
              </a:ext>
            </a:extLst>
          </p:cNvPr>
          <p:cNvSpPr>
            <a:spLocks xmlns:a="http://schemas.openxmlformats.org/drawingml/2006/main" noGrp="1"/>
          </p:cNvSpPr>
          <p:nvPr/>
        </p:nvSpPr>
        <p:spPr>
          <a:xfrm xmlns:a="http://schemas.openxmlformats.org/drawingml/2006/main">
            <a:off x="666750" y="461010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1" name="">
            <a:extLst xmlns:a="http://schemas.openxmlformats.org/drawingml/2006/main">
              <a:ext uri="{FF2B5EF4-FFF2-40B4-BE49-F238E27FC236}">
                <a16:creationId xmlns:a16="http://schemas.microsoft.com/office/drawing/2014/main" id="{64229555-A140-4DE7-BF62-F10238C8D763}"/>
              </a:ext>
            </a:extLst>
          </p:cNvPr>
          <p:cNvSpPr>
            <a:spLocks xmlns:a="http://schemas.openxmlformats.org/drawingml/2006/main" noGrp="1"/>
          </p:cNvSpPr>
          <p:nvPr/>
        </p:nvSpPr>
        <p:spPr>
          <a:xfrm xmlns:a="http://schemas.openxmlformats.org/drawingml/2006/main">
            <a:off x="89535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Pool-day mean APY: 8.03%</a:t>
            </a:r>
          </a:p>
        </p:txBody>
      </p:sp>
      <p:sp>
        <p:nvSpPr>
          <p:cNvPr id="22" name="">
            <a:extLst xmlns:a="http://schemas.openxmlformats.org/drawingml/2006/main">
              <a:ext uri="{FF2B5EF4-FFF2-40B4-BE49-F238E27FC236}">
                <a16:creationId xmlns:a16="http://schemas.microsoft.com/office/drawing/2014/main" id="{5655C4D4-1166-4924-A518-A8C65EF7E3A2}"/>
              </a:ext>
            </a:extLst>
          </p:cNvPr>
          <p:cNvSpPr>
            <a:spLocks xmlns:a="http://schemas.openxmlformats.org/drawingml/2006/main" noGrp="1"/>
          </p:cNvSpPr>
          <p:nvPr/>
        </p:nvSpPr>
        <p:spPr>
          <a:xfrm xmlns:a="http://schemas.openxmlformats.org/drawingml/2006/main">
            <a:off x="666750" y="516255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3" name="">
            <a:extLst xmlns:a="http://schemas.openxmlformats.org/drawingml/2006/main">
              <a:ext uri="{FF2B5EF4-FFF2-40B4-BE49-F238E27FC236}">
                <a16:creationId xmlns:a16="http://schemas.microsoft.com/office/drawing/2014/main" id="{43419317-D9FB-4601-BF78-D5DAF234D718}"/>
              </a:ext>
            </a:extLst>
          </p:cNvPr>
          <p:cNvSpPr>
            <a:spLocks xmlns:a="http://schemas.openxmlformats.org/drawingml/2006/main" noGrp="1"/>
          </p:cNvSpPr>
          <p:nvPr/>
        </p:nvSpPr>
        <p:spPr>
          <a:xfrm xmlns:a="http://schemas.openxmlformats.org/drawingml/2006/main">
            <a:off x="89535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Extreme observations are flagged and preserved</a:t>
            </a:r>
          </a:p>
        </p:txBody>
      </p:sp>
      <p:sp>
        <p:nvSpPr>
          <p:cNvPr id="24" name="">
            <a:extLst xmlns:a="http://schemas.openxmlformats.org/drawingml/2006/main">
              <a:ext uri="{FF2B5EF4-FFF2-40B4-BE49-F238E27FC236}">
                <a16:creationId xmlns:a16="http://schemas.microsoft.com/office/drawing/2014/main" id="{F3720E09-842B-4015-BA32-199EAF839B9F}"/>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 DeFiLlama, CoinGecko fallback checks and protocol documentation. APY is quoted, not realized return.</a:t>
            </a:r>
          </a:p>
        </p:txBody>
      </p:sp>
    </p:spTree>
    <p:extLst>
      <p:ext uri="{BB962C8B-B14F-4D97-AF65-F5344CB8AC3E}">
        <p14:creationId xmlns:p14="http://schemas.microsoft.com/office/powerpoint/2010/main" val="1898383251"/>
      </p:ext>
    </p:extLst>
  </p:cSld>
</p:sld>
</file>

<file path=ppt/slides/slide6.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0B1FC9D-20B8-4370-AA2B-1DCFF8345595}"/>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D3EAB507-67FB-4E39-9C09-3108343CE51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PERSISTENCE</a:t>
            </a:r>
          </a:p>
        </p:txBody>
      </p:sp>
      <p:sp>
        <p:nvSpPr>
          <p:cNvPr id="3" name="">
            <a:extLst xmlns:a="http://schemas.openxmlformats.org/drawingml/2006/main">
              <a:ext uri="{FF2B5EF4-FFF2-40B4-BE49-F238E27FC236}">
                <a16:creationId xmlns:a16="http://schemas.microsoft.com/office/drawing/2014/main" id="{2E544D1F-AF1C-44D8-BC27-DB815CB2E87C}"/>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D6818A31-5257-4980-A451-EBD72CC8AEDA}"/>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30216205-5E2E-456D-93B4-F8A3B50B828E}"/>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B1024A29-8C96-4D19-8688-C80FB8193A28}"/>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9A5A684E-132C-43C6-A0B5-8F518C2281D4}"/>
              </a:ext>
            </a:extLst>
          </p:cNvPr>
          <p:cNvSpPr>
            <a:spLocks xmlns:a="http://schemas.openxmlformats.org/drawingml/2006/main" noGrp="1"/>
          </p:cNvSpPr>
          <p:nvPr/>
        </p:nvSpPr>
        <p:spPr>
          <a:xfrm xmlns:a="http://schemas.openxmlformats.org/drawingml/2006/main">
            <a:off x="8420100" y="6486525"/>
            <a:ext cx="1176618"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92DDEEB7-1838-46BB-B768-1EE194AF204F}"/>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High yield usually behaves like a short regime</a:t>
            </a:r>
          </a:p>
        </p:txBody>
      </p:sp>
      <p:sp>
        <p:nvSpPr>
          <p:cNvPr id="9" name="">
            <a:extLst xmlns:a="http://schemas.openxmlformats.org/drawingml/2006/main">
              <a:ext uri="{FF2B5EF4-FFF2-40B4-BE49-F238E27FC236}">
                <a16:creationId xmlns:a16="http://schemas.microsoft.com/office/drawing/2014/main" id="{8F2A0BD0-E93E-4B45-A908-337E6D13D9AE}"/>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How long do episodes at or above 10% APY last?</a:t>
            </a:r>
          </a:p>
        </p:txBody>
      </p:sp>
      <p:sp>
        <p:nvSpPr>
          <p:cNvPr id="10" name="">
            <a:extLst xmlns:a="http://schemas.openxmlformats.org/drawingml/2006/main">
              <a:ext uri="{FF2B5EF4-FFF2-40B4-BE49-F238E27FC236}">
                <a16:creationId xmlns:a16="http://schemas.microsoft.com/office/drawing/2014/main" id="{A21BDAA2-D28C-419B-8695-4FCF7CD0255A}"/>
              </a:ext>
            </a:extLst>
          </p:cNvPr>
          <p:cNvSpPr>
            <a:spLocks xmlns:a="http://schemas.openxmlformats.org/drawingml/2006/main" noGrp="1"/>
          </p:cNvSpPr>
          <p:nvPr/>
        </p:nvSpPr>
        <p:spPr>
          <a:xfrm xmlns:a="http://schemas.openxmlformats.org/drawingml/2006/main">
            <a:off x="4191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02EE400-C95A-40FC-B295-1F69637D80F2}"/>
              </a:ext>
            </a:extLst>
          </p:cNvPr>
          <p:cNvSpPr>
            <a:spLocks xmlns:a="http://schemas.openxmlformats.org/drawingml/2006/main" noGrp="1"/>
          </p:cNvSpPr>
          <p:nvPr/>
        </p:nvSpPr>
        <p:spPr>
          <a:xfrm xmlns:a="http://schemas.openxmlformats.org/drawingml/2006/main">
            <a:off x="628650" y="1943100"/>
            <a:ext cx="819150" cy="57150"/>
          </a:xfrm>
          <a:prstGeom xmlns:a="http://schemas.openxmlformats.org/drawingml/2006/main" prst="roundRect">
            <a:avLst>
              <a:gd name="adj" fmla="val 50000"/>
            </a:avLst>
          </a:prstGeom>
          <a:gradFill xmlns:a="http://schemas.openxmlformats.org/drawingml/2006/main">
            <a:gsLst>
              <a:gs pos="0">
                <a:srgbClr val="8B5CF6"/>
              </a:gs>
              <a:gs pos="100000">
                <a:srgbClr val="23C9D8"/>
              </a:gs>
            </a:gsLst>
            <a:lin ang="0"/>
          </a:gradFill>
          <a:ln xmlns:a="http://schemas.openxmlformats.org/drawingml/2006/main" w="0">
            <a:gradFill>
              <a:gsLst>
                <a:gs pos="0">
                  <a:srgbClr val="8B5CF6"/>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c0eaee97fab4b09"/>
          <a:stretch xmlns:a="http://schemas.openxmlformats.org/drawingml/2006/main"/>
        </p:blipFill>
        <p:spPr>
          <a:xfrm xmlns:a="http://schemas.openxmlformats.org/drawingml/2006/main">
            <a:off x="590550" y="2095500"/>
            <a:ext cx="7600950" cy="3562350"/>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85F993FA-8E7A-48F7-95FA-36FC9A110C2A}"/>
              </a:ext>
            </a:extLst>
          </p:cNvPr>
          <p:cNvSpPr>
            <a:spLocks xmlns:a="http://schemas.openxmlformats.org/drawingml/2006/main" noGrp="1"/>
          </p:cNvSpPr>
          <p:nvPr/>
        </p:nvSpPr>
        <p:spPr>
          <a:xfrm xmlns:a="http://schemas.openxmlformats.org/drawingml/2006/main">
            <a:off x="8629650" y="1771650"/>
            <a:ext cx="3124200" cy="4057650"/>
          </a:xfrm>
          <a:prstGeom xmlns:a="http://schemas.openxmlformats.org/drawingml/2006/main" prst="roundRect">
            <a:avLst>
              <a:gd name="adj" fmla="val 7927"/>
            </a:avLst>
          </a:prstGeom>
          <a:gradFill xmlns:a="http://schemas.openxmlformats.org/drawingml/2006/main">
            <a:gsLst>
              <a:gs pos="0">
                <a:srgbClr val="8B5CF6">
                  <a:alpha val="17000"/>
                </a:srgbClr>
              </a:gs>
              <a:gs pos="74000">
                <a:srgbClr val="FFFFFF"/>
              </a:gs>
            </a:gsLst>
            <a:lin ang="8700000"/>
          </a:gradFill>
          <a:ln xmlns:a="http://schemas.openxmlformats.org/drawingml/2006/main" w="9525">
            <a:solidFill>
              <a:srgbClr val="8B5CF6">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8342380-C0CA-4EEC-B108-B1E3CE009565}"/>
              </a:ext>
            </a:extLst>
          </p:cNvPr>
          <p:cNvSpPr>
            <a:spLocks xmlns:a="http://schemas.openxmlformats.org/drawingml/2006/main" noGrp="1"/>
          </p:cNvSpPr>
          <p:nvPr/>
        </p:nvSpPr>
        <p:spPr>
          <a:xfrm xmlns:a="http://schemas.openxmlformats.org/drawingml/2006/main">
            <a:off x="8858250" y="1981200"/>
            <a:ext cx="1733550" cy="304800"/>
          </a:xfrm>
          <a:prstGeom xmlns:a="http://schemas.openxmlformats.org/drawingml/2006/main" prst="roundRect">
            <a:avLst>
              <a:gd name="adj" fmla="val 50000"/>
            </a:avLst>
          </a:prstGeom>
          <a:solidFill xmlns:a="http://schemas.openxmlformats.org/drawingml/2006/main">
            <a:srgbClr val="8B5CF6">
              <a:alpha val="15000"/>
            </a:srgbClr>
          </a:solidFill>
          <a:ln xmlns:a="http://schemas.openxmlformats.org/drawingml/2006/main" w="9525">
            <a:solidFill>
              <a:srgbClr val="8B5CF6">
                <a:alpha val="22000"/>
              </a:srgbClr>
            </a:solidFill>
            <a:prstDash val="solid"/>
          </a:ln>
        </p:spPr>
      </p:sp>
      <p:sp>
        <p:nvSpPr>
          <p:cNvPr id="15" name="">
            <a:extLst xmlns:a="http://schemas.openxmlformats.org/drawingml/2006/main">
              <a:ext uri="{FF2B5EF4-FFF2-40B4-BE49-F238E27FC236}">
                <a16:creationId xmlns:a16="http://schemas.microsoft.com/office/drawing/2014/main" id="{15ADD62A-51E3-440E-8369-7A4C5AC2F803}"/>
              </a:ext>
            </a:extLst>
          </p:cNvPr>
          <p:cNvSpPr>
            <a:spLocks xmlns:a="http://schemas.openxmlformats.org/drawingml/2006/main" noGrp="1"/>
          </p:cNvSpPr>
          <p:nvPr/>
        </p:nvSpPr>
        <p:spPr>
          <a:xfrm xmlns:a="http://schemas.openxmlformats.org/drawingml/2006/main">
            <a:off x="897255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WHAT THE CHART SAYS</a:t>
            </a:r>
          </a:p>
        </p:txBody>
      </p:sp>
      <p:sp>
        <p:nvSpPr>
          <p:cNvPr id="16" name="">
            <a:extLst xmlns:a="http://schemas.openxmlformats.org/drawingml/2006/main">
              <a:ext uri="{FF2B5EF4-FFF2-40B4-BE49-F238E27FC236}">
                <a16:creationId xmlns:a16="http://schemas.microsoft.com/office/drawing/2014/main" id="{154E4D83-30AC-4240-B31B-C5BA2DAD1AB3}"/>
              </a:ext>
            </a:extLst>
          </p:cNvPr>
          <p:cNvSpPr>
            <a:spLocks xmlns:a="http://schemas.openxmlformats.org/drawingml/2006/main" noGrp="1"/>
          </p:cNvSpPr>
          <p:nvPr/>
        </p:nvSpPr>
        <p:spPr>
          <a:xfrm xmlns:a="http://schemas.openxmlformats.org/drawingml/2006/main">
            <a:off x="885825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The median high-yield episode lasts 2 days; only 6.2% remain after 30 days.</a:t>
            </a:r>
          </a:p>
        </p:txBody>
      </p:sp>
      <p:sp>
        <p:nvSpPr>
          <p:cNvPr id="17" name="">
            <a:extLst xmlns:a="http://schemas.openxmlformats.org/drawingml/2006/main">
              <a:ext uri="{FF2B5EF4-FFF2-40B4-BE49-F238E27FC236}">
                <a16:creationId xmlns:a16="http://schemas.microsoft.com/office/drawing/2014/main" id="{1149F509-D397-4612-9AC0-2DFA4F747AED}"/>
              </a:ext>
            </a:extLst>
          </p:cNvPr>
          <p:cNvSpPr>
            <a:spLocks xmlns:a="http://schemas.openxmlformats.org/drawingml/2006/main" noGrp="1"/>
          </p:cNvSpPr>
          <p:nvPr/>
        </p:nvSpPr>
        <p:spPr>
          <a:xfrm xmlns:a="http://schemas.openxmlformats.org/drawingml/2006/main">
            <a:off x="8858250" y="3771900"/>
            <a:ext cx="2667000" cy="9525"/>
          </a:xfrm>
          <a:prstGeom xmlns:a="http://schemas.openxmlformats.org/drawingml/2006/main" prst="line">
            <a:avLst/>
          </a:prstGeom>
          <a:noFill xmlns:a="http://schemas.openxmlformats.org/drawingml/2006/main"/>
          <a:ln xmlns:a="http://schemas.openxmlformats.org/drawingml/2006/main" w="9525">
            <a:solidFill>
              <a:srgbClr val="8B5CF6">
                <a:alpha val="30000"/>
              </a:srgbClr>
            </a:solidFill>
            <a:prstDash val="solid"/>
          </a:ln>
        </p:spPr>
      </p:sp>
      <p:sp>
        <p:nvSpPr>
          <p:cNvPr id="18" name="">
            <a:extLst xmlns:a="http://schemas.openxmlformats.org/drawingml/2006/main">
              <a:ext uri="{FF2B5EF4-FFF2-40B4-BE49-F238E27FC236}">
                <a16:creationId xmlns:a16="http://schemas.microsoft.com/office/drawing/2014/main" id="{E1B8A45A-9446-422B-B913-65E255CF6B15}"/>
              </a:ext>
            </a:extLst>
          </p:cNvPr>
          <p:cNvSpPr>
            <a:spLocks xmlns:a="http://schemas.openxmlformats.org/drawingml/2006/main" noGrp="1"/>
          </p:cNvSpPr>
          <p:nvPr/>
        </p:nvSpPr>
        <p:spPr>
          <a:xfrm xmlns:a="http://schemas.openxmlformats.org/drawingml/2006/main">
            <a:off x="8877300" y="40576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19" name="">
            <a:extLst xmlns:a="http://schemas.openxmlformats.org/drawingml/2006/main">
              <a:ext uri="{FF2B5EF4-FFF2-40B4-BE49-F238E27FC236}">
                <a16:creationId xmlns:a16="http://schemas.microsoft.com/office/drawing/2014/main" id="{518D2773-6846-4242-AE50-B57A364580E1}"/>
              </a:ext>
            </a:extLst>
          </p:cNvPr>
          <p:cNvSpPr>
            <a:spLocks xmlns:a="http://schemas.openxmlformats.org/drawingml/2006/main" noGrp="1"/>
          </p:cNvSpPr>
          <p:nvPr/>
        </p:nvSpPr>
        <p:spPr>
          <a:xfrm xmlns:a="http://schemas.openxmlformats.org/drawingml/2006/main">
            <a:off x="910590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2,668 episodes at or above 10% APY</a:t>
            </a:r>
          </a:p>
        </p:txBody>
      </p:sp>
      <p:sp>
        <p:nvSpPr>
          <p:cNvPr id="20" name="">
            <a:extLst xmlns:a="http://schemas.openxmlformats.org/drawingml/2006/main">
              <a:ext uri="{FF2B5EF4-FFF2-40B4-BE49-F238E27FC236}">
                <a16:creationId xmlns:a16="http://schemas.microsoft.com/office/drawing/2014/main" id="{6E61D14B-D03B-43F5-B2E1-B26E8356261F}"/>
              </a:ext>
            </a:extLst>
          </p:cNvPr>
          <p:cNvSpPr>
            <a:spLocks xmlns:a="http://schemas.openxmlformats.org/drawingml/2006/main" noGrp="1"/>
          </p:cNvSpPr>
          <p:nvPr/>
        </p:nvSpPr>
        <p:spPr>
          <a:xfrm xmlns:a="http://schemas.openxmlformats.org/drawingml/2006/main">
            <a:off x="8877300" y="461010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21" name="">
            <a:extLst xmlns:a="http://schemas.openxmlformats.org/drawingml/2006/main">
              <a:ext uri="{FF2B5EF4-FFF2-40B4-BE49-F238E27FC236}">
                <a16:creationId xmlns:a16="http://schemas.microsoft.com/office/drawing/2014/main" id="{B4704465-37E7-4816-B92A-08761521FCDE}"/>
              </a:ext>
            </a:extLst>
          </p:cNvPr>
          <p:cNvSpPr>
            <a:spLocks xmlns:a="http://schemas.openxmlformats.org/drawingml/2006/main" noGrp="1"/>
          </p:cNvSpPr>
          <p:nvPr/>
        </p:nvSpPr>
        <p:spPr>
          <a:xfrm xmlns:a="http://schemas.openxmlformats.org/drawingml/2006/main">
            <a:off x="910590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Median duration: 2 days</a:t>
            </a:r>
          </a:p>
        </p:txBody>
      </p:sp>
      <p:sp>
        <p:nvSpPr>
          <p:cNvPr id="22" name="">
            <a:extLst xmlns:a="http://schemas.openxmlformats.org/drawingml/2006/main">
              <a:ext uri="{FF2B5EF4-FFF2-40B4-BE49-F238E27FC236}">
                <a16:creationId xmlns:a16="http://schemas.microsoft.com/office/drawing/2014/main" id="{9420F42F-F6D8-4486-BCF5-A36B3ED4E259}"/>
              </a:ext>
            </a:extLst>
          </p:cNvPr>
          <p:cNvSpPr>
            <a:spLocks xmlns:a="http://schemas.openxmlformats.org/drawingml/2006/main" noGrp="1"/>
          </p:cNvSpPr>
          <p:nvPr/>
        </p:nvSpPr>
        <p:spPr>
          <a:xfrm xmlns:a="http://schemas.openxmlformats.org/drawingml/2006/main">
            <a:off x="8877300" y="51625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23" name="">
            <a:extLst xmlns:a="http://schemas.openxmlformats.org/drawingml/2006/main">
              <a:ext uri="{FF2B5EF4-FFF2-40B4-BE49-F238E27FC236}">
                <a16:creationId xmlns:a16="http://schemas.microsoft.com/office/drawing/2014/main" id="{6BA252F4-6031-473F-B948-D6F37353B95A}"/>
              </a:ext>
            </a:extLst>
          </p:cNvPr>
          <p:cNvSpPr>
            <a:spLocks xmlns:a="http://schemas.openxmlformats.org/drawingml/2006/main" noGrp="1"/>
          </p:cNvSpPr>
          <p:nvPr/>
        </p:nvSpPr>
        <p:spPr>
          <a:xfrm xmlns:a="http://schemas.openxmlformats.org/drawingml/2006/main">
            <a:off x="910590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6.2% survive beyond 30 days</a:t>
            </a:r>
          </a:p>
        </p:txBody>
      </p:sp>
      <p:sp>
        <p:nvSpPr>
          <p:cNvPr id="24" name="">
            <a:extLst xmlns:a="http://schemas.openxmlformats.org/drawingml/2006/main">
              <a:ext uri="{FF2B5EF4-FFF2-40B4-BE49-F238E27FC236}">
                <a16:creationId xmlns:a16="http://schemas.microsoft.com/office/drawing/2014/main" id="{C9B712AA-CEE3-4E4F-BCAF-5CC3FE403DD9}"/>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 DeFiLlama, CoinGecko fallback checks and protocol documentation. APY is quoted, not realized return.</a:t>
            </a:r>
          </a:p>
        </p:txBody>
      </p:sp>
    </p:spTree>
    <p:extLst>
      <p:ext uri="{BB962C8B-B14F-4D97-AF65-F5344CB8AC3E}">
        <p14:creationId xmlns:p14="http://schemas.microsoft.com/office/powerpoint/2010/main" val="636282381"/>
      </p:ext>
    </p:extLst>
  </p:cSld>
</p:sld>
</file>

<file path=ppt/slides/slide7.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DF490B6-3F25-410F-91DC-58CB23CAEB2C}"/>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D1278DD5-29F6-41EF-AAF2-12E954C18FBE}"/>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4F7CFF"/>
                </a:solidFill>
                <a:latin typeface="Aptos"/>
                <a:ea typeface="Aptos"/>
                <a:cs typeface="Aptos"/>
              </a:defRPr>
            </a:pPr>
            <a:r>
              <a:rPr sz="975" b="1">
                <a:solidFill>
                  <a:srgbClr val="4F7CFF"/>
                </a:solidFill>
                <a:latin typeface="Aptos"/>
                <a:ea typeface="Aptos"/>
                <a:cs typeface="Aptos"/>
              </a:rPr>
              <a:t>RANKING STABILITY</a:t>
            </a:r>
          </a:p>
        </p:txBody>
      </p:sp>
      <p:sp>
        <p:nvSpPr>
          <p:cNvPr id="3" name="">
            <a:extLst xmlns:a="http://schemas.openxmlformats.org/drawingml/2006/main">
              <a:ext uri="{FF2B5EF4-FFF2-40B4-BE49-F238E27FC236}">
                <a16:creationId xmlns:a16="http://schemas.microsoft.com/office/drawing/2014/main" id="{F05EB43C-E5C7-4BE5-A296-DA283AF44C7C}"/>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FD21A948-FD58-4E6D-BB9E-76ABF6D82871}"/>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1F62BA9E-0AB9-486B-BE5B-40C6112277D9}"/>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103FAFF-AE4A-4C07-A536-F3B388129702}"/>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C3B535DE-55E9-4EFB-A3AE-896565C9178F}"/>
              </a:ext>
            </a:extLst>
          </p:cNvPr>
          <p:cNvSpPr>
            <a:spLocks xmlns:a="http://schemas.openxmlformats.org/drawingml/2006/main" noGrp="1"/>
          </p:cNvSpPr>
          <p:nvPr/>
        </p:nvSpPr>
        <p:spPr>
          <a:xfrm xmlns:a="http://schemas.openxmlformats.org/drawingml/2006/main">
            <a:off x="8420100" y="6486525"/>
            <a:ext cx="1372721"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59FA99E5-BEE3-48F8-95E3-FF8D1E9072C2}"/>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Top-yield membership changes with horizon</a:t>
            </a:r>
          </a:p>
        </p:txBody>
      </p:sp>
      <p:sp>
        <p:nvSpPr>
          <p:cNvPr id="9" name="">
            <a:extLst xmlns:a="http://schemas.openxmlformats.org/drawingml/2006/main">
              <a:ext uri="{FF2B5EF4-FFF2-40B4-BE49-F238E27FC236}">
                <a16:creationId xmlns:a16="http://schemas.microsoft.com/office/drawing/2014/main" id="{3A49ACA5-C353-4D50-B9D1-58F653AFEA02}"/>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Do top-yield pools stay at the top?</a:t>
            </a:r>
          </a:p>
        </p:txBody>
      </p:sp>
      <p:sp>
        <p:nvSpPr>
          <p:cNvPr id="10" name="">
            <a:extLst xmlns:a="http://schemas.openxmlformats.org/drawingml/2006/main">
              <a:ext uri="{FF2B5EF4-FFF2-40B4-BE49-F238E27FC236}">
                <a16:creationId xmlns:a16="http://schemas.microsoft.com/office/drawing/2014/main" id="{9EF8E91C-2202-43A2-9614-DFE52333323C}"/>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1D9BBC8-EABF-4707-AA0C-615D00ABE0FD}"/>
              </a:ext>
            </a:extLst>
          </p:cNvPr>
          <p:cNvSpPr>
            <a:spLocks xmlns:a="http://schemas.openxmlformats.org/drawingml/2006/main" noGrp="1"/>
          </p:cNvSpPr>
          <p:nvPr/>
        </p:nvSpPr>
        <p:spPr>
          <a:xfrm xmlns:a="http://schemas.openxmlformats.org/drawingml/2006/main">
            <a:off x="4019550" y="1943100"/>
            <a:ext cx="819150" cy="57150"/>
          </a:xfrm>
          <a:prstGeom xmlns:a="http://schemas.openxmlformats.org/drawingml/2006/main" prst="roundRect">
            <a:avLst>
              <a:gd name="adj" fmla="val 50000"/>
            </a:avLst>
          </a:prstGeom>
          <a:gradFill xmlns:a="http://schemas.openxmlformats.org/drawingml/2006/main">
            <a:gsLst>
              <a:gs pos="0">
                <a:srgbClr val="4F7CFF"/>
              </a:gs>
              <a:gs pos="100000">
                <a:srgbClr val="23C9D8"/>
              </a:gs>
            </a:gsLst>
            <a:lin ang="0"/>
          </a:gradFill>
          <a:ln xmlns:a="http://schemas.openxmlformats.org/drawingml/2006/main" w="0">
            <a:gradFill>
              <a:gsLst>
                <a:gs pos="0">
                  <a:srgbClr val="4F7CFF"/>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d1b06e0e0674a18"/>
          <a:stretch xmlns:a="http://schemas.openxmlformats.org/drawingml/2006/main"/>
        </p:blipFill>
        <p:spPr>
          <a:xfrm xmlns:a="http://schemas.openxmlformats.org/drawingml/2006/main">
            <a:off x="3981450" y="2128457"/>
            <a:ext cx="7600950" cy="3496437"/>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188C59C8-3E21-4FDB-805E-FEE863B70E1B}"/>
              </a:ext>
            </a:extLst>
          </p:cNvPr>
          <p:cNvSpPr>
            <a:spLocks xmlns:a="http://schemas.openxmlformats.org/drawingml/2006/main" noGrp="1"/>
          </p:cNvSpPr>
          <p:nvPr/>
        </p:nvSpPr>
        <p:spPr>
          <a:xfrm xmlns:a="http://schemas.openxmlformats.org/drawingml/2006/main">
            <a:off x="419100" y="1771650"/>
            <a:ext cx="3124200" cy="4057650"/>
          </a:xfrm>
          <a:prstGeom xmlns:a="http://schemas.openxmlformats.org/drawingml/2006/main" prst="roundRect">
            <a:avLst>
              <a:gd name="adj" fmla="val 7927"/>
            </a:avLst>
          </a:prstGeom>
          <a:gradFill xmlns:a="http://schemas.openxmlformats.org/drawingml/2006/main">
            <a:gsLst>
              <a:gs pos="0">
                <a:srgbClr val="4F7CFF">
                  <a:alpha val="17000"/>
                </a:srgbClr>
              </a:gs>
              <a:gs pos="74000">
                <a:srgbClr val="FFFFFF"/>
              </a:gs>
            </a:gsLst>
            <a:lin ang="8700000"/>
          </a:gradFill>
          <a:ln xmlns:a="http://schemas.openxmlformats.org/drawingml/2006/main" w="9525">
            <a:solidFill>
              <a:srgbClr val="4F7CFF">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B9C024E8-2E87-43BA-B117-DD5CD9179CAC}"/>
              </a:ext>
            </a:extLst>
          </p:cNvPr>
          <p:cNvSpPr>
            <a:spLocks xmlns:a="http://schemas.openxmlformats.org/drawingml/2006/main" noGrp="1"/>
          </p:cNvSpPr>
          <p:nvPr/>
        </p:nvSpPr>
        <p:spPr>
          <a:xfrm xmlns:a="http://schemas.openxmlformats.org/drawingml/2006/main">
            <a:off x="647700" y="1981200"/>
            <a:ext cx="1733550" cy="304800"/>
          </a:xfrm>
          <a:prstGeom xmlns:a="http://schemas.openxmlformats.org/drawingml/2006/main" prst="roundRect">
            <a:avLst>
              <a:gd name="adj" fmla="val 50000"/>
            </a:avLst>
          </a:prstGeom>
          <a:solidFill xmlns:a="http://schemas.openxmlformats.org/drawingml/2006/main">
            <a:srgbClr val="4F7CFF">
              <a:alpha val="15000"/>
            </a:srgbClr>
          </a:solidFill>
          <a:ln xmlns:a="http://schemas.openxmlformats.org/drawingml/2006/main" w="9525">
            <a:solidFill>
              <a:srgbClr val="4F7CFF">
                <a:alpha val="22000"/>
              </a:srgbClr>
            </a:solidFill>
            <a:prstDash val="solid"/>
          </a:ln>
        </p:spPr>
      </p:sp>
      <p:sp>
        <p:nvSpPr>
          <p:cNvPr id="15" name="">
            <a:extLst xmlns:a="http://schemas.openxmlformats.org/drawingml/2006/main">
              <a:ext uri="{FF2B5EF4-FFF2-40B4-BE49-F238E27FC236}">
                <a16:creationId xmlns:a16="http://schemas.microsoft.com/office/drawing/2014/main" id="{EA47D3A4-9173-4304-AF83-7E8CE229DA89}"/>
              </a:ext>
            </a:extLst>
          </p:cNvPr>
          <p:cNvSpPr>
            <a:spLocks xmlns:a="http://schemas.openxmlformats.org/drawingml/2006/main" noGrp="1"/>
          </p:cNvSpPr>
          <p:nvPr/>
        </p:nvSpPr>
        <p:spPr>
          <a:xfrm xmlns:a="http://schemas.openxmlformats.org/drawingml/2006/main">
            <a:off x="76200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4F7CFF"/>
                </a:solidFill>
                <a:latin typeface="Aptos"/>
                <a:ea typeface="Aptos"/>
                <a:cs typeface="Aptos"/>
              </a:defRPr>
            </a:pPr>
            <a:r>
              <a:rPr sz="975" b="1">
                <a:solidFill>
                  <a:srgbClr val="4F7CFF"/>
                </a:solidFill>
                <a:latin typeface="Aptos"/>
                <a:ea typeface="Aptos"/>
                <a:cs typeface="Aptos"/>
              </a:rPr>
              <a:t>WEIGHTED AVERAGE</a:t>
            </a:r>
          </a:p>
        </p:txBody>
      </p:sp>
      <p:sp>
        <p:nvSpPr>
          <p:cNvPr id="16" name="">
            <a:extLst xmlns:a="http://schemas.openxmlformats.org/drawingml/2006/main">
              <a:ext uri="{FF2B5EF4-FFF2-40B4-BE49-F238E27FC236}">
                <a16:creationId xmlns:a16="http://schemas.microsoft.com/office/drawing/2014/main" id="{139CE3F7-1A4E-47A0-B868-C8F889095DF8}"/>
              </a:ext>
            </a:extLst>
          </p:cNvPr>
          <p:cNvSpPr>
            <a:spLocks xmlns:a="http://schemas.openxmlformats.org/drawingml/2006/main" noGrp="1"/>
          </p:cNvSpPr>
          <p:nvPr/>
        </p:nvSpPr>
        <p:spPr>
          <a:xfrm xmlns:a="http://schemas.openxmlformats.org/drawingml/2006/main">
            <a:off x="64770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Weighted by valid date × top-k comparisons, churn rises from 13.5% after 1 day to 33.3% after 30 days.</a:t>
            </a:r>
          </a:p>
        </p:txBody>
      </p:sp>
      <p:sp>
        <p:nvSpPr>
          <p:cNvPr id="17" name="">
            <a:extLst xmlns:a="http://schemas.openxmlformats.org/drawingml/2006/main">
              <a:ext uri="{FF2B5EF4-FFF2-40B4-BE49-F238E27FC236}">
                <a16:creationId xmlns:a16="http://schemas.microsoft.com/office/drawing/2014/main" id="{16BA1DB1-2AD4-42E3-AD83-23E426070019}"/>
              </a:ext>
            </a:extLst>
          </p:cNvPr>
          <p:cNvSpPr>
            <a:spLocks xmlns:a="http://schemas.openxmlformats.org/drawingml/2006/main" noGrp="1"/>
          </p:cNvSpPr>
          <p:nvPr/>
        </p:nvSpPr>
        <p:spPr>
          <a:xfrm xmlns:a="http://schemas.openxmlformats.org/drawingml/2006/main">
            <a:off x="647700" y="3771900"/>
            <a:ext cx="2667000" cy="9525"/>
          </a:xfrm>
          <a:prstGeom xmlns:a="http://schemas.openxmlformats.org/drawingml/2006/main" prst="line">
            <a:avLst/>
          </a:prstGeom>
          <a:noFill xmlns:a="http://schemas.openxmlformats.org/drawingml/2006/main"/>
          <a:ln xmlns:a="http://schemas.openxmlformats.org/drawingml/2006/main" w="9525">
            <a:solidFill>
              <a:srgbClr val="4F7CFF">
                <a:alpha val="30000"/>
              </a:srgbClr>
            </a:solidFill>
            <a:prstDash val="solid"/>
          </a:ln>
        </p:spPr>
      </p:sp>
      <p:sp>
        <p:nvSpPr>
          <p:cNvPr id="18" name="">
            <a:extLst xmlns:a="http://schemas.openxmlformats.org/drawingml/2006/main">
              <a:ext uri="{FF2B5EF4-FFF2-40B4-BE49-F238E27FC236}">
                <a16:creationId xmlns:a16="http://schemas.microsoft.com/office/drawing/2014/main" id="{00E01B21-A70A-4BE4-8CF9-93A49BCD7A8C}"/>
              </a:ext>
            </a:extLst>
          </p:cNvPr>
          <p:cNvSpPr>
            <a:spLocks xmlns:a="http://schemas.openxmlformats.org/drawingml/2006/main" noGrp="1"/>
          </p:cNvSpPr>
          <p:nvPr/>
        </p:nvSpPr>
        <p:spPr>
          <a:xfrm xmlns:a="http://schemas.openxmlformats.org/drawingml/2006/main">
            <a:off x="666750" y="405765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19" name="">
            <a:extLst xmlns:a="http://schemas.openxmlformats.org/drawingml/2006/main">
              <a:ext uri="{FF2B5EF4-FFF2-40B4-BE49-F238E27FC236}">
                <a16:creationId xmlns:a16="http://schemas.microsoft.com/office/drawing/2014/main" id="{A75A95C6-C1F4-4C0A-96A0-CFB806FE2D47}"/>
              </a:ext>
            </a:extLst>
          </p:cNvPr>
          <p:cNvSpPr>
            <a:spLocks xmlns:a="http://schemas.openxmlformats.org/drawingml/2006/main" noGrp="1"/>
          </p:cNvSpPr>
          <p:nvPr/>
        </p:nvSpPr>
        <p:spPr>
          <a:xfrm xmlns:a="http://schemas.openxmlformats.org/drawingml/2006/main">
            <a:off x="89535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1 day: 13.5% (n=2,669)</a:t>
            </a:r>
          </a:p>
        </p:txBody>
      </p:sp>
      <p:sp>
        <p:nvSpPr>
          <p:cNvPr id="20" name="">
            <a:extLst xmlns:a="http://schemas.openxmlformats.org/drawingml/2006/main">
              <a:ext uri="{FF2B5EF4-FFF2-40B4-BE49-F238E27FC236}">
                <a16:creationId xmlns:a16="http://schemas.microsoft.com/office/drawing/2014/main" id="{C3D448B8-1B4B-4655-A501-1826F0C81949}"/>
              </a:ext>
            </a:extLst>
          </p:cNvPr>
          <p:cNvSpPr>
            <a:spLocks xmlns:a="http://schemas.openxmlformats.org/drawingml/2006/main" noGrp="1"/>
          </p:cNvSpPr>
          <p:nvPr/>
        </p:nvSpPr>
        <p:spPr>
          <a:xfrm xmlns:a="http://schemas.openxmlformats.org/drawingml/2006/main">
            <a:off x="666750" y="461010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21" name="">
            <a:extLst xmlns:a="http://schemas.openxmlformats.org/drawingml/2006/main">
              <a:ext uri="{FF2B5EF4-FFF2-40B4-BE49-F238E27FC236}">
                <a16:creationId xmlns:a16="http://schemas.microsoft.com/office/drawing/2014/main" id="{CF378EAE-66EB-4AA2-8126-87D3146C041D}"/>
              </a:ext>
            </a:extLst>
          </p:cNvPr>
          <p:cNvSpPr>
            <a:spLocks xmlns:a="http://schemas.openxmlformats.org/drawingml/2006/main" noGrp="1"/>
          </p:cNvSpPr>
          <p:nvPr/>
        </p:nvSpPr>
        <p:spPr>
          <a:xfrm xmlns:a="http://schemas.openxmlformats.org/drawingml/2006/main">
            <a:off x="89535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7 days: 23.6% (n=2,657)</a:t>
            </a:r>
          </a:p>
        </p:txBody>
      </p:sp>
      <p:sp>
        <p:nvSpPr>
          <p:cNvPr id="22" name="">
            <a:extLst xmlns:a="http://schemas.openxmlformats.org/drawingml/2006/main">
              <a:ext uri="{FF2B5EF4-FFF2-40B4-BE49-F238E27FC236}">
                <a16:creationId xmlns:a16="http://schemas.microsoft.com/office/drawing/2014/main" id="{C101A0D7-0ED2-4D23-A1FA-3F1969190BD2}"/>
              </a:ext>
            </a:extLst>
          </p:cNvPr>
          <p:cNvSpPr>
            <a:spLocks xmlns:a="http://schemas.openxmlformats.org/drawingml/2006/main" noGrp="1"/>
          </p:cNvSpPr>
          <p:nvPr/>
        </p:nvSpPr>
        <p:spPr>
          <a:xfrm xmlns:a="http://schemas.openxmlformats.org/drawingml/2006/main">
            <a:off x="666750" y="516255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23" name="">
            <a:extLst xmlns:a="http://schemas.openxmlformats.org/drawingml/2006/main">
              <a:ext uri="{FF2B5EF4-FFF2-40B4-BE49-F238E27FC236}">
                <a16:creationId xmlns:a16="http://schemas.microsoft.com/office/drawing/2014/main" id="{908B545C-A8D7-4131-82A4-CB12E6CD7EDD}"/>
              </a:ext>
            </a:extLst>
          </p:cNvPr>
          <p:cNvSpPr>
            <a:spLocks xmlns:a="http://schemas.openxmlformats.org/drawingml/2006/main" noGrp="1"/>
          </p:cNvSpPr>
          <p:nvPr/>
        </p:nvSpPr>
        <p:spPr>
          <a:xfrm xmlns:a="http://schemas.openxmlformats.org/drawingml/2006/main">
            <a:off x="89535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30 days: 33.3% (n=2,612)</a:t>
            </a:r>
          </a:p>
        </p:txBody>
      </p:sp>
      <p:sp>
        <p:nvSpPr>
          <p:cNvPr id="24" name="">
            <a:extLst xmlns:a="http://schemas.openxmlformats.org/drawingml/2006/main">
              <a:ext uri="{FF2B5EF4-FFF2-40B4-BE49-F238E27FC236}">
                <a16:creationId xmlns:a16="http://schemas.microsoft.com/office/drawing/2014/main" id="{8D8A8ABE-0584-4A15-9AE8-00245BB8CA7D}"/>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 DeFiLlama, CoinGecko fallback checks and protocol documentation. APY is quoted, not realized return.</a:t>
            </a:r>
          </a:p>
        </p:txBody>
      </p:sp>
    </p:spTree>
    <p:extLst>
      <p:ext uri="{BB962C8B-B14F-4D97-AF65-F5344CB8AC3E}">
        <p14:creationId xmlns:p14="http://schemas.microsoft.com/office/powerpoint/2010/main" val="811517130"/>
      </p:ext>
    </p:extLst>
  </p:cSld>
</p:sld>
</file>

<file path=ppt/slides/slide8.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EBC24C4-1E04-4940-BAAA-D48238955BAE}"/>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BBBAD">
              <a:alpha val="13000"/>
            </a:srgbClr>
          </a:solidFill>
          <a:ln xmlns:a="http://schemas.openxmlformats.org/drawingml/2006/main" w="9525">
            <a:solidFill>
              <a:srgbClr val="2BBBAD">
                <a:alpha val="22000"/>
              </a:srgbClr>
            </a:solidFill>
            <a:prstDash val="solid"/>
          </a:ln>
        </p:spPr>
      </p:sp>
      <p:sp>
        <p:nvSpPr>
          <p:cNvPr id="2" name="">
            <a:extLst xmlns:a="http://schemas.openxmlformats.org/drawingml/2006/main">
              <a:ext uri="{FF2B5EF4-FFF2-40B4-BE49-F238E27FC236}">
                <a16:creationId xmlns:a16="http://schemas.microsoft.com/office/drawing/2014/main" id="{4944B765-1F87-43C3-9045-93623DE0557B}"/>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BBBAD"/>
                </a:solidFill>
                <a:latin typeface="Aptos"/>
                <a:ea typeface="Aptos"/>
                <a:cs typeface="Aptos"/>
              </a:defRPr>
            </a:pPr>
            <a:r>
              <a:rPr sz="975" b="1">
                <a:solidFill>
                  <a:srgbClr val="2BBBAD"/>
                </a:solidFill>
                <a:latin typeface="Aptos"/>
                <a:ea typeface="Aptos"/>
                <a:cs typeface="Aptos"/>
              </a:rPr>
              <a:t>MECHANISMS</a:t>
            </a:r>
          </a:p>
        </p:txBody>
      </p:sp>
      <p:sp>
        <p:nvSpPr>
          <p:cNvPr id="3" name="">
            <a:extLst xmlns:a="http://schemas.openxmlformats.org/drawingml/2006/main">
              <a:ext uri="{FF2B5EF4-FFF2-40B4-BE49-F238E27FC236}">
                <a16:creationId xmlns:a16="http://schemas.microsoft.com/office/drawing/2014/main" id="{F6B65996-88A0-4925-9580-8B4CDD3A3B48}"/>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9525">
            <a:solidFill>
              <a:srgbClr val="2BBBAD">
                <a:alpha val="22000"/>
              </a:srgbClr>
            </a:solidFill>
            <a:prstDash val="solid"/>
          </a:ln>
        </p:spPr>
      </p:sp>
      <p:sp>
        <p:nvSpPr>
          <p:cNvPr id="4" name="">
            <a:extLst xmlns:a="http://schemas.openxmlformats.org/drawingml/2006/main">
              <a:ext uri="{FF2B5EF4-FFF2-40B4-BE49-F238E27FC236}">
                <a16:creationId xmlns:a16="http://schemas.microsoft.com/office/drawing/2014/main" id="{FA27D67E-315A-47F9-821B-023B6A8F5C09}"/>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EC2BC867-78F3-449F-B08C-C8F7191E543D}"/>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A5497A7-0FAD-4E1C-B3A3-463803315283}"/>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3556F41B-BD9A-418C-9951-AA3F130C8C58}"/>
              </a:ext>
            </a:extLst>
          </p:cNvPr>
          <p:cNvSpPr>
            <a:spLocks xmlns:a="http://schemas.openxmlformats.org/drawingml/2006/main" noGrp="1"/>
          </p:cNvSpPr>
          <p:nvPr/>
        </p:nvSpPr>
        <p:spPr>
          <a:xfrm xmlns:a="http://schemas.openxmlformats.org/drawingml/2006/main">
            <a:off x="8420100" y="6486525"/>
            <a:ext cx="1568824" cy="381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8" name="">
            <a:extLst xmlns:a="http://schemas.openxmlformats.org/drawingml/2006/main">
              <a:ext uri="{FF2B5EF4-FFF2-40B4-BE49-F238E27FC236}">
                <a16:creationId xmlns:a16="http://schemas.microsoft.com/office/drawing/2014/main" id="{C579CBC4-CC8C-48B9-B2A9-B948619B9801}"/>
              </a:ext>
            </a:extLst>
          </p:cNvPr>
          <p:cNvSpPr>
            <a:spLocks xmlns:a="http://schemas.openxmlformats.org/drawingml/2006/main" noGrp="1"/>
          </p:cNvSpPr>
          <p:nvPr/>
        </p:nvSpPr>
        <p:spPr>
          <a:xfrm xmlns:a="http://schemas.openxmlformats.org/drawingml/2006/main">
            <a:off x="419100" y="7620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Mechanism changes what headline APY means</a:t>
            </a:r>
          </a:p>
        </p:txBody>
      </p:sp>
      <p:sp>
        <p:nvSpPr>
          <p:cNvPr id="9" name="">
            <a:extLst xmlns:a="http://schemas.openxmlformats.org/drawingml/2006/main">
              <a:ext uri="{FF2B5EF4-FFF2-40B4-BE49-F238E27FC236}">
                <a16:creationId xmlns:a16="http://schemas.microsoft.com/office/drawing/2014/main" id="{2EC54266-3774-48FA-B373-43D9945BB644}"/>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What sits behind headline APY?</a:t>
            </a:r>
          </a:p>
        </p:txBody>
      </p:sp>
      <p:sp>
        <p:nvSpPr>
          <p:cNvPr id="10" name="">
            <a:extLst xmlns:a="http://schemas.openxmlformats.org/drawingml/2006/main">
              <a:ext uri="{FF2B5EF4-FFF2-40B4-BE49-F238E27FC236}">
                <a16:creationId xmlns:a16="http://schemas.microsoft.com/office/drawing/2014/main" id="{82BCAF5F-A2C3-4DDE-9AF5-365D1274A2AC}"/>
              </a:ext>
            </a:extLst>
          </p:cNvPr>
          <p:cNvSpPr>
            <a:spLocks xmlns:a="http://schemas.openxmlformats.org/drawingml/2006/main" noGrp="1"/>
          </p:cNvSpPr>
          <p:nvPr/>
        </p:nvSpPr>
        <p:spPr>
          <a:xfrm xmlns:a="http://schemas.openxmlformats.org/drawingml/2006/main">
            <a:off x="419100" y="1771650"/>
            <a:ext cx="75247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3835EC8-9AFC-4C9F-B808-6883B5AB0FA7}"/>
              </a:ext>
            </a:extLst>
          </p:cNvPr>
          <p:cNvSpPr>
            <a:spLocks xmlns:a="http://schemas.openxmlformats.org/drawingml/2006/main" noGrp="1"/>
          </p:cNvSpPr>
          <p:nvPr/>
        </p:nvSpPr>
        <p:spPr>
          <a:xfrm xmlns:a="http://schemas.openxmlformats.org/drawingml/2006/main">
            <a:off x="685800" y="19812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Median APY components by pool type</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ffd6bfd14904e0b"/>
          <a:stretch xmlns:a="http://schemas.openxmlformats.org/drawingml/2006/main"/>
        </p:blipFill>
        <p:spPr>
          <a:xfrm xmlns:a="http://schemas.openxmlformats.org/drawingml/2006/main">
            <a:off x="666750" y="2362200"/>
            <a:ext cx="6953250" cy="3105150"/>
          </a:xfrm>
          <a:prstGeom xmlns:a="http://schemas.openxmlformats.org/drawingml/2006/main" prst="roundRect">
            <a:avLst>
              <a:gd name="adj" fmla="val 4908"/>
            </a:avLst>
          </a:prstGeom>
        </p:spPr>
      </p:pic>
      <p:sp>
        <p:nvSpPr>
          <p:cNvPr id="13" name="">
            <a:extLst xmlns:a="http://schemas.openxmlformats.org/drawingml/2006/main">
              <a:ext uri="{FF2B5EF4-FFF2-40B4-BE49-F238E27FC236}">
                <a16:creationId xmlns:a16="http://schemas.microsoft.com/office/drawing/2014/main" id="{3041920C-CB3F-47F2-ACDD-10BC56936424}"/>
              </a:ext>
            </a:extLst>
          </p:cNvPr>
          <p:cNvSpPr>
            <a:spLocks xmlns:a="http://schemas.openxmlformats.org/drawingml/2006/main" noGrp="1"/>
          </p:cNvSpPr>
          <p:nvPr/>
        </p:nvSpPr>
        <p:spPr>
          <a:xfrm xmlns:a="http://schemas.openxmlformats.org/drawingml/2006/main">
            <a:off x="8191500" y="1771650"/>
            <a:ext cx="3562350" cy="4057650"/>
          </a:xfrm>
          <a:prstGeom xmlns:a="http://schemas.openxmlformats.org/drawingml/2006/main" prst="roundRect">
            <a:avLst>
              <a:gd name="adj" fmla="val 6952"/>
            </a:avLst>
          </a:prstGeom>
          <a:gradFill xmlns:a="http://schemas.openxmlformats.org/drawingml/2006/main">
            <a:gsLst>
              <a:gs pos="0">
                <a:srgbClr val="2BBBAD">
                  <a:alpha val="18000"/>
                </a:srgbClr>
              </a:gs>
              <a:gs pos="78000">
                <a:srgbClr val="FFFFFF"/>
              </a:gs>
            </a:gsLst>
            <a:lin ang="8700000"/>
          </a:gradFill>
          <a:ln xmlns:a="http://schemas.openxmlformats.org/drawingml/2006/main" w="9525">
            <a:solidFill>
              <a:srgbClr val="2BBBA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1EBCBF7-9971-46A1-870E-2A8F67DCFCAD}"/>
              </a:ext>
            </a:extLst>
          </p:cNvPr>
          <p:cNvSpPr>
            <a:spLocks xmlns:a="http://schemas.openxmlformats.org/drawingml/2006/main" noGrp="1"/>
          </p:cNvSpPr>
          <p:nvPr/>
        </p:nvSpPr>
        <p:spPr>
          <a:xfrm xmlns:a="http://schemas.openxmlformats.org/drawingml/2006/main">
            <a:off x="8439150" y="2000250"/>
            <a:ext cx="1752600" cy="304800"/>
          </a:xfrm>
          <a:prstGeom xmlns:a="http://schemas.openxmlformats.org/drawingml/2006/main" prst="roundRect">
            <a:avLst>
              <a:gd name="adj" fmla="val 50000"/>
            </a:avLst>
          </a:prstGeom>
          <a:solidFill xmlns:a="http://schemas.openxmlformats.org/drawingml/2006/main">
            <a:srgbClr val="2BBBAD">
              <a:alpha val="15000"/>
            </a:srgbClr>
          </a:solidFill>
          <a:ln xmlns:a="http://schemas.openxmlformats.org/drawingml/2006/main" w="9525">
            <a:solidFill>
              <a:srgbClr val="2BBBAD">
                <a:alpha val="22000"/>
              </a:srgbClr>
            </a:solidFill>
            <a:prstDash val="solid"/>
          </a:ln>
        </p:spPr>
      </p:sp>
      <p:sp>
        <p:nvSpPr>
          <p:cNvPr id="15" name="">
            <a:extLst xmlns:a="http://schemas.openxmlformats.org/drawingml/2006/main">
              <a:ext uri="{FF2B5EF4-FFF2-40B4-BE49-F238E27FC236}">
                <a16:creationId xmlns:a16="http://schemas.microsoft.com/office/drawing/2014/main" id="{3CDA7B9B-16F0-4BAB-8517-3A4954E3B382}"/>
              </a:ext>
            </a:extLst>
          </p:cNvPr>
          <p:cNvSpPr>
            <a:spLocks xmlns:a="http://schemas.openxmlformats.org/drawingml/2006/main" noGrp="1"/>
          </p:cNvSpPr>
          <p:nvPr/>
        </p:nvSpPr>
        <p:spPr>
          <a:xfrm xmlns:a="http://schemas.openxmlformats.org/drawingml/2006/main">
            <a:off x="8553450" y="20097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BBBAD"/>
                </a:solidFill>
                <a:latin typeface="Aptos"/>
                <a:ea typeface="Aptos"/>
                <a:cs typeface="Aptos"/>
              </a:defRPr>
            </a:pPr>
            <a:r>
              <a:rPr sz="975" b="1">
                <a:solidFill>
                  <a:srgbClr val="2BBBAD"/>
                </a:solidFill>
                <a:latin typeface="Aptos"/>
                <a:ea typeface="Aptos"/>
                <a:cs typeface="Aptos"/>
              </a:rPr>
              <a:t>INTERPRETATION</a:t>
            </a:r>
          </a:p>
        </p:txBody>
      </p:sp>
      <p:sp>
        <p:nvSpPr>
          <p:cNvPr id="16" name="">
            <a:extLst xmlns:a="http://schemas.openxmlformats.org/drawingml/2006/main">
              <a:ext uri="{FF2B5EF4-FFF2-40B4-BE49-F238E27FC236}">
                <a16:creationId xmlns:a16="http://schemas.microsoft.com/office/drawing/2014/main" id="{72997B98-D99C-4E73-A0C3-D89C37092127}"/>
              </a:ext>
            </a:extLst>
          </p:cNvPr>
          <p:cNvSpPr>
            <a:spLocks xmlns:a="http://schemas.openxmlformats.org/drawingml/2006/main" noGrp="1"/>
          </p:cNvSpPr>
          <p:nvPr/>
        </p:nvSpPr>
        <p:spPr>
          <a:xfrm xmlns:a="http://schemas.openxmlformats.org/drawingml/2006/main">
            <a:off x="8439150" y="2514600"/>
            <a:ext cx="2876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Components prevent false equivalence</a:t>
            </a:r>
          </a:p>
        </p:txBody>
      </p:sp>
      <p:sp>
        <p:nvSpPr>
          <p:cNvPr id="17" name="">
            <a:extLst xmlns:a="http://schemas.openxmlformats.org/drawingml/2006/main">
              <a:ext uri="{FF2B5EF4-FFF2-40B4-BE49-F238E27FC236}">
                <a16:creationId xmlns:a16="http://schemas.microsoft.com/office/drawing/2014/main" id="{7EFE037F-ADF8-4490-A5F4-7F47CE8D49E5}"/>
              </a:ext>
            </a:extLst>
          </p:cNvPr>
          <p:cNvSpPr>
            <a:spLocks xmlns:a="http://schemas.openxmlformats.org/drawingml/2006/main" noGrp="1"/>
          </p:cNvSpPr>
          <p:nvPr/>
        </p:nvSpPr>
        <p:spPr>
          <a:xfrm xmlns:a="http://schemas.openxmlformats.org/drawingml/2006/main">
            <a:off x="8439150" y="3314700"/>
            <a:ext cx="2876550" cy="9525"/>
          </a:xfrm>
          <a:prstGeom xmlns:a="http://schemas.openxmlformats.org/drawingml/2006/main" prst="line">
            <a:avLst/>
          </a:prstGeom>
          <a:noFill xmlns:a="http://schemas.openxmlformats.org/drawingml/2006/main"/>
          <a:ln xmlns:a="http://schemas.openxmlformats.org/drawingml/2006/main" w="9525">
            <a:solidFill>
              <a:srgbClr val="2BBBAD">
                <a:alpha val="28000"/>
              </a:srgbClr>
            </a:solidFill>
            <a:prstDash val="solid"/>
          </a:ln>
        </p:spPr>
      </p:sp>
      <p:sp>
        <p:nvSpPr>
          <p:cNvPr id="18" name="">
            <a:extLst xmlns:a="http://schemas.openxmlformats.org/drawingml/2006/main">
              <a:ext uri="{FF2B5EF4-FFF2-40B4-BE49-F238E27FC236}">
                <a16:creationId xmlns:a16="http://schemas.microsoft.com/office/drawing/2014/main" id="{273A8D97-07FC-466C-B734-31CDC4132183}"/>
              </a:ext>
            </a:extLst>
          </p:cNvPr>
          <p:cNvSpPr>
            <a:spLocks xmlns:a="http://schemas.openxmlformats.org/drawingml/2006/main" noGrp="1"/>
          </p:cNvSpPr>
          <p:nvPr/>
        </p:nvSpPr>
        <p:spPr>
          <a:xfrm xmlns:a="http://schemas.openxmlformats.org/drawingml/2006/main">
            <a:off x="8458200" y="35623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4F7CFF"/>
                </a:solidFill>
                <a:latin typeface="Aptos"/>
                <a:ea typeface="Aptos"/>
                <a:cs typeface="Aptos"/>
              </a:defRPr>
            </a:pPr>
            <a:r>
              <a:rPr sz="1725" b="1">
                <a:solidFill>
                  <a:srgbClr val="4F7CFF"/>
                </a:solidFill>
                <a:latin typeface="Aptos"/>
                <a:ea typeface="Aptos"/>
                <a:cs typeface="Aptos"/>
              </a:rPr>
              <a:t>90.3%</a:t>
            </a:r>
          </a:p>
        </p:txBody>
      </p:sp>
      <p:sp>
        <p:nvSpPr>
          <p:cNvPr id="19" name="">
            <a:extLst xmlns:a="http://schemas.openxmlformats.org/drawingml/2006/main">
              <a:ext uri="{FF2B5EF4-FFF2-40B4-BE49-F238E27FC236}">
                <a16:creationId xmlns:a16="http://schemas.microsoft.com/office/drawing/2014/main" id="{79CFE255-DB7A-4F4A-9CDE-55D4A135AFF0}"/>
              </a:ext>
            </a:extLst>
          </p:cNvPr>
          <p:cNvSpPr>
            <a:spLocks xmlns:a="http://schemas.openxmlformats.org/drawingml/2006/main" noGrp="1"/>
          </p:cNvSpPr>
          <p:nvPr/>
        </p:nvSpPr>
        <p:spPr>
          <a:xfrm xmlns:a="http://schemas.openxmlformats.org/drawingml/2006/main">
            <a:off x="9639300" y="35814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Base APY coverage</a:t>
            </a:r>
          </a:p>
        </p:txBody>
      </p:sp>
      <p:sp>
        <p:nvSpPr>
          <p:cNvPr id="20" name="">
            <a:extLst xmlns:a="http://schemas.openxmlformats.org/drawingml/2006/main">
              <a:ext uri="{FF2B5EF4-FFF2-40B4-BE49-F238E27FC236}">
                <a16:creationId xmlns:a16="http://schemas.microsoft.com/office/drawing/2014/main" id="{0CB03790-7D8E-4AC1-BD93-66864A8EAA9A}"/>
              </a:ext>
            </a:extLst>
          </p:cNvPr>
          <p:cNvSpPr>
            <a:spLocks xmlns:a="http://schemas.openxmlformats.org/drawingml/2006/main" noGrp="1"/>
          </p:cNvSpPr>
          <p:nvPr/>
        </p:nvSpPr>
        <p:spPr>
          <a:xfrm xmlns:a="http://schemas.openxmlformats.org/drawingml/2006/main">
            <a:off x="8458200" y="41910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6B9D"/>
                </a:solidFill>
                <a:latin typeface="Aptos"/>
                <a:ea typeface="Aptos"/>
                <a:cs typeface="Aptos"/>
              </a:defRPr>
            </a:pPr>
            <a:r>
              <a:rPr sz="1725" b="1">
                <a:solidFill>
                  <a:srgbClr val="FF6B9D"/>
                </a:solidFill>
                <a:latin typeface="Aptos"/>
                <a:ea typeface="Aptos"/>
                <a:cs typeface="Aptos"/>
              </a:rPr>
              <a:t>61.6%</a:t>
            </a:r>
          </a:p>
        </p:txBody>
      </p:sp>
      <p:sp>
        <p:nvSpPr>
          <p:cNvPr id="21" name="">
            <a:extLst xmlns:a="http://schemas.openxmlformats.org/drawingml/2006/main">
              <a:ext uri="{FF2B5EF4-FFF2-40B4-BE49-F238E27FC236}">
                <a16:creationId xmlns:a16="http://schemas.microsoft.com/office/drawing/2014/main" id="{2E157536-4540-4DAD-88B2-FEF48DCFF609}"/>
              </a:ext>
            </a:extLst>
          </p:cNvPr>
          <p:cNvSpPr>
            <a:spLocks xmlns:a="http://schemas.openxmlformats.org/drawingml/2006/main" noGrp="1"/>
          </p:cNvSpPr>
          <p:nvPr/>
        </p:nvSpPr>
        <p:spPr>
          <a:xfrm xmlns:a="http://schemas.openxmlformats.org/drawingml/2006/main">
            <a:off x="9639300" y="42100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Reward APY coverage</a:t>
            </a:r>
          </a:p>
        </p:txBody>
      </p:sp>
      <p:sp>
        <p:nvSpPr>
          <p:cNvPr id="22" name="">
            <a:extLst xmlns:a="http://schemas.openxmlformats.org/drawingml/2006/main">
              <a:ext uri="{FF2B5EF4-FFF2-40B4-BE49-F238E27FC236}">
                <a16:creationId xmlns:a16="http://schemas.microsoft.com/office/drawing/2014/main" id="{5C898C93-89BD-4CF7-9715-F356471F6E1A}"/>
              </a:ext>
            </a:extLst>
          </p:cNvPr>
          <p:cNvSpPr>
            <a:spLocks xmlns:a="http://schemas.openxmlformats.org/drawingml/2006/main" noGrp="1"/>
          </p:cNvSpPr>
          <p:nvPr/>
        </p:nvSpPr>
        <p:spPr>
          <a:xfrm xmlns:a="http://schemas.openxmlformats.org/drawingml/2006/main">
            <a:off x="8458200" y="4895850"/>
            <a:ext cx="2819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Reward-heavy pools and lending pools should not be read as the same yield mechanism.</a:t>
            </a:r>
          </a:p>
        </p:txBody>
      </p:sp>
      <p:sp>
        <p:nvSpPr>
          <p:cNvPr id="23" name="">
            <a:extLst xmlns:a="http://schemas.openxmlformats.org/drawingml/2006/main">
              <a:ext uri="{FF2B5EF4-FFF2-40B4-BE49-F238E27FC236}">
                <a16:creationId xmlns:a16="http://schemas.microsoft.com/office/drawing/2014/main" id="{A4A66466-ECB9-4F25-A5F1-06A8740622D1}"/>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Sources: DeFiLlama, CoinGecko and selected official protocol documentation. APY is quoted, not realized return.</a:t>
            </a:r>
          </a:p>
        </p:txBody>
      </p:sp>
    </p:spTree>
    <p:extLst>
      <p:ext uri="{BB962C8B-B14F-4D97-AF65-F5344CB8AC3E}">
        <p14:creationId xmlns:p14="http://schemas.microsoft.com/office/powerpoint/2010/main" val="850567757"/>
      </p:ext>
    </p:extLst>
  </p:cSld>
</p:sld>
</file>

<file path=ppt/slides/slide9.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2917578-6B7F-4761-AFCC-5F78B3E05D45}"/>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6B84B">
              <a:alpha val="13000"/>
            </a:srgbClr>
          </a:solidFill>
          <a:ln xmlns:a="http://schemas.openxmlformats.org/drawingml/2006/main" w="9525">
            <a:solidFill>
              <a:srgbClr val="F6B84B">
                <a:alpha val="22000"/>
              </a:srgbClr>
            </a:solidFill>
            <a:prstDash val="solid"/>
          </a:ln>
        </p:spPr>
      </p:sp>
      <p:sp>
        <p:nvSpPr>
          <p:cNvPr id="2" name="">
            <a:extLst xmlns:a="http://schemas.openxmlformats.org/drawingml/2006/main">
              <a:ext uri="{FF2B5EF4-FFF2-40B4-BE49-F238E27FC236}">
                <a16:creationId xmlns:a16="http://schemas.microsoft.com/office/drawing/2014/main" id="{A5ABDB1E-2005-455F-BEB9-266682A76F80}"/>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6B84B"/>
                </a:solidFill>
                <a:latin typeface="Aptos"/>
                <a:ea typeface="Aptos"/>
                <a:cs typeface="Aptos"/>
              </a:defRPr>
            </a:pPr>
            <a:r>
              <a:rPr sz="975" b="1">
                <a:solidFill>
                  <a:srgbClr val="F6B84B"/>
                </a:solidFill>
                <a:latin typeface="Aptos"/>
                <a:ea typeface="Aptos"/>
                <a:cs typeface="Aptos"/>
              </a:rPr>
              <a:t>EVENT STUDY</a:t>
            </a:r>
          </a:p>
        </p:txBody>
      </p:sp>
      <p:sp>
        <p:nvSpPr>
          <p:cNvPr id="3" name="">
            <a:extLst xmlns:a="http://schemas.openxmlformats.org/drawingml/2006/main">
              <a:ext uri="{FF2B5EF4-FFF2-40B4-BE49-F238E27FC236}">
                <a16:creationId xmlns:a16="http://schemas.microsoft.com/office/drawing/2014/main" id="{DD0BB9F9-71AA-42D1-8D0C-74BEA7D18BA8}"/>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9525">
            <a:solidFill>
              <a:srgbClr val="F6B84B">
                <a:alpha val="22000"/>
              </a:srgbClr>
            </a:solidFill>
            <a:prstDash val="solid"/>
          </a:ln>
        </p:spPr>
      </p:sp>
      <p:sp>
        <p:nvSpPr>
          <p:cNvPr id="4" name="">
            <a:extLst xmlns:a="http://schemas.openxmlformats.org/drawingml/2006/main">
              <a:ext uri="{FF2B5EF4-FFF2-40B4-BE49-F238E27FC236}">
                <a16:creationId xmlns:a16="http://schemas.microsoft.com/office/drawing/2014/main" id="{082C0B83-EA52-4945-9F9B-F7150B708B4F}"/>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E63EAA12-1703-4F9E-81DB-AB50D11A8570}"/>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2DC44C8-BF3F-446C-9C27-38DC3D4D6FB5}"/>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955B8A06-25FE-4FA2-BD5F-CCB37149840F}"/>
              </a:ext>
            </a:extLst>
          </p:cNvPr>
          <p:cNvSpPr>
            <a:spLocks xmlns:a="http://schemas.openxmlformats.org/drawingml/2006/main" noGrp="1"/>
          </p:cNvSpPr>
          <p:nvPr/>
        </p:nvSpPr>
        <p:spPr>
          <a:xfrm xmlns:a="http://schemas.openxmlformats.org/drawingml/2006/main">
            <a:off x="8420100" y="6486525"/>
            <a:ext cx="1764926" cy="38100"/>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0">
            <a:solidFill>
              <a:srgbClr val="F6B84B"/>
            </a:solidFill>
            <a:prstDash val="solid"/>
          </a:ln>
        </p:spPr>
      </p:sp>
      <p:sp>
        <p:nvSpPr>
          <p:cNvPr id="8" name="">
            <a:extLst xmlns:a="http://schemas.openxmlformats.org/drawingml/2006/main">
              <a:ext uri="{FF2B5EF4-FFF2-40B4-BE49-F238E27FC236}">
                <a16:creationId xmlns:a16="http://schemas.microsoft.com/office/drawing/2014/main" id="{11304CE6-1C4F-48B4-8A3A-F3A5749E8A09}"/>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APY declines while observed TVL rises</a:t>
            </a:r>
          </a:p>
        </p:txBody>
      </p:sp>
      <p:sp>
        <p:nvSpPr>
          <p:cNvPr id="9" name="">
            <a:extLst xmlns:a="http://schemas.openxmlformats.org/drawingml/2006/main">
              <a:ext uri="{FF2B5EF4-FFF2-40B4-BE49-F238E27FC236}">
                <a16:creationId xmlns:a16="http://schemas.microsoft.com/office/drawing/2014/main" id="{DD4F6667-E795-4B35-97A2-256E83FBEF18}"/>
              </a:ext>
            </a:extLst>
          </p:cNvPr>
          <p:cNvSpPr>
            <a:spLocks xmlns:a="http://schemas.openxmlformats.org/drawingml/2006/main" noGrp="1"/>
          </p:cNvSpPr>
          <p:nvPr/>
        </p:nvSpPr>
        <p:spPr>
          <a:xfrm xmlns:a="http://schemas.openxmlformats.org/drawingml/2006/main">
            <a:off x="419100" y="133350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What happens after an observed APY jump?</a:t>
            </a:r>
          </a:p>
        </p:txBody>
      </p:sp>
      <p:sp>
        <p:nvSpPr>
          <p:cNvPr id="10" name="">
            <a:extLst xmlns:a="http://schemas.openxmlformats.org/drawingml/2006/main">
              <a:ext uri="{FF2B5EF4-FFF2-40B4-BE49-F238E27FC236}">
                <a16:creationId xmlns:a16="http://schemas.microsoft.com/office/drawing/2014/main" id="{5F86565A-9100-48A0-8769-7EA0B3B656CF}"/>
              </a:ext>
            </a:extLst>
          </p:cNvPr>
          <p:cNvSpPr>
            <a:spLocks xmlns:a="http://schemas.openxmlformats.org/drawingml/2006/main" noGrp="1"/>
          </p:cNvSpPr>
          <p:nvPr/>
        </p:nvSpPr>
        <p:spPr>
          <a:xfrm xmlns:a="http://schemas.openxmlformats.org/drawingml/2006/main">
            <a:off x="419100" y="1771650"/>
            <a:ext cx="7696200" cy="18859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9CC056C-CE14-4B47-A71F-69A0000BD9A1}"/>
              </a:ext>
            </a:extLst>
          </p:cNvPr>
          <p:cNvSpPr>
            <a:spLocks xmlns:a="http://schemas.openxmlformats.org/drawingml/2006/main" noGrp="1"/>
          </p:cNvSpPr>
          <p:nvPr/>
        </p:nvSpPr>
        <p:spPr>
          <a:xfrm xmlns:a="http://schemas.openxmlformats.org/drawingml/2006/main">
            <a:off x="666750" y="19431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quoted</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91bd7d8855c49ba"/>
          <a:stretch xmlns:a="http://schemas.openxmlformats.org/drawingml/2006/main"/>
        </p:blipFill>
        <p:spPr>
          <a:xfrm xmlns:a="http://schemas.openxmlformats.org/drawingml/2006/main">
            <a:off x="2524839" y="1885950"/>
            <a:ext cx="5161122" cy="1543050"/>
          </a:xfrm>
          <a:prstGeom xmlns:a="http://schemas.openxmlformats.org/drawingml/2006/main" prst="roundRect">
            <a:avLst>
              <a:gd name="adj" fmla="val 9877"/>
            </a:avLst>
          </a:prstGeom>
        </p:spPr>
      </p:pic>
      <p:sp>
        <p:nvSpPr>
          <p:cNvPr id="13" name="">
            <a:extLst xmlns:a="http://schemas.openxmlformats.org/drawingml/2006/main">
              <a:ext uri="{FF2B5EF4-FFF2-40B4-BE49-F238E27FC236}">
                <a16:creationId xmlns:a16="http://schemas.microsoft.com/office/drawing/2014/main" id="{8569CF0A-B996-4FFA-9FFE-ABA845DB7697}"/>
              </a:ext>
            </a:extLst>
          </p:cNvPr>
          <p:cNvSpPr>
            <a:spLocks xmlns:a="http://schemas.openxmlformats.org/drawingml/2006/main" noGrp="1"/>
          </p:cNvSpPr>
          <p:nvPr/>
        </p:nvSpPr>
        <p:spPr>
          <a:xfrm xmlns:a="http://schemas.openxmlformats.org/drawingml/2006/main">
            <a:off x="419100" y="3848100"/>
            <a:ext cx="7696200" cy="19812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A3DFD9F-7C13-4ED3-8E8B-FDC4D022D04B}"/>
              </a:ext>
            </a:extLst>
          </p:cNvPr>
          <p:cNvSpPr>
            <a:spLocks xmlns:a="http://schemas.openxmlformats.org/drawingml/2006/main" noGrp="1"/>
          </p:cNvSpPr>
          <p:nvPr/>
        </p:nvSpPr>
        <p:spPr>
          <a:xfrm xmlns:a="http://schemas.openxmlformats.org/drawingml/2006/main">
            <a:off x="666750" y="40386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normalized</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TVL</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61de10fab8994d60"/>
          <a:stretch xmlns:a="http://schemas.openxmlformats.org/drawingml/2006/main"/>
        </p:blipFill>
        <p:spPr>
          <a:xfrm xmlns:a="http://schemas.openxmlformats.org/drawingml/2006/main">
            <a:off x="2400300" y="3963266"/>
            <a:ext cx="5410200" cy="1617518"/>
          </a:xfrm>
          <a:prstGeom xmlns:a="http://schemas.openxmlformats.org/drawingml/2006/main" prst="roundRect">
            <a:avLst>
              <a:gd name="adj" fmla="val 9412"/>
            </a:avLst>
          </a:prstGeom>
        </p:spPr>
      </p:pic>
      <p:sp>
        <p:nvSpPr>
          <p:cNvPr id="16" name="">
            <a:extLst xmlns:a="http://schemas.openxmlformats.org/drawingml/2006/main">
              <a:ext uri="{FF2B5EF4-FFF2-40B4-BE49-F238E27FC236}">
                <a16:creationId xmlns:a16="http://schemas.microsoft.com/office/drawing/2014/main" id="{4DF41E66-F466-4F3B-9E84-2F993C8393AE}"/>
              </a:ext>
            </a:extLst>
          </p:cNvPr>
          <p:cNvSpPr>
            <a:spLocks xmlns:a="http://schemas.openxmlformats.org/drawingml/2006/main" noGrp="1"/>
          </p:cNvSpPr>
          <p:nvPr/>
        </p:nvSpPr>
        <p:spPr>
          <a:xfrm xmlns:a="http://schemas.openxmlformats.org/drawingml/2006/main">
            <a:off x="8382000" y="1771650"/>
            <a:ext cx="3371850" cy="4057650"/>
          </a:xfrm>
          <a:prstGeom xmlns:a="http://schemas.openxmlformats.org/drawingml/2006/main" prst="roundRect">
            <a:avLst>
              <a:gd name="adj" fmla="val 7345"/>
            </a:avLst>
          </a:prstGeom>
          <a:gradFill xmlns:a="http://schemas.openxmlformats.org/drawingml/2006/main">
            <a:gsLst>
              <a:gs pos="0">
                <a:srgbClr val="F6B84B">
                  <a:alpha val="20000"/>
                </a:srgbClr>
              </a:gs>
              <a:gs pos="80000">
                <a:srgbClr val="FFFFFF"/>
              </a:gs>
            </a:gsLst>
            <a:lin ang="8700000"/>
          </a:gradFill>
          <a:ln xmlns:a="http://schemas.openxmlformats.org/drawingml/2006/main" w="9525">
            <a:solidFill>
              <a:srgbClr val="F6B84B">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A0D9E23-0FD0-42C6-A4AE-976703181BEE}"/>
              </a:ext>
            </a:extLst>
          </p:cNvPr>
          <p:cNvSpPr>
            <a:spLocks xmlns:a="http://schemas.openxmlformats.org/drawingml/2006/main" noGrp="1"/>
          </p:cNvSpPr>
          <p:nvPr/>
        </p:nvSpPr>
        <p:spPr>
          <a:xfrm xmlns:a="http://schemas.openxmlformats.org/drawingml/2006/main">
            <a:off x="8629650" y="2000250"/>
            <a:ext cx="1676400" cy="304800"/>
          </a:xfrm>
          <a:prstGeom xmlns:a="http://schemas.openxmlformats.org/drawingml/2006/main" prst="roundRect">
            <a:avLst>
              <a:gd name="adj" fmla="val 50000"/>
            </a:avLst>
          </a:prstGeom>
          <a:solidFill xmlns:a="http://schemas.openxmlformats.org/drawingml/2006/main">
            <a:srgbClr val="F6B84B">
              <a:alpha val="18000"/>
            </a:srgbClr>
          </a:solidFill>
          <a:ln xmlns:a="http://schemas.openxmlformats.org/drawingml/2006/main" w="9525">
            <a:solidFill>
              <a:srgbClr val="F6B84B">
                <a:alpha val="22000"/>
              </a:srgbClr>
            </a:solidFill>
            <a:prstDash val="solid"/>
          </a:ln>
        </p:spPr>
      </p:sp>
      <p:sp>
        <p:nvSpPr>
          <p:cNvPr id="18" name="">
            <a:extLst xmlns:a="http://schemas.openxmlformats.org/drawingml/2006/main">
              <a:ext uri="{FF2B5EF4-FFF2-40B4-BE49-F238E27FC236}">
                <a16:creationId xmlns:a16="http://schemas.microsoft.com/office/drawing/2014/main" id="{9ECEF62B-8BA7-4C63-8CB7-1AC9C7E35EE1}"/>
              </a:ext>
            </a:extLst>
          </p:cNvPr>
          <p:cNvSpPr>
            <a:spLocks xmlns:a="http://schemas.openxmlformats.org/drawingml/2006/main" noGrp="1"/>
          </p:cNvSpPr>
          <p:nvPr/>
        </p:nvSpPr>
        <p:spPr>
          <a:xfrm xmlns:a="http://schemas.openxmlformats.org/drawingml/2006/main">
            <a:off x="8743950" y="2009775"/>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A76500"/>
                </a:solidFill>
                <a:latin typeface="Aptos"/>
                <a:ea typeface="Aptos"/>
                <a:cs typeface="Aptos"/>
              </a:defRPr>
            </a:pPr>
            <a:r>
              <a:rPr sz="975" b="1">
                <a:solidFill>
                  <a:srgbClr val="A76500"/>
                </a:solidFill>
                <a:latin typeface="Aptos"/>
                <a:ea typeface="Aptos"/>
                <a:cs typeface="Aptos"/>
              </a:rPr>
              <a:t>OBSERVED RESULT</a:t>
            </a:r>
          </a:p>
        </p:txBody>
      </p:sp>
      <p:sp>
        <p:nvSpPr>
          <p:cNvPr id="19" name="">
            <a:extLst xmlns:a="http://schemas.openxmlformats.org/drawingml/2006/main">
              <a:ext uri="{FF2B5EF4-FFF2-40B4-BE49-F238E27FC236}">
                <a16:creationId xmlns:a16="http://schemas.microsoft.com/office/drawing/2014/main" id="{A995611D-8697-42A5-B836-33DBFC7AA3E1}"/>
              </a:ext>
            </a:extLst>
          </p:cNvPr>
          <p:cNvSpPr>
            <a:spLocks xmlns:a="http://schemas.openxmlformats.org/drawingml/2006/main" noGrp="1"/>
          </p:cNvSpPr>
          <p:nvPr/>
        </p:nvSpPr>
        <p:spPr>
          <a:xfrm xmlns:a="http://schemas.openxmlformats.org/drawingml/2006/main">
            <a:off x="8629650" y="253365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4213D"/>
                </a:solidFill>
                <a:latin typeface="Aptos"/>
                <a:ea typeface="Aptos"/>
                <a:cs typeface="Aptos"/>
              </a:defRPr>
            </a:pPr>
            <a:r>
              <a:rPr sz="2250" b="1">
                <a:solidFill>
                  <a:srgbClr val="14213D"/>
                </a:solidFill>
                <a:latin typeface="Aptos"/>
                <a:ea typeface="Aptos"/>
                <a:cs typeface="Aptos"/>
              </a:rPr>
              <a:t>18.24% → 8.33%</a:t>
            </a:r>
          </a:p>
        </p:txBody>
      </p:sp>
      <p:sp>
        <p:nvSpPr>
          <p:cNvPr id="20" name="">
            <a:extLst xmlns:a="http://schemas.openxmlformats.org/drawingml/2006/main">
              <a:ext uri="{FF2B5EF4-FFF2-40B4-BE49-F238E27FC236}">
                <a16:creationId xmlns:a16="http://schemas.microsoft.com/office/drawing/2014/main" id="{AEE9ED5A-2E1D-49D7-BA7D-9DD656356BEE}"/>
              </a:ext>
            </a:extLst>
          </p:cNvPr>
          <p:cNvSpPr>
            <a:spLocks xmlns:a="http://schemas.openxmlformats.org/drawingml/2006/main" noGrp="1"/>
          </p:cNvSpPr>
          <p:nvPr/>
        </p:nvSpPr>
        <p:spPr>
          <a:xfrm xmlns:a="http://schemas.openxmlformats.org/drawingml/2006/main">
            <a:off x="8629650" y="302895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Median APY from event day to day 30</a:t>
            </a:r>
          </a:p>
        </p:txBody>
      </p:sp>
      <p:sp>
        <p:nvSpPr>
          <p:cNvPr id="21" name="">
            <a:extLst xmlns:a="http://schemas.openxmlformats.org/drawingml/2006/main">
              <a:ext uri="{FF2B5EF4-FFF2-40B4-BE49-F238E27FC236}">
                <a16:creationId xmlns:a16="http://schemas.microsoft.com/office/drawing/2014/main" id="{6CCE62EC-4E3E-4AC5-AF1C-7C8333347199}"/>
              </a:ext>
            </a:extLst>
          </p:cNvPr>
          <p:cNvSpPr>
            <a:spLocks xmlns:a="http://schemas.openxmlformats.org/drawingml/2006/main" noGrp="1"/>
          </p:cNvSpPr>
          <p:nvPr/>
        </p:nvSpPr>
        <p:spPr>
          <a:xfrm xmlns:a="http://schemas.openxmlformats.org/drawingml/2006/main">
            <a:off x="8629650" y="3638550"/>
            <a:ext cx="2686050" cy="9525"/>
          </a:xfrm>
          <a:prstGeom xmlns:a="http://schemas.openxmlformats.org/drawingml/2006/main" prst="line">
            <a:avLst/>
          </a:prstGeom>
          <a:noFill xmlns:a="http://schemas.openxmlformats.org/drawingml/2006/main"/>
          <a:ln xmlns:a="http://schemas.openxmlformats.org/drawingml/2006/main" w="9525">
            <a:solidFill>
              <a:srgbClr val="F6B84B">
                <a:alpha val="32000"/>
              </a:srgbClr>
            </a:solidFill>
            <a:prstDash val="solid"/>
          </a:ln>
        </p:spPr>
      </p:sp>
      <p:sp>
        <p:nvSpPr>
          <p:cNvPr id="22" name="">
            <a:extLst xmlns:a="http://schemas.openxmlformats.org/drawingml/2006/main">
              <a:ext uri="{FF2B5EF4-FFF2-40B4-BE49-F238E27FC236}">
                <a16:creationId xmlns:a16="http://schemas.microsoft.com/office/drawing/2014/main" id="{B0C65D41-E519-4D9D-BDC5-453AFF029878}"/>
              </a:ext>
            </a:extLst>
          </p:cNvPr>
          <p:cNvSpPr>
            <a:spLocks xmlns:a="http://schemas.openxmlformats.org/drawingml/2006/main" noGrp="1"/>
          </p:cNvSpPr>
          <p:nvPr/>
        </p:nvSpPr>
        <p:spPr>
          <a:xfrm xmlns:a="http://schemas.openxmlformats.org/drawingml/2006/main">
            <a:off x="8648700" y="38671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6B84B"/>
                </a:solidFill>
                <a:latin typeface="Aptos"/>
                <a:ea typeface="Aptos"/>
                <a:cs typeface="Aptos"/>
              </a:defRPr>
            </a:pPr>
            <a:r>
              <a:rPr sz="1725" b="1">
                <a:solidFill>
                  <a:srgbClr val="F6B84B"/>
                </a:solidFill>
                <a:latin typeface="Aptos"/>
                <a:ea typeface="Aptos"/>
                <a:cs typeface="Aptos"/>
              </a:rPr>
              <a:t>453</a:t>
            </a:r>
          </a:p>
        </p:txBody>
      </p:sp>
      <p:sp>
        <p:nvSpPr>
          <p:cNvPr id="23" name="">
            <a:extLst xmlns:a="http://schemas.openxmlformats.org/drawingml/2006/main">
              <a:ext uri="{FF2B5EF4-FFF2-40B4-BE49-F238E27FC236}">
                <a16:creationId xmlns:a16="http://schemas.microsoft.com/office/drawing/2014/main" id="{0902BD7F-462B-4407-9854-32EBED2DEA80}"/>
              </a:ext>
            </a:extLst>
          </p:cNvPr>
          <p:cNvSpPr>
            <a:spLocks xmlns:a="http://schemas.openxmlformats.org/drawingml/2006/main" noGrp="1"/>
          </p:cNvSpPr>
          <p:nvPr/>
        </p:nvSpPr>
        <p:spPr>
          <a:xfrm xmlns:a="http://schemas.openxmlformats.org/drawingml/2006/main">
            <a:off x="9829800" y="38862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Events observed at day 0</a:t>
            </a:r>
          </a:p>
        </p:txBody>
      </p:sp>
      <p:sp>
        <p:nvSpPr>
          <p:cNvPr id="24" name="">
            <a:extLst xmlns:a="http://schemas.openxmlformats.org/drawingml/2006/main">
              <a:ext uri="{FF2B5EF4-FFF2-40B4-BE49-F238E27FC236}">
                <a16:creationId xmlns:a16="http://schemas.microsoft.com/office/drawing/2014/main" id="{920B88A4-7724-499A-AA43-26CE6BE09864}"/>
              </a:ext>
            </a:extLst>
          </p:cNvPr>
          <p:cNvSpPr>
            <a:spLocks xmlns:a="http://schemas.openxmlformats.org/drawingml/2006/main" noGrp="1"/>
          </p:cNvSpPr>
          <p:nvPr/>
        </p:nvSpPr>
        <p:spPr>
          <a:xfrm xmlns:a="http://schemas.openxmlformats.org/drawingml/2006/main">
            <a:off x="8648700" y="44958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2BBBAD"/>
                </a:solidFill>
                <a:latin typeface="Aptos"/>
                <a:ea typeface="Aptos"/>
                <a:cs typeface="Aptos"/>
              </a:defRPr>
            </a:pPr>
            <a:r>
              <a:rPr sz="1725" b="1">
                <a:solidFill>
                  <a:srgbClr val="2BBBAD"/>
                </a:solidFill>
                <a:latin typeface="Aptos"/>
                <a:ea typeface="Aptos"/>
                <a:cs typeface="Aptos"/>
              </a:rPr>
              <a:t>1.69x</a:t>
            </a:r>
          </a:p>
        </p:txBody>
      </p:sp>
      <p:sp>
        <p:nvSpPr>
          <p:cNvPr id="25" name="">
            <a:extLst xmlns:a="http://schemas.openxmlformats.org/drawingml/2006/main">
              <a:ext uri="{FF2B5EF4-FFF2-40B4-BE49-F238E27FC236}">
                <a16:creationId xmlns:a16="http://schemas.microsoft.com/office/drawing/2014/main" id="{34366307-670C-402D-A2A1-834FA33C3AFD}"/>
              </a:ext>
            </a:extLst>
          </p:cNvPr>
          <p:cNvSpPr>
            <a:spLocks xmlns:a="http://schemas.openxmlformats.org/drawingml/2006/main" noGrp="1"/>
          </p:cNvSpPr>
          <p:nvPr/>
        </p:nvSpPr>
        <p:spPr>
          <a:xfrm xmlns:a="http://schemas.openxmlformats.org/drawingml/2006/main">
            <a:off x="9829800" y="45148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Median normalized TVL at day 30</a:t>
            </a:r>
          </a:p>
        </p:txBody>
      </p:sp>
      <p:sp>
        <p:nvSpPr>
          <p:cNvPr id="26" name="">
            <a:extLst xmlns:a="http://schemas.openxmlformats.org/drawingml/2006/main">
              <a:ext uri="{FF2B5EF4-FFF2-40B4-BE49-F238E27FC236}">
                <a16:creationId xmlns:a16="http://schemas.microsoft.com/office/drawing/2014/main" id="{0868B6B4-8214-48AD-A3B1-15461FF69D3E}"/>
              </a:ext>
            </a:extLst>
          </p:cNvPr>
          <p:cNvSpPr>
            <a:spLocks xmlns:a="http://schemas.openxmlformats.org/drawingml/2006/main" noGrp="1"/>
          </p:cNvSpPr>
          <p:nvPr/>
        </p:nvSpPr>
        <p:spPr>
          <a:xfrm xmlns:a="http://schemas.openxmlformats.org/drawingml/2006/main">
            <a:off x="8648700" y="5219700"/>
            <a:ext cx="2647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6B9D"/>
                </a:solidFill>
                <a:latin typeface="Aptos"/>
                <a:ea typeface="Aptos"/>
                <a:cs typeface="Aptos"/>
              </a:defRPr>
            </a:pPr>
            <a:r>
              <a:rPr sz="1200" b="1">
                <a:solidFill>
                  <a:srgbClr val="FF6B9D"/>
                </a:solidFill>
                <a:latin typeface="Aptos"/>
                <a:ea typeface="Aptos"/>
                <a:cs typeface="Aptos"/>
              </a:rPr>
              <a:t>Observed TVL response, not a causal capital-flow estimate.</a:t>
            </a:r>
          </a:p>
        </p:txBody>
      </p:sp>
      <p:sp>
        <p:nvSpPr>
          <p:cNvPr id="27" name="">
            <a:extLst xmlns:a="http://schemas.openxmlformats.org/drawingml/2006/main">
              <a:ext uri="{FF2B5EF4-FFF2-40B4-BE49-F238E27FC236}">
                <a16:creationId xmlns:a16="http://schemas.microsoft.com/office/drawing/2014/main" id="{E6D2A367-9C41-4305-B6D6-6CB1F1F203F6}"/>
              </a:ext>
            </a:extLst>
          </p:cNvPr>
          <p:cNvSpPr>
            <a:spLocks xmlns:a="http://schemas.openxmlformats.org/drawingml/2006/main" noGrp="1"/>
          </p:cNvSpPr>
          <p:nvPr/>
        </p:nvSpPr>
        <p:spPr>
          <a:xfrm xmlns:a="http://schemas.openxmlformats.org/drawingml/2006/main">
            <a:off x="419100" y="598170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Trigger: 1-day APY increase of at least 5 pp and APY at or above 10%; max 3 events per pool.</a:t>
            </a:r>
          </a:p>
        </p:txBody>
      </p:sp>
    </p:spTree>
    <p:extLst>
      <p:ext uri="{BB962C8B-B14F-4D97-AF65-F5344CB8AC3E}">
        <p14:creationId xmlns:p14="http://schemas.microsoft.com/office/powerpoint/2010/main" val="1091812999"/>
      </p:ext>
    </p:extLst>
  </p:cSld>
</p:sld>
</file>

<file path=ppt/slides/slide10.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E543E80-0938-4EBB-9647-2DA652446951}"/>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23E9C7BD-07DC-48C0-A21C-747F23C91314}"/>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6B9D"/>
                </a:solidFill>
                <a:latin typeface="Aptos"/>
                <a:ea typeface="Aptos"/>
                <a:cs typeface="Aptos"/>
              </a:defRPr>
            </a:pPr>
            <a:r>
              <a:rPr sz="975" b="1">
                <a:solidFill>
                  <a:srgbClr val="FF6B9D"/>
                </a:solidFill>
                <a:latin typeface="Aptos"/>
                <a:ea typeface="Aptos"/>
                <a:cs typeface="Aptos"/>
              </a:rPr>
              <a:t>PEG STRESS</a:t>
            </a:r>
          </a:p>
        </p:txBody>
      </p:sp>
      <p:sp>
        <p:nvSpPr>
          <p:cNvPr id="3" name="">
            <a:extLst xmlns:a="http://schemas.openxmlformats.org/drawingml/2006/main">
              <a:ext uri="{FF2B5EF4-FFF2-40B4-BE49-F238E27FC236}">
                <a16:creationId xmlns:a16="http://schemas.microsoft.com/office/drawing/2014/main" id="{180883B6-5A8F-4406-BE49-64E092D5DD32}"/>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0A7A7475-B5B5-453A-9C8B-4BEAE45758D5}"/>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F15D57EB-84FB-4921-B6BC-EF15AB2034E6}"/>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ECEAB9B9-0A5F-4C8A-821D-86C3F9EA7FBB}"/>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3FF5697F-B4C2-4828-A33E-4F5C67619378}"/>
              </a:ext>
            </a:extLst>
          </p:cNvPr>
          <p:cNvSpPr>
            <a:spLocks xmlns:a="http://schemas.openxmlformats.org/drawingml/2006/main" noGrp="1"/>
          </p:cNvSpPr>
          <p:nvPr/>
        </p:nvSpPr>
        <p:spPr>
          <a:xfrm xmlns:a="http://schemas.openxmlformats.org/drawingml/2006/main">
            <a:off x="8420100" y="6486525"/>
            <a:ext cx="1961029"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5FAAAB42-6B0C-4C13-A1EB-6F96E79B614A}"/>
              </a:ext>
            </a:extLst>
          </p:cNvPr>
          <p:cNvSpPr>
            <a:spLocks xmlns:a="http://schemas.openxmlformats.org/drawingml/2006/main" noGrp="1"/>
          </p:cNvSpPr>
          <p:nvPr/>
        </p:nvSpPr>
        <p:spPr>
          <a:xfrm xmlns:a="http://schemas.openxmlformats.org/drawingml/2006/main">
            <a:off x="419100" y="762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Peg stress changes the denominator behind yield</a:t>
            </a:r>
          </a:p>
        </p:txBody>
      </p:sp>
      <p:sp>
        <p:nvSpPr>
          <p:cNvPr id="9" name="">
            <a:extLst xmlns:a="http://schemas.openxmlformats.org/drawingml/2006/main">
              <a:ext uri="{FF2B5EF4-FFF2-40B4-BE49-F238E27FC236}">
                <a16:creationId xmlns:a16="http://schemas.microsoft.com/office/drawing/2014/main" id="{68F2791D-6F68-49CE-AA11-7C27AF091C9B}"/>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What changed during the March 2023 USDC depeg?</a:t>
            </a:r>
          </a:p>
        </p:txBody>
      </p:sp>
      <p:sp>
        <p:nvSpPr>
          <p:cNvPr id="10" name="">
            <a:extLst xmlns:a="http://schemas.openxmlformats.org/drawingml/2006/main">
              <a:ext uri="{FF2B5EF4-FFF2-40B4-BE49-F238E27FC236}">
                <a16:creationId xmlns:a16="http://schemas.microsoft.com/office/drawing/2014/main" id="{D0AC51BF-36E6-4E8D-9BA5-6A0BEAD589CA}"/>
              </a:ext>
            </a:extLst>
          </p:cNvPr>
          <p:cNvSpPr>
            <a:spLocks xmlns:a="http://schemas.openxmlformats.org/drawingml/2006/main" noGrp="1"/>
          </p:cNvSpPr>
          <p:nvPr/>
        </p:nvSpPr>
        <p:spPr>
          <a:xfrm xmlns:a="http://schemas.openxmlformats.org/drawingml/2006/main">
            <a:off x="419100" y="1771650"/>
            <a:ext cx="7696200" cy="18859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C3C2E69-2E22-43A8-AC5D-51611A237163}"/>
              </a:ext>
            </a:extLst>
          </p:cNvPr>
          <p:cNvSpPr>
            <a:spLocks xmlns:a="http://schemas.openxmlformats.org/drawingml/2006/main" noGrp="1"/>
          </p:cNvSpPr>
          <p:nvPr/>
        </p:nvSpPr>
        <p:spPr>
          <a:xfrm xmlns:a="http://schemas.openxmlformats.org/drawingml/2006/main">
            <a:off x="666750" y="1943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USDC price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3e46c01adf04b99"/>
          <a:stretch xmlns:a="http://schemas.openxmlformats.org/drawingml/2006/main"/>
        </p:blipFill>
        <p:spPr>
          <a:xfrm xmlns:a="http://schemas.openxmlformats.org/drawingml/2006/main">
            <a:off x="2524839" y="1885950"/>
            <a:ext cx="5161122" cy="1543050"/>
          </a:xfrm>
          <a:prstGeom xmlns:a="http://schemas.openxmlformats.org/drawingml/2006/main" prst="roundRect">
            <a:avLst>
              <a:gd name="adj" fmla="val 9877"/>
            </a:avLst>
          </a:prstGeom>
        </p:spPr>
      </p:pic>
      <p:sp>
        <p:nvSpPr>
          <p:cNvPr id="13" name="">
            <a:extLst xmlns:a="http://schemas.openxmlformats.org/drawingml/2006/main">
              <a:ext uri="{FF2B5EF4-FFF2-40B4-BE49-F238E27FC236}">
                <a16:creationId xmlns:a16="http://schemas.microsoft.com/office/drawing/2014/main" id="{9B7DFF01-8714-4781-A2D0-5F8F1475C6D7}"/>
              </a:ext>
            </a:extLst>
          </p:cNvPr>
          <p:cNvSpPr>
            <a:spLocks xmlns:a="http://schemas.openxmlformats.org/drawingml/2006/main" noGrp="1"/>
          </p:cNvSpPr>
          <p:nvPr/>
        </p:nvSpPr>
        <p:spPr>
          <a:xfrm xmlns:a="http://schemas.openxmlformats.org/drawingml/2006/main">
            <a:off x="419100" y="3848100"/>
            <a:ext cx="7696200" cy="19812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1AB88CC-B219-4C93-9436-BD14AA84DA3C}"/>
              </a:ext>
            </a:extLst>
          </p:cNvPr>
          <p:cNvSpPr>
            <a:spLocks xmlns:a="http://schemas.openxmlformats.org/drawingml/2006/main" noGrp="1"/>
          </p:cNvSpPr>
          <p:nvPr/>
        </p:nvSpPr>
        <p:spPr>
          <a:xfrm xmlns:a="http://schemas.openxmlformats.org/drawingml/2006/main">
            <a:off x="666750" y="40386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417"/>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exposed-pool</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 (%)</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e2ee10b73f24928"/>
          <a:stretch xmlns:a="http://schemas.openxmlformats.org/drawingml/2006/main"/>
        </p:blipFill>
        <p:spPr>
          <a:xfrm xmlns:a="http://schemas.openxmlformats.org/drawingml/2006/main">
            <a:off x="2400300" y="3963266"/>
            <a:ext cx="5410200" cy="1617518"/>
          </a:xfrm>
          <a:prstGeom xmlns:a="http://schemas.openxmlformats.org/drawingml/2006/main" prst="roundRect">
            <a:avLst>
              <a:gd name="adj" fmla="val 9412"/>
            </a:avLst>
          </a:prstGeom>
        </p:spPr>
      </p:pic>
      <p:sp>
        <p:nvSpPr>
          <p:cNvPr id="16" name="">
            <a:extLst xmlns:a="http://schemas.openxmlformats.org/drawingml/2006/main">
              <a:ext uri="{FF2B5EF4-FFF2-40B4-BE49-F238E27FC236}">
                <a16:creationId xmlns:a16="http://schemas.microsoft.com/office/drawing/2014/main" id="{328F48C2-D4B7-42FF-84E9-FD621D9B1F11}"/>
              </a:ext>
            </a:extLst>
          </p:cNvPr>
          <p:cNvSpPr>
            <a:spLocks xmlns:a="http://schemas.openxmlformats.org/drawingml/2006/main" noGrp="1"/>
          </p:cNvSpPr>
          <p:nvPr/>
        </p:nvSpPr>
        <p:spPr>
          <a:xfrm xmlns:a="http://schemas.openxmlformats.org/drawingml/2006/main">
            <a:off x="8382000" y="1771650"/>
            <a:ext cx="3371850" cy="4057650"/>
          </a:xfrm>
          <a:prstGeom xmlns:a="http://schemas.openxmlformats.org/drawingml/2006/main" prst="roundRect">
            <a:avLst>
              <a:gd name="adj" fmla="val 7345"/>
            </a:avLst>
          </a:prstGeom>
          <a:gradFill xmlns:a="http://schemas.openxmlformats.org/drawingml/2006/main">
            <a:gsLst>
              <a:gs pos="0">
                <a:srgbClr val="FF6B9D">
                  <a:alpha val="20000"/>
                </a:srgbClr>
              </a:gs>
              <a:gs pos="80000">
                <a:srgbClr val="FFFFFF"/>
              </a:gs>
            </a:gsLst>
            <a:lin ang="8700000"/>
          </a:gradFill>
          <a:ln xmlns:a="http://schemas.openxmlformats.org/drawingml/2006/main" w="9525">
            <a:solidFill>
              <a:srgbClr val="FF6B9D">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B246D7A1-0323-4532-A949-FD2EADCD0337}"/>
              </a:ext>
            </a:extLst>
          </p:cNvPr>
          <p:cNvSpPr>
            <a:spLocks xmlns:a="http://schemas.openxmlformats.org/drawingml/2006/main" noGrp="1"/>
          </p:cNvSpPr>
          <p:nvPr/>
        </p:nvSpPr>
        <p:spPr>
          <a:xfrm xmlns:a="http://schemas.openxmlformats.org/drawingml/2006/main">
            <a:off x="8629650" y="2000250"/>
            <a:ext cx="1695450" cy="304800"/>
          </a:xfrm>
          <a:prstGeom xmlns:a="http://schemas.openxmlformats.org/drawingml/2006/main" prst="roundRect">
            <a:avLst>
              <a:gd name="adj" fmla="val 50000"/>
            </a:avLst>
          </a:prstGeom>
          <a:solidFill xmlns:a="http://schemas.openxmlformats.org/drawingml/2006/main">
            <a:srgbClr val="FF6B9D">
              <a:alpha val="17000"/>
            </a:srgbClr>
          </a:solidFill>
          <a:ln xmlns:a="http://schemas.openxmlformats.org/drawingml/2006/main" w="9525">
            <a:solidFill>
              <a:srgbClr val="FF6B9D">
                <a:alpha val="22000"/>
              </a:srgbClr>
            </a:solidFill>
            <a:prstDash val="solid"/>
          </a:ln>
        </p:spPr>
      </p:sp>
      <p:sp>
        <p:nvSpPr>
          <p:cNvPr id="18" name="">
            <a:extLst xmlns:a="http://schemas.openxmlformats.org/drawingml/2006/main">
              <a:ext uri="{FF2B5EF4-FFF2-40B4-BE49-F238E27FC236}">
                <a16:creationId xmlns:a16="http://schemas.microsoft.com/office/drawing/2014/main" id="{3C7EA220-EE76-426E-BE5C-2A824CB90A2E}"/>
              </a:ext>
            </a:extLst>
          </p:cNvPr>
          <p:cNvSpPr>
            <a:spLocks xmlns:a="http://schemas.openxmlformats.org/drawingml/2006/main" noGrp="1"/>
          </p:cNvSpPr>
          <p:nvPr/>
        </p:nvSpPr>
        <p:spPr>
          <a:xfrm xmlns:a="http://schemas.openxmlformats.org/drawingml/2006/main">
            <a:off x="8743950" y="2009775"/>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6B9D"/>
                </a:solidFill>
                <a:latin typeface="Aptos"/>
                <a:ea typeface="Aptos"/>
                <a:cs typeface="Aptos"/>
              </a:defRPr>
            </a:pPr>
            <a:r>
              <a:rPr sz="900" b="1">
                <a:solidFill>
                  <a:srgbClr val="FF6B9D"/>
                </a:solidFill>
                <a:latin typeface="Aptos"/>
                <a:ea typeface="Aptos"/>
                <a:cs typeface="Aptos"/>
              </a:rPr>
              <a:t>USDC / 12 MAR 2023</a:t>
            </a:r>
          </a:p>
        </p:txBody>
      </p:sp>
      <p:sp>
        <p:nvSpPr>
          <p:cNvPr id="19" name="">
            <a:extLst xmlns:a="http://schemas.openxmlformats.org/drawingml/2006/main">
              <a:ext uri="{FF2B5EF4-FFF2-40B4-BE49-F238E27FC236}">
                <a16:creationId xmlns:a16="http://schemas.microsoft.com/office/drawing/2014/main" id="{4A3FEF5D-993F-4D14-A38E-A1A0066BD337}"/>
              </a:ext>
            </a:extLst>
          </p:cNvPr>
          <p:cNvSpPr>
            <a:spLocks xmlns:a="http://schemas.openxmlformats.org/drawingml/2006/main" noGrp="1"/>
          </p:cNvSpPr>
          <p:nvPr/>
        </p:nvSpPr>
        <p:spPr>
          <a:xfrm xmlns:a="http://schemas.openxmlformats.org/drawingml/2006/main">
            <a:off x="8629650" y="253365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14213D"/>
                </a:solidFill>
                <a:latin typeface="Aptos"/>
                <a:ea typeface="Aptos"/>
                <a:cs typeface="Aptos"/>
              </a:defRPr>
            </a:pPr>
            <a:r>
              <a:rPr sz="2550" b="1">
                <a:solidFill>
                  <a:srgbClr val="14213D"/>
                </a:solidFill>
                <a:latin typeface="Aptos"/>
                <a:ea typeface="Aptos"/>
                <a:cs typeface="Aptos"/>
              </a:rPr>
              <a:t>$0.9611</a:t>
            </a:r>
          </a:p>
        </p:txBody>
      </p:sp>
      <p:sp>
        <p:nvSpPr>
          <p:cNvPr id="20" name="">
            <a:extLst xmlns:a="http://schemas.openxmlformats.org/drawingml/2006/main">
              <a:ext uri="{FF2B5EF4-FFF2-40B4-BE49-F238E27FC236}">
                <a16:creationId xmlns:a16="http://schemas.microsoft.com/office/drawing/2014/main" id="{F97521E9-81F7-4F7F-BB5E-A067DF0242C2}"/>
              </a:ext>
            </a:extLst>
          </p:cNvPr>
          <p:cNvSpPr>
            <a:spLocks xmlns:a="http://schemas.openxmlformats.org/drawingml/2006/main" noGrp="1"/>
          </p:cNvSpPr>
          <p:nvPr/>
        </p:nvSpPr>
        <p:spPr>
          <a:xfrm xmlns:a="http://schemas.openxmlformats.org/drawingml/2006/main">
            <a:off x="8629650" y="30289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Minimum observed USDC price</a:t>
            </a:r>
          </a:p>
        </p:txBody>
      </p:sp>
      <p:sp>
        <p:nvSpPr>
          <p:cNvPr id="21" name="">
            <a:extLst xmlns:a="http://schemas.openxmlformats.org/drawingml/2006/main">
              <a:ext uri="{FF2B5EF4-FFF2-40B4-BE49-F238E27FC236}">
                <a16:creationId xmlns:a16="http://schemas.microsoft.com/office/drawing/2014/main" id="{FB6A6BA3-0B21-408F-B904-9C40B42BC6E1}"/>
              </a:ext>
            </a:extLst>
          </p:cNvPr>
          <p:cNvSpPr>
            <a:spLocks xmlns:a="http://schemas.openxmlformats.org/drawingml/2006/main" noGrp="1"/>
          </p:cNvSpPr>
          <p:nvPr/>
        </p:nvSpPr>
        <p:spPr>
          <a:xfrm xmlns:a="http://schemas.openxmlformats.org/drawingml/2006/main">
            <a:off x="8629650" y="3638550"/>
            <a:ext cx="2686050" cy="9525"/>
          </a:xfrm>
          <a:prstGeom xmlns:a="http://schemas.openxmlformats.org/drawingml/2006/main" prst="line">
            <a:avLst/>
          </a:prstGeom>
          <a:noFill xmlns:a="http://schemas.openxmlformats.org/drawingml/2006/main"/>
          <a:ln xmlns:a="http://schemas.openxmlformats.org/drawingml/2006/main" w="9525">
            <a:solidFill>
              <a:srgbClr val="FF6B9D">
                <a:alpha val="32000"/>
              </a:srgbClr>
            </a:solidFill>
            <a:prstDash val="solid"/>
          </a:ln>
        </p:spPr>
      </p:sp>
      <p:sp>
        <p:nvSpPr>
          <p:cNvPr id="22" name="">
            <a:extLst xmlns:a="http://schemas.openxmlformats.org/drawingml/2006/main">
              <a:ext uri="{FF2B5EF4-FFF2-40B4-BE49-F238E27FC236}">
                <a16:creationId xmlns:a16="http://schemas.microsoft.com/office/drawing/2014/main" id="{4E37D735-96A9-4114-8EEB-9E00E13A44BB}"/>
              </a:ext>
            </a:extLst>
          </p:cNvPr>
          <p:cNvSpPr>
            <a:spLocks xmlns:a="http://schemas.openxmlformats.org/drawingml/2006/main" noGrp="1"/>
          </p:cNvSpPr>
          <p:nvPr/>
        </p:nvSpPr>
        <p:spPr>
          <a:xfrm xmlns:a="http://schemas.openxmlformats.org/drawingml/2006/main">
            <a:off x="8648700" y="38671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6B9D"/>
                </a:solidFill>
                <a:latin typeface="Aptos"/>
                <a:ea typeface="Aptos"/>
                <a:cs typeface="Aptos"/>
              </a:defRPr>
            </a:pPr>
            <a:r>
              <a:rPr sz="1725" b="1">
                <a:solidFill>
                  <a:srgbClr val="FF6B9D"/>
                </a:solidFill>
                <a:latin typeface="Aptos"/>
                <a:ea typeface="Aptos"/>
                <a:cs typeface="Aptos"/>
              </a:rPr>
              <a:t>+1.38 pp</a:t>
            </a:r>
          </a:p>
        </p:txBody>
      </p:sp>
      <p:sp>
        <p:nvSpPr>
          <p:cNvPr id="23" name="">
            <a:extLst xmlns:a="http://schemas.openxmlformats.org/drawingml/2006/main">
              <a:ext uri="{FF2B5EF4-FFF2-40B4-BE49-F238E27FC236}">
                <a16:creationId xmlns:a16="http://schemas.microsoft.com/office/drawing/2014/main" id="{62621301-4153-4687-9C4D-5D1F5DC3BA4B}"/>
              </a:ext>
            </a:extLst>
          </p:cNvPr>
          <p:cNvSpPr>
            <a:spLocks xmlns:a="http://schemas.openxmlformats.org/drawingml/2006/main" noGrp="1"/>
          </p:cNvSpPr>
          <p:nvPr/>
        </p:nvSpPr>
        <p:spPr>
          <a:xfrm xmlns:a="http://schemas.openxmlformats.org/drawingml/2006/main">
            <a:off x="9829800" y="38862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Median APY, day -1 to day 0</a:t>
            </a:r>
          </a:p>
        </p:txBody>
      </p:sp>
      <p:sp>
        <p:nvSpPr>
          <p:cNvPr id="24" name="">
            <a:extLst xmlns:a="http://schemas.openxmlformats.org/drawingml/2006/main">
              <a:ext uri="{FF2B5EF4-FFF2-40B4-BE49-F238E27FC236}">
                <a16:creationId xmlns:a16="http://schemas.microsoft.com/office/drawing/2014/main" id="{518E2EBC-ABF6-4158-A67A-8CCAD7A8E123}"/>
              </a:ext>
            </a:extLst>
          </p:cNvPr>
          <p:cNvSpPr>
            <a:spLocks xmlns:a="http://schemas.openxmlformats.org/drawingml/2006/main" noGrp="1"/>
          </p:cNvSpPr>
          <p:nvPr/>
        </p:nvSpPr>
        <p:spPr>
          <a:xfrm xmlns:a="http://schemas.openxmlformats.org/drawingml/2006/main">
            <a:off x="8648700" y="45720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4F7CFF"/>
                </a:solidFill>
                <a:latin typeface="Aptos"/>
                <a:ea typeface="Aptos"/>
                <a:cs typeface="Aptos"/>
              </a:defRPr>
            </a:pPr>
            <a:r>
              <a:rPr sz="1725" b="1">
                <a:solidFill>
                  <a:srgbClr val="4F7CFF"/>
                </a:solidFill>
                <a:latin typeface="Aptos"/>
                <a:ea typeface="Aptos"/>
                <a:cs typeface="Aptos"/>
              </a:rPr>
              <a:t>10</a:t>
            </a:r>
          </a:p>
        </p:txBody>
      </p:sp>
      <p:sp>
        <p:nvSpPr>
          <p:cNvPr id="25" name="">
            <a:extLst xmlns:a="http://schemas.openxmlformats.org/drawingml/2006/main">
              <a:ext uri="{FF2B5EF4-FFF2-40B4-BE49-F238E27FC236}">
                <a16:creationId xmlns:a16="http://schemas.microsoft.com/office/drawing/2014/main" id="{B7A5E98E-8C98-4EA8-92D7-8869889A3B1F}"/>
              </a:ext>
            </a:extLst>
          </p:cNvPr>
          <p:cNvSpPr>
            <a:spLocks xmlns:a="http://schemas.openxmlformats.org/drawingml/2006/main" noGrp="1"/>
          </p:cNvSpPr>
          <p:nvPr/>
        </p:nvSpPr>
        <p:spPr>
          <a:xfrm xmlns:a="http://schemas.openxmlformats.org/drawingml/2006/main">
            <a:off x="9829800" y="45910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Exposed pools in the window</a:t>
            </a:r>
          </a:p>
        </p:txBody>
      </p:sp>
      <p:sp>
        <p:nvSpPr>
          <p:cNvPr id="26" name="">
            <a:extLst xmlns:a="http://schemas.openxmlformats.org/drawingml/2006/main">
              <a:ext uri="{FF2B5EF4-FFF2-40B4-BE49-F238E27FC236}">
                <a16:creationId xmlns:a16="http://schemas.microsoft.com/office/drawing/2014/main" id="{2C4F857E-164E-46BB-9A00-8B3EB92E2666}"/>
              </a:ext>
            </a:extLst>
          </p:cNvPr>
          <p:cNvSpPr>
            <a:spLocks xmlns:a="http://schemas.openxmlformats.org/drawingml/2006/main" noGrp="1"/>
          </p:cNvSpPr>
          <p:nvPr/>
        </p:nvSpPr>
        <p:spPr>
          <a:xfrm xmlns:a="http://schemas.openxmlformats.org/drawingml/2006/main">
            <a:off x="8648700" y="5219700"/>
            <a:ext cx="264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37"/>
          </a:bodyP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One reviewed case study; descriptive context, not a general depeg causal estimate.</a:t>
            </a:r>
          </a:p>
        </p:txBody>
      </p:sp>
      <p:sp>
        <p:nvSpPr>
          <p:cNvPr id="27" name="">
            <a:extLst xmlns:a="http://schemas.openxmlformats.org/drawingml/2006/main">
              <a:ext uri="{FF2B5EF4-FFF2-40B4-BE49-F238E27FC236}">
                <a16:creationId xmlns:a16="http://schemas.microsoft.com/office/drawing/2014/main" id="{A78D42BA-4A5A-4B17-9D2E-B1FDC61725B8}"/>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Sources: DeFiLlama, CoinGecko and selected official protocol documentation. APY is quoted, not realized return.</a:t>
            </a:r>
          </a:p>
        </p:txBody>
      </p:sp>
    </p:spTree>
    <p:extLst>
      <p:ext uri="{BB962C8B-B14F-4D97-AF65-F5344CB8AC3E}">
        <p14:creationId xmlns:p14="http://schemas.microsoft.com/office/powerpoint/2010/main" val="684549046"/>
      </p:ext>
    </p:extLst>
  </p:cSld>
</p:sld>
</file>

<file path=ppt/slides/slide11.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75E9A5C-A4F9-4D61-B6C6-91C8F5BA98C6}"/>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B3F73919-2255-4375-8C0C-80D9084F03CF}"/>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JOINT SCREEN</a:t>
            </a:r>
          </a:p>
        </p:txBody>
      </p:sp>
      <p:sp>
        <p:nvSpPr>
          <p:cNvPr id="3" name="">
            <a:extLst xmlns:a="http://schemas.openxmlformats.org/drawingml/2006/main">
              <a:ext uri="{FF2B5EF4-FFF2-40B4-BE49-F238E27FC236}">
                <a16:creationId xmlns:a16="http://schemas.microsoft.com/office/drawing/2014/main" id="{3DAE09AF-1B08-4293-89F4-2BAD4537175E}"/>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6F0F5D14-10C5-4949-91E9-51219EDBD5F2}"/>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B4B2082C-1B10-4281-A069-937A22A199A1}"/>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C14CE0B-5C33-4055-9070-B8479B58C92F}"/>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F12F8043-D9B2-4540-8487-61E5946AF149}"/>
              </a:ext>
            </a:extLst>
          </p:cNvPr>
          <p:cNvSpPr>
            <a:spLocks xmlns:a="http://schemas.openxmlformats.org/drawingml/2006/main" noGrp="1"/>
          </p:cNvSpPr>
          <p:nvPr/>
        </p:nvSpPr>
        <p:spPr>
          <a:xfrm xmlns:a="http://schemas.openxmlformats.org/drawingml/2006/main">
            <a:off x="8420100" y="6486525"/>
            <a:ext cx="2157132"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BA5660EF-9233-4547-B7DF-38D53E59E396}"/>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Only 15.2% clear all three descriptive thresholds</a:t>
            </a:r>
          </a:p>
        </p:txBody>
      </p:sp>
      <p:sp>
        <p:nvSpPr>
          <p:cNvPr id="9" name="">
            <a:extLst xmlns:a="http://schemas.openxmlformats.org/drawingml/2006/main">
              <a:ext uri="{FF2B5EF4-FFF2-40B4-BE49-F238E27FC236}">
                <a16:creationId xmlns:a16="http://schemas.microsoft.com/office/drawing/2014/main" id="{361A4021-2676-4255-98C5-DCABBFA0D094}"/>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Which pools combine APY, persistence and capacity?</a:t>
            </a:r>
          </a:p>
        </p:txBody>
      </p:sp>
      <p:sp>
        <p:nvSpPr>
          <p:cNvPr id="10" name="">
            <a:extLst xmlns:a="http://schemas.openxmlformats.org/drawingml/2006/main">
              <a:ext uri="{FF2B5EF4-FFF2-40B4-BE49-F238E27FC236}">
                <a16:creationId xmlns:a16="http://schemas.microsoft.com/office/drawing/2014/main" id="{02F4F135-AC7B-4053-801D-77A065200F85}"/>
              </a:ext>
            </a:extLst>
          </p:cNvPr>
          <p:cNvSpPr>
            <a:spLocks xmlns:a="http://schemas.openxmlformats.org/drawingml/2006/main" noGrp="1"/>
          </p:cNvSpPr>
          <p:nvPr/>
        </p:nvSpPr>
        <p:spPr>
          <a:xfrm xmlns:a="http://schemas.openxmlformats.org/drawingml/2006/main">
            <a:off x="419100" y="1771650"/>
            <a:ext cx="3143250" cy="4057650"/>
          </a:xfrm>
          <a:prstGeom xmlns:a="http://schemas.openxmlformats.org/drawingml/2006/main" prst="roundRect">
            <a:avLst>
              <a:gd name="adj" fmla="val 7879"/>
            </a:avLst>
          </a:prstGeom>
          <a:gradFill xmlns:a="http://schemas.openxmlformats.org/drawingml/2006/main">
            <a:gsLst>
              <a:gs pos="0">
                <a:srgbClr val="8B5CF6">
                  <a:alpha val="20000"/>
                </a:srgbClr>
              </a:gs>
              <a:gs pos="78000">
                <a:srgbClr val="FFFFFF"/>
              </a:gs>
            </a:gsLst>
            <a:lin ang="8700000"/>
          </a:gradFill>
          <a:ln xmlns:a="http://schemas.openxmlformats.org/drawingml/2006/main" w="9525">
            <a:solidFill>
              <a:srgbClr val="8B5CF6">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0DEF4E6-7279-4A9D-A6B4-DECC7EF0BC1F}"/>
              </a:ext>
            </a:extLst>
          </p:cNvPr>
          <p:cNvSpPr>
            <a:spLocks xmlns:a="http://schemas.openxmlformats.org/drawingml/2006/main" noGrp="1"/>
          </p:cNvSpPr>
          <p:nvPr/>
        </p:nvSpPr>
        <p:spPr>
          <a:xfrm xmlns:a="http://schemas.openxmlformats.org/drawingml/2006/main">
            <a:off x="647700" y="2000250"/>
            <a:ext cx="1809750" cy="304800"/>
          </a:xfrm>
          <a:prstGeom xmlns:a="http://schemas.openxmlformats.org/drawingml/2006/main" prst="roundRect">
            <a:avLst>
              <a:gd name="adj" fmla="val 50000"/>
            </a:avLst>
          </a:prstGeom>
          <a:solidFill xmlns:a="http://schemas.openxmlformats.org/drawingml/2006/main">
            <a:srgbClr val="8B5CF6">
              <a:alpha val="16000"/>
            </a:srgbClr>
          </a:solidFill>
          <a:ln xmlns:a="http://schemas.openxmlformats.org/drawingml/2006/main" w="9525">
            <a:solidFill>
              <a:srgbClr val="8B5CF6">
                <a:alpha val="22000"/>
              </a:srgbClr>
            </a:solidFill>
            <a:prstDash val="solid"/>
          </a:ln>
        </p:spPr>
      </p:sp>
      <p:sp>
        <p:nvSpPr>
          <p:cNvPr id="12" name="">
            <a:extLst xmlns:a="http://schemas.openxmlformats.org/drawingml/2006/main">
              <a:ext uri="{FF2B5EF4-FFF2-40B4-BE49-F238E27FC236}">
                <a16:creationId xmlns:a16="http://schemas.microsoft.com/office/drawing/2014/main" id="{89D4E475-3D7A-4705-8469-2A5FBA94B4FE}"/>
              </a:ext>
            </a:extLst>
          </p:cNvPr>
          <p:cNvSpPr>
            <a:spLocks xmlns:a="http://schemas.openxmlformats.org/drawingml/2006/main" noGrp="1"/>
          </p:cNvSpPr>
          <p:nvPr/>
        </p:nvSpPr>
        <p:spPr>
          <a:xfrm xmlns:a="http://schemas.openxmlformats.org/drawingml/2006/main">
            <a:off x="762000" y="2009775"/>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8B5CF6"/>
                </a:solidFill>
                <a:latin typeface="Aptos"/>
                <a:ea typeface="Aptos"/>
                <a:cs typeface="Aptos"/>
              </a:defRPr>
            </a:pPr>
            <a:r>
              <a:rPr sz="900" b="1">
                <a:solidFill>
                  <a:srgbClr val="8B5CF6"/>
                </a:solidFill>
                <a:latin typeface="Aptos"/>
                <a:ea typeface="Aptos"/>
                <a:cs typeface="Aptos"/>
              </a:rPr>
              <a:t>THREE-MEDIAN SCREEN</a:t>
            </a:r>
          </a:p>
        </p:txBody>
      </p:sp>
      <p:sp>
        <p:nvSpPr>
          <p:cNvPr id="13" name="">
            <a:extLst xmlns:a="http://schemas.openxmlformats.org/drawingml/2006/main">
              <a:ext uri="{FF2B5EF4-FFF2-40B4-BE49-F238E27FC236}">
                <a16:creationId xmlns:a16="http://schemas.microsoft.com/office/drawing/2014/main" id="{6382D24C-8FFD-438C-826D-F9B28D2B8047}"/>
              </a:ext>
            </a:extLst>
          </p:cNvPr>
          <p:cNvSpPr>
            <a:spLocks xmlns:a="http://schemas.openxmlformats.org/drawingml/2006/main" noGrp="1"/>
          </p:cNvSpPr>
          <p:nvPr/>
        </p:nvSpPr>
        <p:spPr>
          <a:xfrm xmlns:a="http://schemas.openxmlformats.org/drawingml/2006/main">
            <a:off x="647700" y="2533650"/>
            <a:ext cx="2457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4213D"/>
                </a:solidFill>
                <a:latin typeface="Aptos"/>
                <a:ea typeface="Aptos"/>
                <a:cs typeface="Aptos"/>
              </a:defRPr>
            </a:pPr>
            <a:r>
              <a:rPr sz="2325" b="1">
                <a:solidFill>
                  <a:srgbClr val="14213D"/>
                </a:solidFill>
                <a:latin typeface="Aptos"/>
                <a:ea typeface="Aptos"/>
                <a:cs typeface="Aptos"/>
              </a:rPr>
              <a:t>38 of 250 pools</a:t>
            </a:r>
          </a:p>
        </p:txBody>
      </p:sp>
      <p:sp>
        <p:nvSpPr>
          <p:cNvPr id="14" name="">
            <a:extLst xmlns:a="http://schemas.openxmlformats.org/drawingml/2006/main">
              <a:ext uri="{FF2B5EF4-FFF2-40B4-BE49-F238E27FC236}">
                <a16:creationId xmlns:a16="http://schemas.microsoft.com/office/drawing/2014/main" id="{A84F28A6-D9BB-4A41-8DF8-6E41F1DCDEED}"/>
              </a:ext>
            </a:extLst>
          </p:cNvPr>
          <p:cNvSpPr>
            <a:spLocks xmlns:a="http://schemas.openxmlformats.org/drawingml/2006/main" noGrp="1"/>
          </p:cNvSpPr>
          <p:nvPr/>
        </p:nvSpPr>
        <p:spPr>
          <a:xfrm xmlns:a="http://schemas.openxmlformats.org/drawingml/2006/main">
            <a:off x="647700" y="3028950"/>
            <a:ext cx="2457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clear APY, persistence and TVL thresholds simultaneously</a:t>
            </a:r>
          </a:p>
        </p:txBody>
      </p:sp>
      <p:sp>
        <p:nvSpPr>
          <p:cNvPr id="15" name="">
            <a:extLst xmlns:a="http://schemas.openxmlformats.org/drawingml/2006/main">
              <a:ext uri="{FF2B5EF4-FFF2-40B4-BE49-F238E27FC236}">
                <a16:creationId xmlns:a16="http://schemas.microsoft.com/office/drawing/2014/main" id="{5CA8CDFB-B923-49CA-A8CF-A151B0AC9A88}"/>
              </a:ext>
            </a:extLst>
          </p:cNvPr>
          <p:cNvSpPr>
            <a:spLocks xmlns:a="http://schemas.openxmlformats.org/drawingml/2006/main" noGrp="1"/>
          </p:cNvSpPr>
          <p:nvPr/>
        </p:nvSpPr>
        <p:spPr>
          <a:xfrm xmlns:a="http://schemas.openxmlformats.org/drawingml/2006/main">
            <a:off x="647700" y="3924300"/>
            <a:ext cx="2457450" cy="9525"/>
          </a:xfrm>
          <a:prstGeom xmlns:a="http://schemas.openxmlformats.org/drawingml/2006/main" prst="line">
            <a:avLst/>
          </a:prstGeom>
          <a:noFill xmlns:a="http://schemas.openxmlformats.org/drawingml/2006/main"/>
          <a:ln xmlns:a="http://schemas.openxmlformats.org/drawingml/2006/main" w="9525">
            <a:solidFill>
              <a:srgbClr val="8B5CF6">
                <a:alpha val="30000"/>
              </a:srgbClr>
            </a:solidFill>
            <a:prstDash val="solid"/>
          </a:ln>
        </p:spPr>
      </p:sp>
      <p:sp>
        <p:nvSpPr>
          <p:cNvPr id="16" name="">
            <a:extLst xmlns:a="http://schemas.openxmlformats.org/drawingml/2006/main">
              <a:ext uri="{FF2B5EF4-FFF2-40B4-BE49-F238E27FC236}">
                <a16:creationId xmlns:a16="http://schemas.microsoft.com/office/drawing/2014/main" id="{5D90200A-6E3C-4678-8951-567112391EC2}"/>
              </a:ext>
            </a:extLst>
          </p:cNvPr>
          <p:cNvSpPr>
            <a:spLocks xmlns:a="http://schemas.openxmlformats.org/drawingml/2006/main" noGrp="1"/>
          </p:cNvSpPr>
          <p:nvPr/>
        </p:nvSpPr>
        <p:spPr>
          <a:xfrm xmlns:a="http://schemas.openxmlformats.org/drawingml/2006/main">
            <a:off x="666750" y="41719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6B9D"/>
                </a:solidFill>
                <a:latin typeface="Aptos"/>
                <a:ea typeface="Aptos"/>
                <a:cs typeface="Aptos"/>
              </a:defRPr>
            </a:pPr>
            <a:r>
              <a:rPr sz="1725" b="1">
                <a:solidFill>
                  <a:srgbClr val="FF6B9D"/>
                </a:solidFill>
                <a:latin typeface="Aptos"/>
                <a:ea typeface="Aptos"/>
                <a:cs typeface="Aptos"/>
              </a:rPr>
              <a:t>4.47%</a:t>
            </a:r>
          </a:p>
        </p:txBody>
      </p:sp>
      <p:sp>
        <p:nvSpPr>
          <p:cNvPr id="17" name="">
            <a:extLst xmlns:a="http://schemas.openxmlformats.org/drawingml/2006/main">
              <a:ext uri="{FF2B5EF4-FFF2-40B4-BE49-F238E27FC236}">
                <a16:creationId xmlns:a16="http://schemas.microsoft.com/office/drawing/2014/main" id="{5B242FF9-D2EF-48F3-BA84-5F0D1E99525E}"/>
              </a:ext>
            </a:extLst>
          </p:cNvPr>
          <p:cNvSpPr>
            <a:spLocks xmlns:a="http://schemas.openxmlformats.org/drawingml/2006/main" noGrp="1"/>
          </p:cNvSpPr>
          <p:nvPr/>
        </p:nvSpPr>
        <p:spPr>
          <a:xfrm xmlns:a="http://schemas.openxmlformats.org/drawingml/2006/main">
            <a:off x="1847850" y="41910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Pool-level median APY threshold</a:t>
            </a:r>
          </a:p>
        </p:txBody>
      </p:sp>
      <p:sp>
        <p:nvSpPr>
          <p:cNvPr id="18" name="">
            <a:extLst xmlns:a="http://schemas.openxmlformats.org/drawingml/2006/main">
              <a:ext uri="{FF2B5EF4-FFF2-40B4-BE49-F238E27FC236}">
                <a16:creationId xmlns:a16="http://schemas.microsoft.com/office/drawing/2014/main" id="{EC9BDE2D-3417-44E5-81E8-E62BA63A74BD}"/>
              </a:ext>
            </a:extLst>
          </p:cNvPr>
          <p:cNvSpPr>
            <a:spLocks xmlns:a="http://schemas.openxmlformats.org/drawingml/2006/main" noGrp="1"/>
          </p:cNvSpPr>
          <p:nvPr/>
        </p:nvSpPr>
        <p:spPr>
          <a:xfrm xmlns:a="http://schemas.openxmlformats.org/drawingml/2006/main">
            <a:off x="666750" y="47244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8B5CF6"/>
                </a:solidFill>
                <a:latin typeface="Aptos"/>
                <a:ea typeface="Aptos"/>
                <a:cs typeface="Aptos"/>
              </a:defRPr>
            </a:pPr>
            <a:r>
              <a:rPr sz="1725" b="1">
                <a:solidFill>
                  <a:srgbClr val="8B5CF6"/>
                </a:solidFill>
                <a:latin typeface="Aptos"/>
                <a:ea typeface="Aptos"/>
                <a:cs typeface="Aptos"/>
              </a:rPr>
              <a:t>6.1%</a:t>
            </a:r>
          </a:p>
        </p:txBody>
      </p:sp>
      <p:sp>
        <p:nvSpPr>
          <p:cNvPr id="19" name="">
            <a:extLst xmlns:a="http://schemas.openxmlformats.org/drawingml/2006/main">
              <a:ext uri="{FF2B5EF4-FFF2-40B4-BE49-F238E27FC236}">
                <a16:creationId xmlns:a16="http://schemas.microsoft.com/office/drawing/2014/main" id="{11071375-2E22-4B76-B32D-0343082A4AF7}"/>
              </a:ext>
            </a:extLst>
          </p:cNvPr>
          <p:cNvSpPr>
            <a:spLocks xmlns:a="http://schemas.openxmlformats.org/drawingml/2006/main" noGrp="1"/>
          </p:cNvSpPr>
          <p:nvPr/>
        </p:nvSpPr>
        <p:spPr>
          <a:xfrm xmlns:a="http://schemas.openxmlformats.org/drawingml/2006/main">
            <a:off x="1847850" y="47434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Persistence threshold</a:t>
            </a:r>
          </a:p>
        </p:txBody>
      </p:sp>
      <p:sp>
        <p:nvSpPr>
          <p:cNvPr id="20" name="">
            <a:extLst xmlns:a="http://schemas.openxmlformats.org/drawingml/2006/main">
              <a:ext uri="{FF2B5EF4-FFF2-40B4-BE49-F238E27FC236}">
                <a16:creationId xmlns:a16="http://schemas.microsoft.com/office/drawing/2014/main" id="{8323F4AA-1F59-4C38-9F72-CED7E47F70EB}"/>
              </a:ext>
            </a:extLst>
          </p:cNvPr>
          <p:cNvSpPr>
            <a:spLocks xmlns:a="http://schemas.openxmlformats.org/drawingml/2006/main" noGrp="1"/>
          </p:cNvSpPr>
          <p:nvPr/>
        </p:nvSpPr>
        <p:spPr>
          <a:xfrm xmlns:a="http://schemas.openxmlformats.org/drawingml/2006/main">
            <a:off x="666750" y="53149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67085"/>
                </a:solidFill>
                <a:latin typeface="Aptos"/>
                <a:ea typeface="Aptos"/>
                <a:cs typeface="Aptos"/>
              </a:defRPr>
            </a:pPr>
            <a:r>
              <a:rPr sz="1050" b="1">
                <a:solidFill>
                  <a:srgbClr val="667085"/>
                </a:solidFill>
                <a:latin typeface="Aptos"/>
                <a:ea typeface="Aptos"/>
                <a:cs typeface="Aptos"/>
              </a:rPr>
              <a:t>Bubble size = median TVL. This is not a Pareto frontier.</a:t>
            </a:r>
          </a:p>
        </p:txBody>
      </p:sp>
      <p:sp>
        <p:nvSpPr>
          <p:cNvPr id="21" name="">
            <a:extLst xmlns:a="http://schemas.openxmlformats.org/drawingml/2006/main">
              <a:ext uri="{FF2B5EF4-FFF2-40B4-BE49-F238E27FC236}">
                <a16:creationId xmlns:a16="http://schemas.microsoft.com/office/drawing/2014/main" id="{F2DE68C3-CD7D-4C55-99E3-10AA709C26A5}"/>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a1bdcb901b14944"/>
          <a:stretch xmlns:a="http://schemas.openxmlformats.org/drawingml/2006/main"/>
        </p:blipFill>
        <p:spPr>
          <a:xfrm xmlns:a="http://schemas.openxmlformats.org/drawingml/2006/main">
            <a:off x="4095750" y="2000250"/>
            <a:ext cx="7334250" cy="3429000"/>
          </a:xfrm>
          <a:prstGeom xmlns:a="http://schemas.openxmlformats.org/drawingml/2006/main" prst="roundRect">
            <a:avLst>
              <a:gd name="adj" fmla="val 4444"/>
            </a:avLst>
          </a:prstGeom>
        </p:spPr>
      </p:pic>
      <p:sp>
        <p:nvSpPr>
          <p:cNvPr id="23" name="">
            <a:extLst xmlns:a="http://schemas.openxmlformats.org/drawingml/2006/main">
              <a:ext uri="{FF2B5EF4-FFF2-40B4-BE49-F238E27FC236}">
                <a16:creationId xmlns:a16="http://schemas.microsoft.com/office/drawing/2014/main" id="{FD6FFDC4-2A57-4194-B0AB-4672AD68E881}"/>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667085"/>
                </a:solidFill>
                <a:latin typeface="Aptos"/>
                <a:ea typeface="Aptos"/>
                <a:cs typeface="Aptos"/>
              </a:defRPr>
            </a:pPr>
            <a:r>
              <a:rPr sz="825" b="0">
                <a:solidFill>
                  <a:srgbClr val="667085"/>
                </a:solidFill>
                <a:latin typeface="Aptos"/>
                <a:ea typeface="Aptos"/>
                <a:cs typeface="Aptos"/>
              </a:rPr>
              <a:t>Sources: DeFiLlama, CoinGecko and selected official protocol documentation. APY is quoted, not realized return.</a:t>
            </a:r>
          </a:p>
        </p:txBody>
      </p:sp>
    </p:spTree>
    <p:extLst>
      <p:ext uri="{BB962C8B-B14F-4D97-AF65-F5344CB8AC3E}">
        <p14:creationId xmlns:p14="http://schemas.microsoft.com/office/powerpoint/2010/main" val="1468788603"/>
      </p:ext>
    </p:extLst>
  </p:cSld>
</p:sld>
</file>

<file path=ppt/slides/slide12.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ED38151-B6BA-47B2-91EE-6D3BF9DFE6C6}"/>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E6189809-911F-4084-A175-D4F7F35BF688}"/>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ROBUSTNESS</a:t>
            </a:r>
          </a:p>
        </p:txBody>
      </p:sp>
      <p:sp>
        <p:nvSpPr>
          <p:cNvPr id="3" name="">
            <a:extLst xmlns:a="http://schemas.openxmlformats.org/drawingml/2006/main">
              <a:ext uri="{FF2B5EF4-FFF2-40B4-BE49-F238E27FC236}">
                <a16:creationId xmlns:a16="http://schemas.microsoft.com/office/drawing/2014/main" id="{D95010B4-FCDF-4F2F-BB1E-14E76651185F}"/>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B0CCFF9E-653E-4E0D-B71B-31676E941C3E}"/>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9CC7E669-58C5-4724-B108-04C163BAA42C}"/>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D9B21428-B6CF-4299-BB62-6EC7AF9E0A18}"/>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AD74B041-FCEF-46FD-A739-E8E2F2F04E3D}"/>
              </a:ext>
            </a:extLst>
          </p:cNvPr>
          <p:cNvSpPr>
            <a:spLocks xmlns:a="http://schemas.openxmlformats.org/drawingml/2006/main" noGrp="1"/>
          </p:cNvSpPr>
          <p:nvPr/>
        </p:nvSpPr>
        <p:spPr>
          <a:xfrm xmlns:a="http://schemas.openxmlformats.org/drawingml/2006/main">
            <a:off x="8420100" y="6486525"/>
            <a:ext cx="2353235"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7A39082D-9A72-4597-9FBF-490EA2EA7CC6}"/>
              </a:ext>
            </a:extLst>
          </p:cNvPr>
          <p:cNvSpPr>
            <a:spLocks xmlns:a="http://schemas.openxmlformats.org/drawingml/2006/main" noGrp="1"/>
          </p:cNvSpPr>
          <p:nvPr/>
        </p:nvSpPr>
        <p:spPr>
          <a:xfrm xmlns:a="http://schemas.openxmlformats.org/drawingml/2006/main">
            <a:off x="419100" y="7620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The main duration result survives alternative thresholds</a:t>
            </a:r>
          </a:p>
        </p:txBody>
      </p:sp>
      <p:sp>
        <p:nvSpPr>
          <p:cNvPr id="9" name="">
            <a:extLst xmlns:a="http://schemas.openxmlformats.org/drawingml/2006/main">
              <a:ext uri="{FF2B5EF4-FFF2-40B4-BE49-F238E27FC236}">
                <a16:creationId xmlns:a16="http://schemas.microsoft.com/office/drawing/2014/main" id="{EB9DCAAC-7B0A-4AF8-BAF4-82DD6F3EB8BE}"/>
              </a:ext>
            </a:extLst>
          </p:cNvPr>
          <p:cNvSpPr>
            <a:spLocks xmlns:a="http://schemas.openxmlformats.org/drawingml/2006/main" noGrp="1"/>
          </p:cNvSpPr>
          <p:nvPr/>
        </p:nvSpPr>
        <p:spPr>
          <a:xfrm xmlns:a="http://schemas.openxmlformats.org/drawingml/2006/main">
            <a:off x="419100" y="13335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Does the short-episode conclusion depend on one threshold?</a:t>
            </a:r>
          </a:p>
        </p:txBody>
      </p:sp>
      <p:sp>
        <p:nvSpPr>
          <p:cNvPr id="10" name="">
            <a:extLst xmlns:a="http://schemas.openxmlformats.org/drawingml/2006/main">
              <a:ext uri="{FF2B5EF4-FFF2-40B4-BE49-F238E27FC236}">
                <a16:creationId xmlns:a16="http://schemas.microsoft.com/office/drawing/2014/main" id="{5BB19A22-21F5-43C6-A504-00C9EEFDB81F}"/>
              </a:ext>
            </a:extLst>
          </p:cNvPr>
          <p:cNvSpPr>
            <a:spLocks xmlns:a="http://schemas.openxmlformats.org/drawingml/2006/main" noGrp="1"/>
          </p:cNvSpPr>
          <p:nvPr/>
        </p:nvSpPr>
        <p:spPr>
          <a:xfrm xmlns:a="http://schemas.openxmlformats.org/drawingml/2006/main">
            <a:off x="419100" y="1771650"/>
            <a:ext cx="723900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3A4CCA2-3818-417E-B6E2-A24102647CAF}"/>
              </a:ext>
            </a:extLst>
          </p:cNvPr>
          <p:cNvSpPr>
            <a:spLocks xmlns:a="http://schemas.openxmlformats.org/drawingml/2006/main" noGrp="1"/>
          </p:cNvSpPr>
          <p:nvPr/>
        </p:nvSpPr>
        <p:spPr>
          <a:xfrm xmlns:a="http://schemas.openxmlformats.org/drawingml/2006/main">
            <a:off x="685800" y="20002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Episode count changes; median duration does not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ab78383ecb14c32"/>
          <a:stretch xmlns:a="http://schemas.openxmlformats.org/drawingml/2006/main"/>
        </p:blipFill>
        <p:spPr>
          <a:xfrm xmlns:a="http://schemas.openxmlformats.org/drawingml/2006/main">
            <a:off x="800100" y="2476500"/>
            <a:ext cx="4095750" cy="2724150"/>
          </a:xfrm>
          <a:prstGeom xmlns:a="http://schemas.openxmlformats.org/drawingml/2006/main" prst="roundRect">
            <a:avLst>
              <a:gd name="adj" fmla="val 5594"/>
            </a:avLst>
          </a:prstGeom>
        </p:spPr>
      </p:pic>
      <p:sp>
        <p:nvSpPr>
          <p:cNvPr id="13" name="">
            <a:extLst xmlns:a="http://schemas.openxmlformats.org/drawingml/2006/main">
              <a:ext uri="{FF2B5EF4-FFF2-40B4-BE49-F238E27FC236}">
                <a16:creationId xmlns:a16="http://schemas.microsoft.com/office/drawing/2014/main" id="{01699A5E-2943-4076-A671-B341EB59F8AA}"/>
              </a:ext>
            </a:extLst>
          </p:cNvPr>
          <p:cNvSpPr>
            <a:spLocks xmlns:a="http://schemas.openxmlformats.org/drawingml/2006/main" noGrp="1"/>
          </p:cNvSpPr>
          <p:nvPr/>
        </p:nvSpPr>
        <p:spPr>
          <a:xfrm xmlns:a="http://schemas.openxmlformats.org/drawingml/2006/main">
            <a:off x="5257800" y="29527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8B5CF6"/>
                </a:solidFill>
                <a:latin typeface="Aptos"/>
                <a:ea typeface="Aptos"/>
                <a:cs typeface="Aptos"/>
              </a:defRPr>
            </a:pPr>
            <a:r>
              <a:rPr sz="3600" b="1">
                <a:solidFill>
                  <a:srgbClr val="8B5CF6"/>
                </a:solidFill>
                <a:latin typeface="Aptos"/>
                <a:ea typeface="Aptos"/>
                <a:cs typeface="Aptos"/>
              </a:rPr>
              <a:t>2 days</a:t>
            </a:r>
          </a:p>
        </p:txBody>
      </p:sp>
      <p:sp>
        <p:nvSpPr>
          <p:cNvPr id="14" name="">
            <a:extLst xmlns:a="http://schemas.openxmlformats.org/drawingml/2006/main">
              <a:ext uri="{FF2B5EF4-FFF2-40B4-BE49-F238E27FC236}">
                <a16:creationId xmlns:a16="http://schemas.microsoft.com/office/drawing/2014/main" id="{C46465E3-BED4-4976-98C4-B6BF8553E21D}"/>
              </a:ext>
            </a:extLst>
          </p:cNvPr>
          <p:cNvSpPr>
            <a:spLocks xmlns:a="http://schemas.openxmlformats.org/drawingml/2006/main" noGrp="1"/>
          </p:cNvSpPr>
          <p:nvPr/>
        </p:nvSpPr>
        <p:spPr>
          <a:xfrm xmlns:a="http://schemas.openxmlformats.org/drawingml/2006/main">
            <a:off x="5238750" y="3638550"/>
            <a:ext cx="1943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4213D"/>
                </a:solidFill>
                <a:latin typeface="Aptos"/>
                <a:ea typeface="Aptos"/>
                <a:cs typeface="Aptos"/>
              </a:defRPr>
            </a:pPr>
            <a:r>
              <a:rPr sz="1350" b="1">
                <a:solidFill>
                  <a:srgbClr val="14213D"/>
                </a:solidFill>
                <a:latin typeface="Aptos"/>
                <a:ea typeface="Aptos"/>
                <a:cs typeface="Aptos"/>
              </a:rPr>
              <a:t>median duration at 5%, 10% and 20% APY thresholds</a:t>
            </a:r>
          </a:p>
        </p:txBody>
      </p:sp>
      <p:sp>
        <p:nvSpPr>
          <p:cNvPr id="15" name="">
            <a:extLst xmlns:a="http://schemas.openxmlformats.org/drawingml/2006/main">
              <a:ext uri="{FF2B5EF4-FFF2-40B4-BE49-F238E27FC236}">
                <a16:creationId xmlns:a16="http://schemas.microsoft.com/office/drawing/2014/main" id="{B7032B7D-7E94-4B8B-9437-B2F7B2330A3F}"/>
              </a:ext>
            </a:extLst>
          </p:cNvPr>
          <p:cNvSpPr>
            <a:spLocks xmlns:a="http://schemas.openxmlformats.org/drawingml/2006/main" noGrp="1"/>
          </p:cNvSpPr>
          <p:nvPr/>
        </p:nvSpPr>
        <p:spPr>
          <a:xfrm xmlns:a="http://schemas.openxmlformats.org/drawingml/2006/main">
            <a:off x="5219700" y="4629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667085"/>
                </a:solidFill>
                <a:latin typeface="Aptos"/>
                <a:ea typeface="Aptos"/>
                <a:cs typeface="Aptos"/>
              </a:defRPr>
            </a:pPr>
            <a:r>
              <a:rPr sz="1125" b="0">
                <a:solidFill>
                  <a:srgbClr val="667085"/>
                </a:solidFill>
                <a:latin typeface="Aptos"/>
                <a:ea typeface="Aptos"/>
                <a:cs typeface="Aptos"/>
              </a:rPr>
              <a:t>Counts: 3,688 | 2,668 | 964</a:t>
            </a:r>
          </a:p>
        </p:txBody>
      </p:sp>
      <p:sp>
        <p:nvSpPr>
          <p:cNvPr id="16" name="">
            <a:extLst xmlns:a="http://schemas.openxmlformats.org/drawingml/2006/main">
              <a:ext uri="{FF2B5EF4-FFF2-40B4-BE49-F238E27FC236}">
                <a16:creationId xmlns:a16="http://schemas.microsoft.com/office/drawing/2014/main" id="{7578C1C5-3810-4E2B-80AD-7637A84C3282}"/>
              </a:ext>
            </a:extLst>
          </p:cNvPr>
          <p:cNvSpPr>
            <a:spLocks xmlns:a="http://schemas.openxmlformats.org/drawingml/2006/main" noGrp="1"/>
          </p:cNvSpPr>
          <p:nvPr/>
        </p:nvSpPr>
        <p:spPr>
          <a:xfrm xmlns:a="http://schemas.openxmlformats.org/drawingml/2006/main">
            <a:off x="7943850" y="1771650"/>
            <a:ext cx="3810000" cy="4057650"/>
          </a:xfrm>
          <a:prstGeom xmlns:a="http://schemas.openxmlformats.org/drawingml/2006/main" prst="roundRect">
            <a:avLst>
              <a:gd name="adj" fmla="val 6500"/>
            </a:avLst>
          </a:prstGeom>
          <a:gradFill xmlns:a="http://schemas.openxmlformats.org/drawingml/2006/main">
            <a:gsLst>
              <a:gs pos="0">
                <a:srgbClr val="8B5CF6">
                  <a:alpha val="18000"/>
                </a:srgbClr>
              </a:gs>
              <a:gs pos="80000">
                <a:srgbClr val="FFFFFF"/>
              </a:gs>
            </a:gsLst>
            <a:lin ang="8700000"/>
          </a:gradFill>
          <a:ln xmlns:a="http://schemas.openxmlformats.org/drawingml/2006/main" w="9525">
            <a:solidFill>
              <a:srgbClr val="8B5CF6">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20F9F5EB-7429-43ED-9B0D-1140AD3F91E1}"/>
              </a:ext>
            </a:extLst>
          </p:cNvPr>
          <p:cNvSpPr>
            <a:spLocks xmlns:a="http://schemas.openxmlformats.org/drawingml/2006/main" noGrp="1"/>
          </p:cNvSpPr>
          <p:nvPr/>
        </p:nvSpPr>
        <p:spPr>
          <a:xfrm xmlns:a="http://schemas.openxmlformats.org/drawingml/2006/main">
            <a:off x="8191500" y="2000250"/>
            <a:ext cx="1733550" cy="304800"/>
          </a:xfrm>
          <a:prstGeom xmlns:a="http://schemas.openxmlformats.org/drawingml/2006/main" prst="roundRect">
            <a:avLst>
              <a:gd name="adj" fmla="val 50000"/>
            </a:avLst>
          </a:prstGeom>
          <a:solidFill xmlns:a="http://schemas.openxmlformats.org/drawingml/2006/main">
            <a:srgbClr val="8B5CF6">
              <a:alpha val="16000"/>
            </a:srgbClr>
          </a:solidFill>
          <a:ln xmlns:a="http://schemas.openxmlformats.org/drawingml/2006/main" w="9525">
            <a:solidFill>
              <a:srgbClr val="8B5CF6">
                <a:alpha val="22000"/>
              </a:srgbClr>
            </a:solidFill>
            <a:prstDash val="solid"/>
          </a:ln>
        </p:spPr>
      </p:sp>
      <p:sp>
        <p:nvSpPr>
          <p:cNvPr id="18" name="">
            <a:extLst xmlns:a="http://schemas.openxmlformats.org/drawingml/2006/main">
              <a:ext uri="{FF2B5EF4-FFF2-40B4-BE49-F238E27FC236}">
                <a16:creationId xmlns:a16="http://schemas.microsoft.com/office/drawing/2014/main" id="{C5B30FCB-25F9-4323-AEA5-23C8B52DBBBE}"/>
              </a:ext>
            </a:extLst>
          </p:cNvPr>
          <p:cNvSpPr>
            <a:spLocks xmlns:a="http://schemas.openxmlformats.org/drawingml/2006/main" noGrp="1"/>
          </p:cNvSpPr>
          <p:nvPr/>
        </p:nvSpPr>
        <p:spPr>
          <a:xfrm xmlns:a="http://schemas.openxmlformats.org/drawingml/2006/main">
            <a:off x="8305800" y="20097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8B5CF6"/>
                </a:solidFill>
                <a:latin typeface="Aptos"/>
                <a:ea typeface="Aptos"/>
                <a:cs typeface="Aptos"/>
              </a:defRPr>
            </a:pPr>
            <a:r>
              <a:rPr sz="900" b="1">
                <a:solidFill>
                  <a:srgbClr val="8B5CF6"/>
                </a:solidFill>
                <a:latin typeface="Aptos"/>
                <a:ea typeface="Aptos"/>
                <a:cs typeface="Aptos"/>
              </a:rPr>
              <a:t>FIVE CHECK FAMILIES</a:t>
            </a:r>
          </a:p>
        </p:txBody>
      </p:sp>
      <p:sp>
        <p:nvSpPr>
          <p:cNvPr id="19" name="">
            <a:extLst xmlns:a="http://schemas.openxmlformats.org/drawingml/2006/main">
              <a:ext uri="{FF2B5EF4-FFF2-40B4-BE49-F238E27FC236}">
                <a16:creationId xmlns:a16="http://schemas.microsoft.com/office/drawing/2014/main" id="{DF6529A6-3A33-4C6B-9DA3-59F57BCAE8D7}"/>
              </a:ext>
            </a:extLst>
          </p:cNvPr>
          <p:cNvSpPr>
            <a:spLocks xmlns:a="http://schemas.openxmlformats.org/drawingml/2006/main" noGrp="1"/>
          </p:cNvSpPr>
          <p:nvPr/>
        </p:nvSpPr>
        <p:spPr>
          <a:xfrm xmlns:a="http://schemas.openxmlformats.org/drawingml/2006/main">
            <a:off x="8210550" y="25717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APY threshold</a:t>
            </a:r>
          </a:p>
        </p:txBody>
      </p:sp>
      <p:sp>
        <p:nvSpPr>
          <p:cNvPr id="20" name="">
            <a:extLst xmlns:a="http://schemas.openxmlformats.org/drawingml/2006/main">
              <a:ext uri="{FF2B5EF4-FFF2-40B4-BE49-F238E27FC236}">
                <a16:creationId xmlns:a16="http://schemas.microsoft.com/office/drawing/2014/main" id="{4CC50D87-D501-40EE-B1FB-A3B4F30EC6D5}"/>
              </a:ext>
            </a:extLst>
          </p:cNvPr>
          <p:cNvSpPr>
            <a:spLocks xmlns:a="http://schemas.openxmlformats.org/drawingml/2006/main" noGrp="1"/>
          </p:cNvSpPr>
          <p:nvPr/>
        </p:nvSpPr>
        <p:spPr>
          <a:xfrm xmlns:a="http://schemas.openxmlformats.org/drawingml/2006/main">
            <a:off x="9753600" y="2571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5%, 10%, 20%</a:t>
            </a:r>
          </a:p>
        </p:txBody>
      </p:sp>
      <p:sp>
        <p:nvSpPr>
          <p:cNvPr id="21" name="">
            <a:extLst xmlns:a="http://schemas.openxmlformats.org/drawingml/2006/main">
              <a:ext uri="{FF2B5EF4-FFF2-40B4-BE49-F238E27FC236}">
                <a16:creationId xmlns:a16="http://schemas.microsoft.com/office/drawing/2014/main" id="{9E766D79-0ED9-4318-A27C-775D4F37E03E}"/>
              </a:ext>
            </a:extLst>
          </p:cNvPr>
          <p:cNvSpPr>
            <a:spLocks xmlns:a="http://schemas.openxmlformats.org/drawingml/2006/main" noGrp="1"/>
          </p:cNvSpPr>
          <p:nvPr/>
        </p:nvSpPr>
        <p:spPr>
          <a:xfrm xmlns:a="http://schemas.openxmlformats.org/drawingml/2006/main">
            <a:off x="8210550" y="2971800"/>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2" name="">
            <a:extLst xmlns:a="http://schemas.openxmlformats.org/drawingml/2006/main">
              <a:ext uri="{FF2B5EF4-FFF2-40B4-BE49-F238E27FC236}">
                <a16:creationId xmlns:a16="http://schemas.microsoft.com/office/drawing/2014/main" id="{A8568227-7498-4AC3-A16E-F7909D5077BB}"/>
              </a:ext>
            </a:extLst>
          </p:cNvPr>
          <p:cNvSpPr>
            <a:spLocks xmlns:a="http://schemas.openxmlformats.org/drawingml/2006/main" noGrp="1"/>
          </p:cNvSpPr>
          <p:nvPr/>
        </p:nvSpPr>
        <p:spPr>
          <a:xfrm xmlns:a="http://schemas.openxmlformats.org/drawingml/2006/main">
            <a:off x="8210550" y="3152775"/>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Minimum TVL</a:t>
            </a:r>
          </a:p>
        </p:txBody>
      </p:sp>
      <p:sp>
        <p:nvSpPr>
          <p:cNvPr id="23" name="">
            <a:extLst xmlns:a="http://schemas.openxmlformats.org/drawingml/2006/main">
              <a:ext uri="{FF2B5EF4-FFF2-40B4-BE49-F238E27FC236}">
                <a16:creationId xmlns:a16="http://schemas.microsoft.com/office/drawing/2014/main" id="{621AA6B0-6B96-407E-BB19-6F48A4CD334E}"/>
              </a:ext>
            </a:extLst>
          </p:cNvPr>
          <p:cNvSpPr>
            <a:spLocks xmlns:a="http://schemas.openxmlformats.org/drawingml/2006/main" noGrp="1"/>
          </p:cNvSpPr>
          <p:nvPr/>
        </p:nvSpPr>
        <p:spPr>
          <a:xfrm xmlns:a="http://schemas.openxmlformats.org/drawingml/2006/main">
            <a:off x="9753600" y="31527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USD 0.5M, 1M, 5M</a:t>
            </a:r>
          </a:p>
        </p:txBody>
      </p:sp>
      <p:sp>
        <p:nvSpPr>
          <p:cNvPr id="24" name="">
            <a:extLst xmlns:a="http://schemas.openxmlformats.org/drawingml/2006/main">
              <a:ext uri="{FF2B5EF4-FFF2-40B4-BE49-F238E27FC236}">
                <a16:creationId xmlns:a16="http://schemas.microsoft.com/office/drawing/2014/main" id="{1414A154-7B2B-4F53-82D9-AF315C65B4D5}"/>
              </a:ext>
            </a:extLst>
          </p:cNvPr>
          <p:cNvSpPr>
            <a:spLocks xmlns:a="http://schemas.openxmlformats.org/drawingml/2006/main" noGrp="1"/>
          </p:cNvSpPr>
          <p:nvPr/>
        </p:nvSpPr>
        <p:spPr>
          <a:xfrm xmlns:a="http://schemas.openxmlformats.org/drawingml/2006/main">
            <a:off x="8210550" y="3552825"/>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5" name="">
            <a:extLst xmlns:a="http://schemas.openxmlformats.org/drawingml/2006/main">
              <a:ext uri="{FF2B5EF4-FFF2-40B4-BE49-F238E27FC236}">
                <a16:creationId xmlns:a16="http://schemas.microsoft.com/office/drawing/2014/main" id="{4B6BCF4D-B527-4A5C-B1A2-9E4FB3AABF47}"/>
              </a:ext>
            </a:extLst>
          </p:cNvPr>
          <p:cNvSpPr>
            <a:spLocks xmlns:a="http://schemas.openxmlformats.org/drawingml/2006/main" noGrp="1"/>
          </p:cNvSpPr>
          <p:nvPr/>
        </p:nvSpPr>
        <p:spPr>
          <a:xfrm xmlns:a="http://schemas.openxmlformats.org/drawingml/2006/main">
            <a:off x="8210550" y="37338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History length</a:t>
            </a:r>
          </a:p>
        </p:txBody>
      </p:sp>
      <p:sp>
        <p:nvSpPr>
          <p:cNvPr id="26" name="">
            <a:extLst xmlns:a="http://schemas.openxmlformats.org/drawingml/2006/main">
              <a:ext uri="{FF2B5EF4-FFF2-40B4-BE49-F238E27FC236}">
                <a16:creationId xmlns:a16="http://schemas.microsoft.com/office/drawing/2014/main" id="{26E6B0CE-4A91-4A53-9533-98E7F62C560C}"/>
              </a:ext>
            </a:extLst>
          </p:cNvPr>
          <p:cNvSpPr>
            <a:spLocks xmlns:a="http://schemas.openxmlformats.org/drawingml/2006/main" noGrp="1"/>
          </p:cNvSpPr>
          <p:nvPr/>
        </p:nvSpPr>
        <p:spPr>
          <a:xfrm xmlns:a="http://schemas.openxmlformats.org/drawingml/2006/main">
            <a:off x="9753600" y="3733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90, 180, 365 days</a:t>
            </a:r>
          </a:p>
        </p:txBody>
      </p:sp>
      <p:sp>
        <p:nvSpPr>
          <p:cNvPr id="27" name="">
            <a:extLst xmlns:a="http://schemas.openxmlformats.org/drawingml/2006/main">
              <a:ext uri="{FF2B5EF4-FFF2-40B4-BE49-F238E27FC236}">
                <a16:creationId xmlns:a16="http://schemas.microsoft.com/office/drawing/2014/main" id="{AC483FE3-B00F-4CA3-9208-346CD4B72C6E}"/>
              </a:ext>
            </a:extLst>
          </p:cNvPr>
          <p:cNvSpPr>
            <a:spLocks xmlns:a="http://schemas.openxmlformats.org/drawingml/2006/main" noGrp="1"/>
          </p:cNvSpPr>
          <p:nvPr/>
        </p:nvSpPr>
        <p:spPr>
          <a:xfrm xmlns:a="http://schemas.openxmlformats.org/drawingml/2006/main">
            <a:off x="8210550" y="4133850"/>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8" name="">
            <a:extLst xmlns:a="http://schemas.openxmlformats.org/drawingml/2006/main">
              <a:ext uri="{FF2B5EF4-FFF2-40B4-BE49-F238E27FC236}">
                <a16:creationId xmlns:a16="http://schemas.microsoft.com/office/drawing/2014/main" id="{BD87BD02-C420-4944-A472-5DBF9FB3DBCE}"/>
              </a:ext>
            </a:extLst>
          </p:cNvPr>
          <p:cNvSpPr>
            <a:spLocks xmlns:a="http://schemas.openxmlformats.org/drawingml/2006/main" noGrp="1"/>
          </p:cNvSpPr>
          <p:nvPr/>
        </p:nvSpPr>
        <p:spPr>
          <a:xfrm xmlns:a="http://schemas.openxmlformats.org/drawingml/2006/main">
            <a:off x="8210550" y="4314825"/>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Episode gap</a:t>
            </a:r>
          </a:p>
        </p:txBody>
      </p:sp>
      <p:sp>
        <p:nvSpPr>
          <p:cNvPr id="29" name="">
            <a:extLst xmlns:a="http://schemas.openxmlformats.org/drawingml/2006/main">
              <a:ext uri="{FF2B5EF4-FFF2-40B4-BE49-F238E27FC236}">
                <a16:creationId xmlns:a16="http://schemas.microsoft.com/office/drawing/2014/main" id="{1000643B-019E-42EF-9AF3-7056B8225C98}"/>
              </a:ext>
            </a:extLst>
          </p:cNvPr>
          <p:cNvSpPr>
            <a:spLocks xmlns:a="http://schemas.openxmlformats.org/drawingml/2006/main" noGrp="1"/>
          </p:cNvSpPr>
          <p:nvPr/>
        </p:nvSpPr>
        <p:spPr>
          <a:xfrm xmlns:a="http://schemas.openxmlformats.org/drawingml/2006/main">
            <a:off x="9753600" y="43148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0, 1, 3 days</a:t>
            </a:r>
          </a:p>
        </p:txBody>
      </p:sp>
      <p:sp>
        <p:nvSpPr>
          <p:cNvPr id="30" name="">
            <a:extLst xmlns:a="http://schemas.openxmlformats.org/drawingml/2006/main">
              <a:ext uri="{FF2B5EF4-FFF2-40B4-BE49-F238E27FC236}">
                <a16:creationId xmlns:a16="http://schemas.microsoft.com/office/drawing/2014/main" id="{1F9C53DE-8194-435B-82BE-EC626A7F8E62}"/>
              </a:ext>
            </a:extLst>
          </p:cNvPr>
          <p:cNvSpPr>
            <a:spLocks xmlns:a="http://schemas.openxmlformats.org/drawingml/2006/main" noGrp="1"/>
          </p:cNvSpPr>
          <p:nvPr/>
        </p:nvSpPr>
        <p:spPr>
          <a:xfrm xmlns:a="http://schemas.openxmlformats.org/drawingml/2006/main">
            <a:off x="8210550" y="4714875"/>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31" name="">
            <a:extLst xmlns:a="http://schemas.openxmlformats.org/drawingml/2006/main">
              <a:ext uri="{FF2B5EF4-FFF2-40B4-BE49-F238E27FC236}">
                <a16:creationId xmlns:a16="http://schemas.microsoft.com/office/drawing/2014/main" id="{F6F37555-2902-4C0E-B67B-93F606035A5C}"/>
              </a:ext>
            </a:extLst>
          </p:cNvPr>
          <p:cNvSpPr>
            <a:spLocks xmlns:a="http://schemas.openxmlformats.org/drawingml/2006/main" noGrp="1"/>
          </p:cNvSpPr>
          <p:nvPr/>
        </p:nvSpPr>
        <p:spPr>
          <a:xfrm xmlns:a="http://schemas.openxmlformats.org/drawingml/2006/main">
            <a:off x="8210550" y="48958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Winsorization</a:t>
            </a:r>
          </a:p>
        </p:txBody>
      </p:sp>
      <p:sp>
        <p:nvSpPr>
          <p:cNvPr id="32" name="">
            <a:extLst xmlns:a="http://schemas.openxmlformats.org/drawingml/2006/main">
              <a:ext uri="{FF2B5EF4-FFF2-40B4-BE49-F238E27FC236}">
                <a16:creationId xmlns:a16="http://schemas.microsoft.com/office/drawing/2014/main" id="{10E44146-72B1-46CC-9F4D-21049522247D}"/>
              </a:ext>
            </a:extLst>
          </p:cNvPr>
          <p:cNvSpPr>
            <a:spLocks xmlns:a="http://schemas.openxmlformats.org/drawingml/2006/main" noGrp="1"/>
          </p:cNvSpPr>
          <p:nvPr/>
        </p:nvSpPr>
        <p:spPr>
          <a:xfrm xmlns:a="http://schemas.openxmlformats.org/drawingml/2006/main">
            <a:off x="9753600" y="4895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ptos"/>
                <a:ea typeface="Aptos"/>
                <a:cs typeface="Aptos"/>
              </a:defRPr>
            </a:pPr>
            <a:r>
              <a:rPr sz="1200" b="0">
                <a:solidFill>
                  <a:srgbClr val="667085"/>
                </a:solidFill>
                <a:latin typeface="Aptos"/>
                <a:ea typeface="Aptos"/>
                <a:cs typeface="Aptos"/>
              </a:rPr>
              <a:t>p1 to p99</a:t>
            </a:r>
          </a:p>
        </p:txBody>
      </p:sp>
      <p:sp>
        <p:nvSpPr>
          <p:cNvPr id="33" name="">
            <a:extLst xmlns:a="http://schemas.openxmlformats.org/drawingml/2006/main">
              <a:ext uri="{FF2B5EF4-FFF2-40B4-BE49-F238E27FC236}">
                <a16:creationId xmlns:a16="http://schemas.microsoft.com/office/drawing/2014/main" id="{9C0C4D35-1BC7-4542-BD24-C08B1F47EEEE}"/>
              </a:ext>
            </a:extLst>
          </p:cNvPr>
          <p:cNvSpPr>
            <a:spLocks xmlns:a="http://schemas.openxmlformats.org/drawingml/2006/main" noGrp="1"/>
          </p:cNvSpPr>
          <p:nvPr/>
        </p:nvSpPr>
        <p:spPr>
          <a:xfrm xmlns:a="http://schemas.openxmlformats.org/drawingml/2006/main">
            <a:off x="8210550" y="5391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6B9D"/>
                </a:solidFill>
                <a:latin typeface="Aptos"/>
                <a:ea typeface="Aptos"/>
                <a:cs typeface="Aptos"/>
              </a:defRPr>
            </a:pPr>
            <a:r>
              <a:rPr sz="1050" b="1">
                <a:solidFill>
                  <a:srgbClr val="FF6B9D"/>
                </a:solidFill>
                <a:latin typeface="Aptos"/>
                <a:ea typeface="Aptos"/>
                <a:cs typeface="Aptos"/>
              </a:rPr>
              <a:t>Filters change counts. Quoted APY remains distinct from realized return.</a:t>
            </a:r>
          </a:p>
        </p:txBody>
      </p:sp>
    </p:spTree>
    <p:extLst>
      <p:ext uri="{BB962C8B-B14F-4D97-AF65-F5344CB8AC3E}">
        <p14:creationId xmlns:p14="http://schemas.microsoft.com/office/powerpoint/2010/main" val="609038773"/>
      </p:ext>
    </p:extLst>
  </p:cSld>
</p:sld>
</file>

<file path=ppt/slides/slide13.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54A096AF-C51F-4761-952A-687E9F0366EF}"/>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B4568431-A220-412F-AEDF-1B3A5AEB103C}"/>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6B9D"/>
                </a:solidFill>
                <a:latin typeface="Aptos"/>
                <a:ea typeface="Aptos"/>
                <a:cs typeface="Aptos"/>
              </a:defRPr>
            </a:pPr>
            <a:r>
              <a:rPr sz="975" b="1">
                <a:solidFill>
                  <a:srgbClr val="FF6B9D"/>
                </a:solidFill>
                <a:latin typeface="Aptos"/>
                <a:ea typeface="Aptos"/>
                <a:cs typeface="Aptos"/>
              </a:rPr>
              <a:t>LIMITS / ETHICS</a:t>
            </a:r>
          </a:p>
        </p:txBody>
      </p:sp>
      <p:sp>
        <p:nvSpPr>
          <p:cNvPr id="3" name="">
            <a:extLst xmlns:a="http://schemas.openxmlformats.org/drawingml/2006/main">
              <a:ext uri="{FF2B5EF4-FFF2-40B4-BE49-F238E27FC236}">
                <a16:creationId xmlns:a16="http://schemas.microsoft.com/office/drawing/2014/main" id="{0FDE8356-B364-4649-AA15-C61EF2F7E807}"/>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13ADA355-8A20-48D6-995A-D950E738D2B8}"/>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A7F24D4B-BEFC-4B81-92BC-2A360F17E6FF}"/>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18E96385-8BE7-4983-860C-F9B59E99CCC6}"/>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445F51CD-5951-4905-A234-2E0CC6DAB955}"/>
              </a:ext>
            </a:extLst>
          </p:cNvPr>
          <p:cNvSpPr>
            <a:spLocks xmlns:a="http://schemas.openxmlformats.org/drawingml/2006/main" noGrp="1"/>
          </p:cNvSpPr>
          <p:nvPr/>
        </p:nvSpPr>
        <p:spPr>
          <a:xfrm xmlns:a="http://schemas.openxmlformats.org/drawingml/2006/main">
            <a:off x="8420100" y="6486525"/>
            <a:ext cx="2549338"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2E9070AC-7A09-4D65-BAE3-C5701EF676FD}"/>
              </a:ext>
            </a:extLst>
          </p:cNvPr>
          <p:cNvSpPr>
            <a:spLocks xmlns:a="http://schemas.openxmlformats.org/drawingml/2006/main" noGrp="1"/>
          </p:cNvSpPr>
          <p:nvPr/>
        </p:nvSpPr>
        <p:spPr>
          <a:xfrm xmlns:a="http://schemas.openxmlformats.org/drawingml/2006/main">
            <a:off x="419100" y="762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Market context is not total protocol risk</a:t>
            </a:r>
          </a:p>
        </p:txBody>
      </p:sp>
      <p:sp>
        <p:nvSpPr>
          <p:cNvPr id="9" name="">
            <a:extLst xmlns:a="http://schemas.openxmlformats.org/drawingml/2006/main">
              <a:ext uri="{FF2B5EF4-FFF2-40B4-BE49-F238E27FC236}">
                <a16:creationId xmlns:a16="http://schemas.microsoft.com/office/drawing/2014/main" id="{C66D1698-D194-4DF5-8D30-446D70944CD4}"/>
              </a:ext>
            </a:extLst>
          </p:cNvPr>
          <p:cNvSpPr>
            <a:spLocks xmlns:a="http://schemas.openxmlformats.org/drawingml/2006/main" noGrp="1"/>
          </p:cNvSpPr>
          <p:nvPr/>
        </p:nvSpPr>
        <p:spPr>
          <a:xfrm xmlns:a="http://schemas.openxmlformats.org/drawingml/2006/main">
            <a:off x="419100" y="13335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What does the project deliberately not claim?</a:t>
            </a:r>
          </a:p>
        </p:txBody>
      </p:sp>
      <p:sp>
        <p:nvSpPr>
          <p:cNvPr id="10" name="">
            <a:extLst xmlns:a="http://schemas.openxmlformats.org/drawingml/2006/main">
              <a:ext uri="{FF2B5EF4-FFF2-40B4-BE49-F238E27FC236}">
                <a16:creationId xmlns:a16="http://schemas.microsoft.com/office/drawing/2014/main" id="{52453919-701E-4A53-8C2B-F8DC3DF6A05D}"/>
              </a:ext>
            </a:extLst>
          </p:cNvPr>
          <p:cNvSpPr>
            <a:spLocks xmlns:a="http://schemas.openxmlformats.org/drawingml/2006/main" noGrp="1"/>
          </p:cNvSpPr>
          <p:nvPr/>
        </p:nvSpPr>
        <p:spPr>
          <a:xfrm xmlns:a="http://schemas.openxmlformats.org/drawingml/2006/main">
            <a:off x="419100" y="1866900"/>
            <a:ext cx="5353050" cy="3752850"/>
          </a:xfrm>
          <a:prstGeom xmlns:a="http://schemas.openxmlformats.org/drawingml/2006/main" prst="roundRect">
            <a:avLst>
              <a:gd name="adj" fmla="val 7107"/>
            </a:avLst>
          </a:prstGeom>
          <a:gradFill xmlns:a="http://schemas.openxmlformats.org/drawingml/2006/main">
            <a:gsLst>
              <a:gs pos="0">
                <a:srgbClr val="2BBBAD">
                  <a:alpha val="16000"/>
                </a:srgbClr>
              </a:gs>
              <a:gs pos="82000">
                <a:srgbClr val="FFFFFF"/>
              </a:gs>
            </a:gsLst>
            <a:lin ang="8700000"/>
          </a:gradFill>
          <a:ln xmlns:a="http://schemas.openxmlformats.org/drawingml/2006/main" w="9525">
            <a:solidFill>
              <a:srgbClr val="2BBBA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C044AF71-57C8-4C37-929E-DF6ECC4AE64A}"/>
              </a:ext>
            </a:extLst>
          </p:cNvPr>
          <p:cNvSpPr>
            <a:spLocks xmlns:a="http://schemas.openxmlformats.org/drawingml/2006/main" noGrp="1"/>
          </p:cNvSpPr>
          <p:nvPr/>
        </p:nvSpPr>
        <p:spPr>
          <a:xfrm xmlns:a="http://schemas.openxmlformats.org/drawingml/2006/main">
            <a:off x="685800" y="2114550"/>
            <a:ext cx="1619250" cy="323850"/>
          </a:xfrm>
          <a:prstGeom xmlns:a="http://schemas.openxmlformats.org/drawingml/2006/main" prst="roundRect">
            <a:avLst>
              <a:gd name="adj" fmla="val 50000"/>
            </a:avLst>
          </a:prstGeom>
          <a:solidFill xmlns:a="http://schemas.openxmlformats.org/drawingml/2006/main">
            <a:srgbClr val="2BBBAD">
              <a:alpha val="16000"/>
            </a:srgbClr>
          </a:solidFill>
          <a:ln xmlns:a="http://schemas.openxmlformats.org/drawingml/2006/main" w="9525">
            <a:solidFill>
              <a:srgbClr val="2BBBAD">
                <a:alpha val="22000"/>
              </a:srgbClr>
            </a:solidFill>
            <a:prstDash val="solid"/>
          </a:ln>
        </p:spPr>
      </p:sp>
      <p:sp>
        <p:nvSpPr>
          <p:cNvPr id="12" name="">
            <a:extLst xmlns:a="http://schemas.openxmlformats.org/drawingml/2006/main">
              <a:ext uri="{FF2B5EF4-FFF2-40B4-BE49-F238E27FC236}">
                <a16:creationId xmlns:a16="http://schemas.microsoft.com/office/drawing/2014/main" id="{78C7ABB0-2BDF-4ED3-B62A-3562AE5BA104}"/>
              </a:ext>
            </a:extLst>
          </p:cNvPr>
          <p:cNvSpPr>
            <a:spLocks xmlns:a="http://schemas.openxmlformats.org/drawingml/2006/main" noGrp="1"/>
          </p:cNvSpPr>
          <p:nvPr/>
        </p:nvSpPr>
        <p:spPr>
          <a:xfrm xmlns:a="http://schemas.openxmlformats.org/drawingml/2006/main">
            <a:off x="800100" y="2124075"/>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BBBAD"/>
                </a:solidFill>
                <a:latin typeface="Aptos"/>
                <a:ea typeface="Aptos"/>
                <a:cs typeface="Aptos"/>
              </a:defRPr>
            </a:pPr>
            <a:r>
              <a:rPr sz="975" b="1">
                <a:solidFill>
                  <a:srgbClr val="2BBBAD"/>
                </a:solidFill>
                <a:latin typeface="Aptos"/>
                <a:ea typeface="Aptos"/>
                <a:cs typeface="Aptos"/>
              </a:rPr>
              <a:t>MEASURED HERE</a:t>
            </a:r>
          </a:p>
        </p:txBody>
      </p:sp>
      <p:sp>
        <p:nvSpPr>
          <p:cNvPr id="13" name="">
            <a:extLst xmlns:a="http://schemas.openxmlformats.org/drawingml/2006/main">
              <a:ext uri="{FF2B5EF4-FFF2-40B4-BE49-F238E27FC236}">
                <a16:creationId xmlns:a16="http://schemas.microsoft.com/office/drawing/2014/main" id="{A36E5721-4CC3-47D8-B8BA-643BB7E8E927}"/>
              </a:ext>
            </a:extLst>
          </p:cNvPr>
          <p:cNvSpPr>
            <a:spLocks xmlns:a="http://schemas.openxmlformats.org/drawingml/2006/main" noGrp="1"/>
          </p:cNvSpPr>
          <p:nvPr/>
        </p:nvSpPr>
        <p:spPr>
          <a:xfrm xmlns:a="http://schemas.openxmlformats.org/drawingml/2006/main">
            <a:off x="685800" y="26479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4213D"/>
                </a:solidFill>
                <a:latin typeface="Aptos"/>
                <a:ea typeface="Aptos"/>
                <a:cs typeface="Aptos"/>
              </a:defRPr>
            </a:pPr>
            <a:r>
              <a:rPr sz="2025" b="1">
                <a:solidFill>
                  <a:srgbClr val="14213D"/>
                </a:solidFill>
                <a:latin typeface="Aptos"/>
                <a:ea typeface="Aptos"/>
                <a:cs typeface="Aptos"/>
              </a:rPr>
              <a:t>What the evidence supports</a:t>
            </a:r>
          </a:p>
        </p:txBody>
      </p:sp>
      <p:sp>
        <p:nvSpPr>
          <p:cNvPr id="14" name="">
            <a:extLst xmlns:a="http://schemas.openxmlformats.org/drawingml/2006/main">
              <a:ext uri="{FF2B5EF4-FFF2-40B4-BE49-F238E27FC236}">
                <a16:creationId xmlns:a16="http://schemas.microsoft.com/office/drawing/2014/main" id="{8D227593-D96D-40F8-A2D0-EE4356B20988}"/>
              </a:ext>
            </a:extLst>
          </p:cNvPr>
          <p:cNvSpPr>
            <a:spLocks xmlns:a="http://schemas.openxmlformats.org/drawingml/2006/main" noGrp="1"/>
          </p:cNvSpPr>
          <p:nvPr/>
        </p:nvSpPr>
        <p:spPr>
          <a:xfrm xmlns:a="http://schemas.openxmlformats.org/drawingml/2006/main">
            <a:off x="723900" y="33051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5" name="">
            <a:extLst xmlns:a="http://schemas.openxmlformats.org/drawingml/2006/main">
              <a:ext uri="{FF2B5EF4-FFF2-40B4-BE49-F238E27FC236}">
                <a16:creationId xmlns:a16="http://schemas.microsoft.com/office/drawing/2014/main" id="{8B77EF0C-0003-4105-9617-4EB269552D15}"/>
              </a:ext>
            </a:extLst>
          </p:cNvPr>
          <p:cNvSpPr>
            <a:spLocks xmlns:a="http://schemas.openxmlformats.org/drawingml/2006/main" noGrp="1"/>
          </p:cNvSpPr>
          <p:nvPr/>
        </p:nvSpPr>
        <p:spPr>
          <a:xfrm xmlns:a="http://schemas.openxmlformats.org/drawingml/2006/main">
            <a:off x="990600" y="3257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Quoted APY level and persistence</a:t>
            </a:r>
          </a:p>
        </p:txBody>
      </p:sp>
      <p:sp>
        <p:nvSpPr>
          <p:cNvPr id="16" name="">
            <a:extLst xmlns:a="http://schemas.openxmlformats.org/drawingml/2006/main">
              <a:ext uri="{FF2B5EF4-FFF2-40B4-BE49-F238E27FC236}">
                <a16:creationId xmlns:a16="http://schemas.microsoft.com/office/drawing/2014/main" id="{524D5372-84C8-46B0-AAD4-367BE4EC8040}"/>
              </a:ext>
            </a:extLst>
          </p:cNvPr>
          <p:cNvSpPr>
            <a:spLocks xmlns:a="http://schemas.openxmlformats.org/drawingml/2006/main" noGrp="1"/>
          </p:cNvSpPr>
          <p:nvPr/>
        </p:nvSpPr>
        <p:spPr>
          <a:xfrm xmlns:a="http://schemas.openxmlformats.org/drawingml/2006/main">
            <a:off x="723900" y="374332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7" name="">
            <a:extLst xmlns:a="http://schemas.openxmlformats.org/drawingml/2006/main">
              <a:ext uri="{FF2B5EF4-FFF2-40B4-BE49-F238E27FC236}">
                <a16:creationId xmlns:a16="http://schemas.microsoft.com/office/drawing/2014/main" id="{7CCBA439-F62F-403F-8D47-E20E92A6343A}"/>
              </a:ext>
            </a:extLst>
          </p:cNvPr>
          <p:cNvSpPr>
            <a:spLocks xmlns:a="http://schemas.openxmlformats.org/drawingml/2006/main" noGrp="1"/>
          </p:cNvSpPr>
          <p:nvPr/>
        </p:nvSpPr>
        <p:spPr>
          <a:xfrm xmlns:a="http://schemas.openxmlformats.org/drawingml/2006/main">
            <a:off x="9906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Observed TVL and reward components</a:t>
            </a:r>
          </a:p>
        </p:txBody>
      </p:sp>
      <p:sp>
        <p:nvSpPr>
          <p:cNvPr id="18" name="">
            <a:extLst xmlns:a="http://schemas.openxmlformats.org/drawingml/2006/main">
              <a:ext uri="{FF2B5EF4-FFF2-40B4-BE49-F238E27FC236}">
                <a16:creationId xmlns:a16="http://schemas.microsoft.com/office/drawing/2014/main" id="{3C4FF6D4-3804-4723-856B-3195149ACAFB}"/>
              </a:ext>
            </a:extLst>
          </p:cNvPr>
          <p:cNvSpPr>
            <a:spLocks xmlns:a="http://schemas.openxmlformats.org/drawingml/2006/main" noGrp="1"/>
          </p:cNvSpPr>
          <p:nvPr/>
        </p:nvSpPr>
        <p:spPr>
          <a:xfrm xmlns:a="http://schemas.openxmlformats.org/drawingml/2006/main">
            <a:off x="723900" y="41814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9" name="">
            <a:extLst xmlns:a="http://schemas.openxmlformats.org/drawingml/2006/main">
              <a:ext uri="{FF2B5EF4-FFF2-40B4-BE49-F238E27FC236}">
                <a16:creationId xmlns:a16="http://schemas.microsoft.com/office/drawing/2014/main" id="{1EDFF98A-67DB-4663-8BA2-006F094F8D06}"/>
              </a:ext>
            </a:extLst>
          </p:cNvPr>
          <p:cNvSpPr>
            <a:spLocks xmlns:a="http://schemas.openxmlformats.org/drawingml/2006/main" noGrp="1"/>
          </p:cNvSpPr>
          <p:nvPr/>
        </p:nvSpPr>
        <p:spPr>
          <a:xfrm xmlns:a="http://schemas.openxmlformats.org/drawingml/2006/main">
            <a:off x="990600" y="4133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Top-k membership stability</a:t>
            </a:r>
          </a:p>
        </p:txBody>
      </p:sp>
      <p:sp>
        <p:nvSpPr>
          <p:cNvPr id="20" name="">
            <a:extLst xmlns:a="http://schemas.openxmlformats.org/drawingml/2006/main">
              <a:ext uri="{FF2B5EF4-FFF2-40B4-BE49-F238E27FC236}">
                <a16:creationId xmlns:a16="http://schemas.microsoft.com/office/drawing/2014/main" id="{43E512ED-0BDD-4814-AC8E-1CD787148A1F}"/>
              </a:ext>
            </a:extLst>
          </p:cNvPr>
          <p:cNvSpPr>
            <a:spLocks xmlns:a="http://schemas.openxmlformats.org/drawingml/2006/main" noGrp="1"/>
          </p:cNvSpPr>
          <p:nvPr/>
        </p:nvSpPr>
        <p:spPr>
          <a:xfrm xmlns:a="http://schemas.openxmlformats.org/drawingml/2006/main">
            <a:off x="723900" y="461962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21" name="">
            <a:extLst xmlns:a="http://schemas.openxmlformats.org/drawingml/2006/main">
              <a:ext uri="{FF2B5EF4-FFF2-40B4-BE49-F238E27FC236}">
                <a16:creationId xmlns:a16="http://schemas.microsoft.com/office/drawing/2014/main" id="{E293894A-8F35-41B2-8A2F-B981A8CBDC4B}"/>
              </a:ext>
            </a:extLst>
          </p:cNvPr>
          <p:cNvSpPr>
            <a:spLocks xmlns:a="http://schemas.openxmlformats.org/drawingml/2006/main" noGrp="1"/>
          </p:cNvSpPr>
          <p:nvPr/>
        </p:nvSpPr>
        <p:spPr>
          <a:xfrm xmlns:a="http://schemas.openxmlformats.org/drawingml/2006/main">
            <a:off x="99060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Stablecoin peg context</a:t>
            </a:r>
          </a:p>
        </p:txBody>
      </p:sp>
      <p:sp>
        <p:nvSpPr>
          <p:cNvPr id="22" name="">
            <a:extLst xmlns:a="http://schemas.openxmlformats.org/drawingml/2006/main">
              <a:ext uri="{FF2B5EF4-FFF2-40B4-BE49-F238E27FC236}">
                <a16:creationId xmlns:a16="http://schemas.microsoft.com/office/drawing/2014/main" id="{E58782B3-1D3F-4E91-B353-29D822642EDD}"/>
              </a:ext>
            </a:extLst>
          </p:cNvPr>
          <p:cNvSpPr>
            <a:spLocks xmlns:a="http://schemas.openxmlformats.org/drawingml/2006/main" noGrp="1"/>
          </p:cNvSpPr>
          <p:nvPr/>
        </p:nvSpPr>
        <p:spPr>
          <a:xfrm xmlns:a="http://schemas.openxmlformats.org/drawingml/2006/main">
            <a:off x="723900" y="50577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23" name="">
            <a:extLst xmlns:a="http://schemas.openxmlformats.org/drawingml/2006/main">
              <a:ext uri="{FF2B5EF4-FFF2-40B4-BE49-F238E27FC236}">
                <a16:creationId xmlns:a16="http://schemas.microsoft.com/office/drawing/2014/main" id="{E621923B-E19B-4D6A-A207-57D5E9C88793}"/>
              </a:ext>
            </a:extLst>
          </p:cNvPr>
          <p:cNvSpPr>
            <a:spLocks xmlns:a="http://schemas.openxmlformats.org/drawingml/2006/main" noGrp="1"/>
          </p:cNvSpPr>
          <p:nvPr/>
        </p:nvSpPr>
        <p:spPr>
          <a:xfrm xmlns:a="http://schemas.openxmlformats.org/drawingml/2006/main">
            <a:off x="990600" y="5010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Data quality and sensitivity checks</a:t>
            </a:r>
          </a:p>
        </p:txBody>
      </p:sp>
      <p:sp>
        <p:nvSpPr>
          <p:cNvPr id="24" name="">
            <a:extLst xmlns:a="http://schemas.openxmlformats.org/drawingml/2006/main">
              <a:ext uri="{FF2B5EF4-FFF2-40B4-BE49-F238E27FC236}">
                <a16:creationId xmlns:a16="http://schemas.microsoft.com/office/drawing/2014/main" id="{531918B4-4C98-48BE-A884-577CA4F7D09B}"/>
              </a:ext>
            </a:extLst>
          </p:cNvPr>
          <p:cNvSpPr>
            <a:spLocks xmlns:a="http://schemas.openxmlformats.org/drawingml/2006/main" noGrp="1"/>
          </p:cNvSpPr>
          <p:nvPr/>
        </p:nvSpPr>
        <p:spPr>
          <a:xfrm xmlns:a="http://schemas.openxmlformats.org/drawingml/2006/main">
            <a:off x="5981700" y="1866900"/>
            <a:ext cx="5772150" cy="3752850"/>
          </a:xfrm>
          <a:prstGeom xmlns:a="http://schemas.openxmlformats.org/drawingml/2006/main" prst="roundRect">
            <a:avLst>
              <a:gd name="adj" fmla="val 7107"/>
            </a:avLst>
          </a:prstGeom>
          <a:gradFill xmlns:a="http://schemas.openxmlformats.org/drawingml/2006/main">
            <a:gsLst>
              <a:gs pos="0">
                <a:srgbClr val="FF6B9D">
                  <a:alpha val="17000"/>
                </a:srgbClr>
              </a:gs>
              <a:gs pos="82000">
                <a:srgbClr val="FFFFFF"/>
              </a:gs>
            </a:gsLst>
            <a:lin ang="8700000"/>
          </a:gradFill>
          <a:ln xmlns:a="http://schemas.openxmlformats.org/drawingml/2006/main" w="9525">
            <a:solidFill>
              <a:srgbClr val="FF6B9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E5C1146F-9193-40EE-8BAD-86C39033B26A}"/>
              </a:ext>
            </a:extLst>
          </p:cNvPr>
          <p:cNvSpPr>
            <a:spLocks xmlns:a="http://schemas.openxmlformats.org/drawingml/2006/main" noGrp="1"/>
          </p:cNvSpPr>
          <p:nvPr/>
        </p:nvSpPr>
        <p:spPr>
          <a:xfrm xmlns:a="http://schemas.openxmlformats.org/drawingml/2006/main">
            <a:off x="6248400" y="2114550"/>
            <a:ext cx="1962150" cy="323850"/>
          </a:xfrm>
          <a:prstGeom xmlns:a="http://schemas.openxmlformats.org/drawingml/2006/main" prst="roundRect">
            <a:avLst>
              <a:gd name="adj" fmla="val 50000"/>
            </a:avLst>
          </a:prstGeom>
          <a:solidFill xmlns:a="http://schemas.openxmlformats.org/drawingml/2006/main">
            <a:srgbClr val="FF6B9D">
              <a:alpha val="16000"/>
            </a:srgbClr>
          </a:solidFill>
          <a:ln xmlns:a="http://schemas.openxmlformats.org/drawingml/2006/main" w="9525">
            <a:solidFill>
              <a:srgbClr val="FF6B9D">
                <a:alpha val="22000"/>
              </a:srgbClr>
            </a:solidFill>
            <a:prstDash val="solid"/>
          </a:ln>
        </p:spPr>
      </p:sp>
      <p:sp>
        <p:nvSpPr>
          <p:cNvPr id="26" name="">
            <a:extLst xmlns:a="http://schemas.openxmlformats.org/drawingml/2006/main">
              <a:ext uri="{FF2B5EF4-FFF2-40B4-BE49-F238E27FC236}">
                <a16:creationId xmlns:a16="http://schemas.microsoft.com/office/drawing/2014/main" id="{1A815DF3-E3C9-4282-AF16-D446EDE20BB8}"/>
              </a:ext>
            </a:extLst>
          </p:cNvPr>
          <p:cNvSpPr>
            <a:spLocks xmlns:a="http://schemas.openxmlformats.org/drawingml/2006/main" noGrp="1"/>
          </p:cNvSpPr>
          <p:nvPr/>
        </p:nvSpPr>
        <p:spPr>
          <a:xfrm xmlns:a="http://schemas.openxmlformats.org/drawingml/2006/main">
            <a:off x="6362700" y="2124075"/>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6B9D"/>
                </a:solidFill>
                <a:latin typeface="Aptos"/>
                <a:ea typeface="Aptos"/>
                <a:cs typeface="Aptos"/>
              </a:defRPr>
            </a:pPr>
            <a:r>
              <a:rPr sz="975" b="1">
                <a:solidFill>
                  <a:srgbClr val="FF6B9D"/>
                </a:solidFill>
                <a:latin typeface="Aptos"/>
                <a:ea typeface="Aptos"/>
                <a:cs typeface="Aptos"/>
              </a:rPr>
              <a:t>NOT MEASURED HERE</a:t>
            </a:r>
          </a:p>
        </p:txBody>
      </p:sp>
      <p:sp>
        <p:nvSpPr>
          <p:cNvPr id="27" name="">
            <a:extLst xmlns:a="http://schemas.openxmlformats.org/drawingml/2006/main">
              <a:ext uri="{FF2B5EF4-FFF2-40B4-BE49-F238E27FC236}">
                <a16:creationId xmlns:a16="http://schemas.microsoft.com/office/drawing/2014/main" id="{2CE1CE4B-6809-4BF7-B095-9A760234A683}"/>
              </a:ext>
            </a:extLst>
          </p:cNvPr>
          <p:cNvSpPr>
            <a:spLocks xmlns:a="http://schemas.openxmlformats.org/drawingml/2006/main" noGrp="1"/>
          </p:cNvSpPr>
          <p:nvPr/>
        </p:nvSpPr>
        <p:spPr>
          <a:xfrm xmlns:a="http://schemas.openxmlformats.org/drawingml/2006/main">
            <a:off x="6248400" y="26479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4213D"/>
                </a:solidFill>
                <a:latin typeface="Aptos"/>
                <a:ea typeface="Aptos"/>
                <a:cs typeface="Aptos"/>
              </a:defRPr>
            </a:pPr>
            <a:r>
              <a:rPr sz="2025" b="1">
                <a:solidFill>
                  <a:srgbClr val="14213D"/>
                </a:solidFill>
                <a:latin typeface="Aptos"/>
                <a:ea typeface="Aptos"/>
                <a:cs typeface="Aptos"/>
              </a:rPr>
              <a:t>What the project cannot rank</a:t>
            </a:r>
          </a:p>
        </p:txBody>
      </p:sp>
      <p:sp>
        <p:nvSpPr>
          <p:cNvPr id="28" name="">
            <a:extLst xmlns:a="http://schemas.openxmlformats.org/drawingml/2006/main">
              <a:ext uri="{FF2B5EF4-FFF2-40B4-BE49-F238E27FC236}">
                <a16:creationId xmlns:a16="http://schemas.microsoft.com/office/drawing/2014/main" id="{1DCBC9EA-B60F-4E52-B56F-BA8B55A3338A}"/>
              </a:ext>
            </a:extLst>
          </p:cNvPr>
          <p:cNvSpPr>
            <a:spLocks xmlns:a="http://schemas.openxmlformats.org/drawingml/2006/main" noGrp="1"/>
          </p:cNvSpPr>
          <p:nvPr/>
        </p:nvSpPr>
        <p:spPr>
          <a:xfrm xmlns:a="http://schemas.openxmlformats.org/drawingml/2006/main">
            <a:off x="6286500" y="33051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9" name="">
            <a:extLst xmlns:a="http://schemas.openxmlformats.org/drawingml/2006/main">
              <a:ext uri="{FF2B5EF4-FFF2-40B4-BE49-F238E27FC236}">
                <a16:creationId xmlns:a16="http://schemas.microsoft.com/office/drawing/2014/main" id="{BBCFFB5A-341D-4090-967B-3AA3870CFF07}"/>
              </a:ext>
            </a:extLst>
          </p:cNvPr>
          <p:cNvSpPr>
            <a:spLocks xmlns:a="http://schemas.openxmlformats.org/drawingml/2006/main" noGrp="1"/>
          </p:cNvSpPr>
          <p:nvPr/>
        </p:nvSpPr>
        <p:spPr>
          <a:xfrm xmlns:a="http://schemas.openxmlformats.org/drawingml/2006/main">
            <a:off x="6553200" y="3257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Smart-contract and oracle failure</a:t>
            </a:r>
          </a:p>
        </p:txBody>
      </p:sp>
      <p:sp>
        <p:nvSpPr>
          <p:cNvPr id="30" name="">
            <a:extLst xmlns:a="http://schemas.openxmlformats.org/drawingml/2006/main">
              <a:ext uri="{FF2B5EF4-FFF2-40B4-BE49-F238E27FC236}">
                <a16:creationId xmlns:a16="http://schemas.microsoft.com/office/drawing/2014/main" id="{B7BA6349-E649-4FCA-AC63-67B3525D5234}"/>
              </a:ext>
            </a:extLst>
          </p:cNvPr>
          <p:cNvSpPr>
            <a:spLocks xmlns:a="http://schemas.openxmlformats.org/drawingml/2006/main" noGrp="1"/>
          </p:cNvSpPr>
          <p:nvPr/>
        </p:nvSpPr>
        <p:spPr>
          <a:xfrm xmlns:a="http://schemas.openxmlformats.org/drawingml/2006/main">
            <a:off x="6286500" y="374332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1" name="">
            <a:extLst xmlns:a="http://schemas.openxmlformats.org/drawingml/2006/main">
              <a:ext uri="{FF2B5EF4-FFF2-40B4-BE49-F238E27FC236}">
                <a16:creationId xmlns:a16="http://schemas.microsoft.com/office/drawing/2014/main" id="{A498AC18-D713-44CD-BC2B-CD63500C9C0B}"/>
              </a:ext>
            </a:extLst>
          </p:cNvPr>
          <p:cNvSpPr>
            <a:spLocks xmlns:a="http://schemas.openxmlformats.org/drawingml/2006/main" noGrp="1"/>
          </p:cNvSpPr>
          <p:nvPr/>
        </p:nvSpPr>
        <p:spPr>
          <a:xfrm xmlns:a="http://schemas.openxmlformats.org/drawingml/2006/main">
            <a:off x="65532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Counterparty and collateral quality</a:t>
            </a:r>
          </a:p>
        </p:txBody>
      </p:sp>
      <p:sp>
        <p:nvSpPr>
          <p:cNvPr id="32" name="">
            <a:extLst xmlns:a="http://schemas.openxmlformats.org/drawingml/2006/main">
              <a:ext uri="{FF2B5EF4-FFF2-40B4-BE49-F238E27FC236}">
                <a16:creationId xmlns:a16="http://schemas.microsoft.com/office/drawing/2014/main" id="{1F90EDF6-DEBC-450D-83AF-A69B795E7925}"/>
              </a:ext>
            </a:extLst>
          </p:cNvPr>
          <p:cNvSpPr>
            <a:spLocks xmlns:a="http://schemas.openxmlformats.org/drawingml/2006/main" noGrp="1"/>
          </p:cNvSpPr>
          <p:nvPr/>
        </p:nvSpPr>
        <p:spPr>
          <a:xfrm xmlns:a="http://schemas.openxmlformats.org/drawingml/2006/main">
            <a:off x="6286500" y="41814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3" name="">
            <a:extLst xmlns:a="http://schemas.openxmlformats.org/drawingml/2006/main">
              <a:ext uri="{FF2B5EF4-FFF2-40B4-BE49-F238E27FC236}">
                <a16:creationId xmlns:a16="http://schemas.microsoft.com/office/drawing/2014/main" id="{1343FEF2-09D0-41F7-B2E4-65DFFBCBAE34}"/>
              </a:ext>
            </a:extLst>
          </p:cNvPr>
          <p:cNvSpPr>
            <a:spLocks xmlns:a="http://schemas.openxmlformats.org/drawingml/2006/main" noGrp="1"/>
          </p:cNvSpPr>
          <p:nvPr/>
        </p:nvSpPr>
        <p:spPr>
          <a:xfrm xmlns:a="http://schemas.openxmlformats.org/drawingml/2006/main">
            <a:off x="6553200" y="4133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Bridge, chain and governance risk</a:t>
            </a:r>
          </a:p>
        </p:txBody>
      </p:sp>
      <p:sp>
        <p:nvSpPr>
          <p:cNvPr id="34" name="">
            <a:extLst xmlns:a="http://schemas.openxmlformats.org/drawingml/2006/main">
              <a:ext uri="{FF2B5EF4-FFF2-40B4-BE49-F238E27FC236}">
                <a16:creationId xmlns:a16="http://schemas.microsoft.com/office/drawing/2014/main" id="{41A0C7C7-C8A0-4F0B-909D-EAC6ECC512D1}"/>
              </a:ext>
            </a:extLst>
          </p:cNvPr>
          <p:cNvSpPr>
            <a:spLocks xmlns:a="http://schemas.openxmlformats.org/drawingml/2006/main" noGrp="1"/>
          </p:cNvSpPr>
          <p:nvPr/>
        </p:nvSpPr>
        <p:spPr>
          <a:xfrm xmlns:a="http://schemas.openxmlformats.org/drawingml/2006/main">
            <a:off x="6286500" y="461962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5" name="">
            <a:extLst xmlns:a="http://schemas.openxmlformats.org/drawingml/2006/main">
              <a:ext uri="{FF2B5EF4-FFF2-40B4-BE49-F238E27FC236}">
                <a16:creationId xmlns:a16="http://schemas.microsoft.com/office/drawing/2014/main" id="{DDDDA2A4-66DD-4002-86A8-0AEB664047B1}"/>
              </a:ext>
            </a:extLst>
          </p:cNvPr>
          <p:cNvSpPr>
            <a:spLocks xmlns:a="http://schemas.openxmlformats.org/drawingml/2006/main" noGrp="1"/>
          </p:cNvSpPr>
          <p:nvPr/>
        </p:nvSpPr>
        <p:spPr>
          <a:xfrm xmlns:a="http://schemas.openxmlformats.org/drawingml/2006/main">
            <a:off x="655320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Executable liquidity and slippage</a:t>
            </a:r>
          </a:p>
        </p:txBody>
      </p:sp>
      <p:sp>
        <p:nvSpPr>
          <p:cNvPr id="36" name="">
            <a:extLst xmlns:a="http://schemas.openxmlformats.org/drawingml/2006/main">
              <a:ext uri="{FF2B5EF4-FFF2-40B4-BE49-F238E27FC236}">
                <a16:creationId xmlns:a16="http://schemas.microsoft.com/office/drawing/2014/main" id="{E7AA6483-E844-47F2-B385-7023FB1C36DE}"/>
              </a:ext>
            </a:extLst>
          </p:cNvPr>
          <p:cNvSpPr>
            <a:spLocks xmlns:a="http://schemas.openxmlformats.org/drawingml/2006/main" noGrp="1"/>
          </p:cNvSpPr>
          <p:nvPr/>
        </p:nvSpPr>
        <p:spPr>
          <a:xfrm xmlns:a="http://schemas.openxmlformats.org/drawingml/2006/main">
            <a:off x="6286500" y="50577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7" name="">
            <a:extLst xmlns:a="http://schemas.openxmlformats.org/drawingml/2006/main">
              <a:ext uri="{FF2B5EF4-FFF2-40B4-BE49-F238E27FC236}">
                <a16:creationId xmlns:a16="http://schemas.microsoft.com/office/drawing/2014/main" id="{CE0E7676-CC4D-4A33-9293-234BDFD3EDB6}"/>
              </a:ext>
            </a:extLst>
          </p:cNvPr>
          <p:cNvSpPr>
            <a:spLocks xmlns:a="http://schemas.openxmlformats.org/drawingml/2006/main" noGrp="1"/>
          </p:cNvSpPr>
          <p:nvPr/>
        </p:nvSpPr>
        <p:spPr>
          <a:xfrm xmlns:a="http://schemas.openxmlformats.org/drawingml/2006/main">
            <a:off x="6553200" y="5010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Investor-specific realized return</a:t>
            </a:r>
          </a:p>
        </p:txBody>
      </p:sp>
      <p:sp>
        <p:nvSpPr>
          <p:cNvPr id="38" name="">
            <a:extLst xmlns:a="http://schemas.openxmlformats.org/drawingml/2006/main">
              <a:ext uri="{FF2B5EF4-FFF2-40B4-BE49-F238E27FC236}">
                <a16:creationId xmlns:a16="http://schemas.microsoft.com/office/drawing/2014/main" id="{1471DCD1-4AC4-43E6-994B-27A91F45D270}"/>
              </a:ext>
            </a:extLst>
          </p:cNvPr>
          <p:cNvSpPr>
            <a:spLocks xmlns:a="http://schemas.openxmlformats.org/drawingml/2006/main" noGrp="1"/>
          </p:cNvSpPr>
          <p:nvPr/>
        </p:nvSpPr>
        <p:spPr>
          <a:xfrm xmlns:a="http://schemas.openxmlformats.org/drawingml/2006/main">
            <a:off x="1466850" y="5848350"/>
            <a:ext cx="9258300" cy="40005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DCE4F2"/>
            </a:solidFill>
            <a:prstDash val="solid"/>
          </a:ln>
        </p:spPr>
      </p:sp>
      <p:sp>
        <p:nvSpPr>
          <p:cNvPr id="39" name="">
            <a:extLst xmlns:a="http://schemas.openxmlformats.org/drawingml/2006/main">
              <a:ext uri="{FF2B5EF4-FFF2-40B4-BE49-F238E27FC236}">
                <a16:creationId xmlns:a16="http://schemas.microsoft.com/office/drawing/2014/main" id="{3DF35220-3806-4D4A-9202-97444A89BBBD}"/>
              </a:ext>
            </a:extLst>
          </p:cNvPr>
          <p:cNvSpPr>
            <a:spLocks xmlns:a="http://schemas.openxmlformats.org/drawingml/2006/main" noGrp="1"/>
          </p:cNvSpPr>
          <p:nvPr/>
        </p:nvSpPr>
        <p:spPr>
          <a:xfrm xmlns:a="http://schemas.openxmlformats.org/drawingml/2006/main">
            <a:off x="1714500" y="59436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4213D"/>
                </a:solidFill>
                <a:latin typeface="Aptos"/>
                <a:ea typeface="Aptos"/>
                <a:cs typeface="Aptos"/>
              </a:defRPr>
            </a:pPr>
            <a:r>
              <a:rPr sz="1275" b="1">
                <a:solidFill>
                  <a:srgbClr val="14213D"/>
                </a:solidFill>
                <a:latin typeface="Aptos"/>
                <a:ea typeface="Aptos"/>
                <a:cs typeface="Aptos"/>
              </a:rPr>
              <a:t>Ethical consequence: no pool ranking, no hidden safety score and no financial recommendation.</a:t>
            </a:r>
          </a:p>
        </p:txBody>
      </p:sp>
    </p:spTree>
    <p:extLst>
      <p:ext uri="{BB962C8B-B14F-4D97-AF65-F5344CB8AC3E}">
        <p14:creationId xmlns:p14="http://schemas.microsoft.com/office/powerpoint/2010/main" val="1383714114"/>
      </p:ext>
    </p:extLst>
  </p:cSld>
</p:sld>
</file>

<file path=ppt/slides/slide14.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ECEF5B3-A21D-4361-A20E-DA93206B3C1A}"/>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A089D8EF-1C77-4775-A4C8-A8D2487CA532}"/>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8B5CF6"/>
                </a:solidFill>
                <a:latin typeface="Aptos"/>
                <a:ea typeface="Aptos"/>
                <a:cs typeface="Aptos"/>
              </a:defRPr>
            </a:pPr>
            <a:r>
              <a:rPr sz="975" b="1">
                <a:solidFill>
                  <a:srgbClr val="8B5CF6"/>
                </a:solidFill>
                <a:latin typeface="Aptos"/>
                <a:ea typeface="Aptos"/>
                <a:cs typeface="Aptos"/>
              </a:rPr>
              <a:t>UNCERTAINTY</a:t>
            </a:r>
          </a:p>
        </p:txBody>
      </p:sp>
      <p:sp>
        <p:nvSpPr>
          <p:cNvPr id="3" name="">
            <a:extLst xmlns:a="http://schemas.openxmlformats.org/drawingml/2006/main">
              <a:ext uri="{FF2B5EF4-FFF2-40B4-BE49-F238E27FC236}">
                <a16:creationId xmlns:a16="http://schemas.microsoft.com/office/drawing/2014/main" id="{F4359929-F2EC-46FE-8B6B-7B65DDA0632A}"/>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6CCDA264-D43C-43F3-B140-63C6B66D73FB}"/>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711FC300-F7F4-4098-914B-1F89E21FD53B}"/>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F7384235-A923-4649-9343-0FA1790BE310}"/>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5DE1366F-D7DD-4739-8802-B0B98B2C96EB}"/>
              </a:ext>
            </a:extLst>
          </p:cNvPr>
          <p:cNvSpPr>
            <a:spLocks xmlns:a="http://schemas.openxmlformats.org/drawingml/2006/main" noGrp="1"/>
          </p:cNvSpPr>
          <p:nvPr/>
        </p:nvSpPr>
        <p:spPr>
          <a:xfrm xmlns:a="http://schemas.openxmlformats.org/drawingml/2006/main">
            <a:off x="8420100" y="6486525"/>
            <a:ext cx="2745441"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B06DF380-2327-40A5-95D2-FCCE969D35CE}"/>
              </a:ext>
            </a:extLst>
          </p:cNvPr>
          <p:cNvSpPr>
            <a:spLocks xmlns:a="http://schemas.openxmlformats.org/drawingml/2006/main" noGrp="1"/>
          </p:cNvSpPr>
          <p:nvPr/>
        </p:nvSpPr>
        <p:spPr>
          <a:xfrm xmlns:a="http://schemas.openxmlformats.org/drawingml/2006/main">
            <a:off x="419100" y="8382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Precision has a defined scope</a:t>
            </a:r>
          </a:p>
        </p:txBody>
      </p:sp>
      <p:sp>
        <p:nvSpPr>
          <p:cNvPr id="9" name="">
            <a:extLst xmlns:a="http://schemas.openxmlformats.org/drawingml/2006/main">
              <a:ext uri="{FF2B5EF4-FFF2-40B4-BE49-F238E27FC236}">
                <a16:creationId xmlns:a16="http://schemas.microsoft.com/office/drawing/2014/main" id="{DE89BDA1-3DA2-42DA-BCB1-E38FCB3A1FB8}"/>
              </a:ext>
            </a:extLst>
          </p:cNvPr>
          <p:cNvSpPr>
            <a:spLocks xmlns:a="http://schemas.openxmlformats.org/drawingml/2006/main" noGrp="1"/>
          </p:cNvSpPr>
          <p:nvPr/>
        </p:nvSpPr>
        <p:spPr>
          <a:xfrm xmlns:a="http://schemas.openxmlformats.org/drawingml/2006/main">
            <a:off x="514350" y="1733550"/>
            <a:ext cx="571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8B5CF6"/>
                </a:solidFill>
                <a:latin typeface="Aptos"/>
                <a:ea typeface="Aptos"/>
                <a:cs typeface="Aptos"/>
              </a:defRPr>
            </a:pPr>
            <a:r>
              <a:rPr sz="3150" b="1">
                <a:solidFill>
                  <a:srgbClr val="8B5CF6"/>
                </a:solidFill>
                <a:latin typeface="Aptos"/>
                <a:ea typeface="Aptos"/>
                <a:cs typeface="Aptos"/>
              </a:rPr>
              <a:t>Day-30 survival: 6.22%</a:t>
            </a:r>
          </a:p>
        </p:txBody>
      </p:sp>
      <p:sp>
        <p:nvSpPr>
          <p:cNvPr id="10" name="">
            <a:extLst xmlns:a="http://schemas.openxmlformats.org/drawingml/2006/main">
              <a:ext uri="{FF2B5EF4-FFF2-40B4-BE49-F238E27FC236}">
                <a16:creationId xmlns:a16="http://schemas.microsoft.com/office/drawing/2014/main" id="{5561A299-9631-4AAC-B722-CF8527B76639}"/>
              </a:ext>
            </a:extLst>
          </p:cNvPr>
          <p:cNvSpPr>
            <a:spLocks xmlns:a="http://schemas.openxmlformats.org/drawingml/2006/main" noGrp="1"/>
          </p:cNvSpPr>
          <p:nvPr/>
        </p:nvSpPr>
        <p:spPr>
          <a:xfrm xmlns:a="http://schemas.openxmlformats.org/drawingml/2006/main">
            <a:off x="514350" y="2428875"/>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4213D"/>
                </a:solidFill>
                <a:latin typeface="Aptos"/>
                <a:ea typeface="Aptos"/>
                <a:cs typeface="Aptos"/>
              </a:defRPr>
            </a:pPr>
            <a:r>
              <a:rPr sz="2025" b="0">
                <a:solidFill>
                  <a:srgbClr val="14213D"/>
                </a:solidFill>
                <a:latin typeface="Aptos"/>
                <a:ea typeface="Aptos"/>
                <a:cs typeface="Aptos"/>
              </a:rPr>
              <a:t>95% pointwise interval: 5.34% to 7.19%</a:t>
            </a:r>
          </a:p>
        </p:txBody>
      </p:sp>
      <p:sp>
        <p:nvSpPr>
          <p:cNvPr id="11" name="">
            <a:extLst xmlns:a="http://schemas.openxmlformats.org/drawingml/2006/main">
              <a:ext uri="{FF2B5EF4-FFF2-40B4-BE49-F238E27FC236}">
                <a16:creationId xmlns:a16="http://schemas.microsoft.com/office/drawing/2014/main" id="{0C6DF547-65D3-4F55-9D90-2ECB9A38CDD2}"/>
              </a:ext>
            </a:extLst>
          </p:cNvPr>
          <p:cNvSpPr>
            <a:spLocks xmlns:a="http://schemas.openxmlformats.org/drawingml/2006/main" noGrp="1"/>
          </p:cNvSpPr>
          <p:nvPr/>
        </p:nvSpPr>
        <p:spPr>
          <a:xfrm xmlns:a="http://schemas.openxmlformats.org/drawingml/2006/main">
            <a:off x="514350" y="3200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8B5CF6"/>
                </a:solidFill>
                <a:latin typeface="Aptos"/>
                <a:ea typeface="Aptos"/>
                <a:cs typeface="Aptos"/>
              </a:defRPr>
            </a:pPr>
            <a:r>
              <a:rPr sz="1575" b="1">
                <a:solidFill>
                  <a:srgbClr val="8B5CF6"/>
                </a:solidFill>
                <a:latin typeface="Aptos"/>
                <a:ea typeface="Aptos"/>
                <a:cs typeface="Aptos"/>
              </a:rPr>
              <a:t>Repeated episodes</a:t>
            </a:r>
          </a:p>
        </p:txBody>
      </p:sp>
      <p:sp>
        <p:nvSpPr>
          <p:cNvPr id="12" name="">
            <a:extLst xmlns:a="http://schemas.openxmlformats.org/drawingml/2006/main">
              <a:ext uri="{FF2B5EF4-FFF2-40B4-BE49-F238E27FC236}">
                <a16:creationId xmlns:a16="http://schemas.microsoft.com/office/drawing/2014/main" id="{FD036BE2-923F-4DE7-A50B-5D314F9570F8}"/>
              </a:ext>
            </a:extLst>
          </p:cNvPr>
          <p:cNvSpPr>
            <a:spLocks xmlns:a="http://schemas.openxmlformats.org/drawingml/2006/main" noGrp="1"/>
          </p:cNvSpPr>
          <p:nvPr/>
        </p:nvSpPr>
        <p:spPr>
          <a:xfrm xmlns:a="http://schemas.openxmlformats.org/drawingml/2006/main">
            <a:off x="3200400" y="32004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The interval treats episodes as independent. Dependence within pools can make it too narrow.</a:t>
            </a:r>
          </a:p>
        </p:txBody>
      </p:sp>
      <p:sp>
        <p:nvSpPr>
          <p:cNvPr id="13" name="">
            <a:extLst xmlns:a="http://schemas.openxmlformats.org/drawingml/2006/main">
              <a:ext uri="{FF2B5EF4-FFF2-40B4-BE49-F238E27FC236}">
                <a16:creationId xmlns:a16="http://schemas.microsoft.com/office/drawing/2014/main" id="{502CF8FB-6511-4318-A36E-BE61674D75CC}"/>
              </a:ext>
            </a:extLst>
          </p:cNvPr>
          <p:cNvSpPr>
            <a:spLocks xmlns:a="http://schemas.openxmlformats.org/drawingml/2006/main" noGrp="1"/>
          </p:cNvSpPr>
          <p:nvPr/>
        </p:nvSpPr>
        <p:spPr>
          <a:xfrm xmlns:a="http://schemas.openxmlformats.org/drawingml/2006/main">
            <a:off x="514350" y="38481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8B5CF6"/>
                </a:solidFill>
                <a:latin typeface="Aptos"/>
                <a:ea typeface="Aptos"/>
                <a:cs typeface="Aptos"/>
              </a:defRPr>
            </a:pPr>
            <a:r>
              <a:rPr sz="1575" b="1">
                <a:solidFill>
                  <a:srgbClr val="8B5CF6"/>
                </a:solidFill>
                <a:latin typeface="Aptos"/>
                <a:ea typeface="Aptos"/>
                <a:cs typeface="Aptos"/>
              </a:rPr>
              <a:t>Observation boundaries</a:t>
            </a:r>
          </a:p>
        </p:txBody>
      </p:sp>
      <p:sp>
        <p:nvSpPr>
          <p:cNvPr id="14" name="">
            <a:extLst xmlns:a="http://schemas.openxmlformats.org/drawingml/2006/main">
              <a:ext uri="{FF2B5EF4-FFF2-40B4-BE49-F238E27FC236}">
                <a16:creationId xmlns:a16="http://schemas.microsoft.com/office/drawing/2014/main" id="{B11F2ED6-8C05-4B5C-AB3C-BEBE7FFFA3FE}"/>
              </a:ext>
            </a:extLst>
          </p:cNvPr>
          <p:cNvSpPr>
            <a:spLocks xmlns:a="http://schemas.openxmlformats.org/drawingml/2006/main" noGrp="1"/>
          </p:cNvSpPr>
          <p:nvPr/>
        </p:nvSpPr>
        <p:spPr>
          <a:xfrm xmlns:a="http://schemas.openxmlformats.org/drawingml/2006/main">
            <a:off x="3200400" y="38481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An episode may already be active when a pool enters the panel. Long gaps break observed runs.</a:t>
            </a:r>
          </a:p>
        </p:txBody>
      </p:sp>
      <p:sp>
        <p:nvSpPr>
          <p:cNvPr id="15" name="">
            <a:extLst xmlns:a="http://schemas.openxmlformats.org/drawingml/2006/main">
              <a:ext uri="{FF2B5EF4-FFF2-40B4-BE49-F238E27FC236}">
                <a16:creationId xmlns:a16="http://schemas.microsoft.com/office/drawing/2014/main" id="{6A565545-0B99-4071-8C1C-6ACFFD7A5A41}"/>
              </a:ext>
            </a:extLst>
          </p:cNvPr>
          <p:cNvSpPr>
            <a:spLocks xmlns:a="http://schemas.openxmlformats.org/drawingml/2006/main" noGrp="1"/>
          </p:cNvSpPr>
          <p:nvPr/>
        </p:nvSpPr>
        <p:spPr>
          <a:xfrm xmlns:a="http://schemas.openxmlformats.org/drawingml/2006/main">
            <a:off x="514350" y="4495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8B5CF6"/>
                </a:solidFill>
                <a:latin typeface="Aptos"/>
                <a:ea typeface="Aptos"/>
                <a:cs typeface="Aptos"/>
              </a:defRPr>
            </a:pPr>
            <a:r>
              <a:rPr sz="1575" b="1">
                <a:solidFill>
                  <a:srgbClr val="8B5CF6"/>
                </a:solidFill>
                <a:latin typeface="Aptos"/>
                <a:ea typeface="Aptos"/>
                <a:cs typeface="Aptos"/>
              </a:rPr>
              <a:t>Sample selection</a:t>
            </a:r>
          </a:p>
        </p:txBody>
      </p:sp>
      <p:sp>
        <p:nvSpPr>
          <p:cNvPr id="16" name="">
            <a:extLst xmlns:a="http://schemas.openxmlformats.org/drawingml/2006/main">
              <a:ext uri="{FF2B5EF4-FFF2-40B4-BE49-F238E27FC236}">
                <a16:creationId xmlns:a16="http://schemas.microsoft.com/office/drawing/2014/main" id="{9C89A11A-5810-4A07-9FD4-4D13D1910345}"/>
              </a:ext>
            </a:extLst>
          </p:cNvPr>
          <p:cNvSpPr>
            <a:spLocks xmlns:a="http://schemas.openxmlformats.org/drawingml/2006/main" noGrp="1"/>
          </p:cNvSpPr>
          <p:nvPr/>
        </p:nvSpPr>
        <p:spPr>
          <a:xfrm xmlns:a="http://schemas.openxmlformats.org/drawingml/2006/main">
            <a:off x="3200400" y="44958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The 180-observation entry rule excludes short histories. The 90-day check cannot recover excluded pools.</a:t>
            </a:r>
          </a:p>
        </p:txBody>
      </p:sp>
      <p:sp>
        <p:nvSpPr>
          <p:cNvPr id="17" name="">
            <a:extLst xmlns:a="http://schemas.openxmlformats.org/drawingml/2006/main">
              <a:ext uri="{FF2B5EF4-FFF2-40B4-BE49-F238E27FC236}">
                <a16:creationId xmlns:a16="http://schemas.microsoft.com/office/drawing/2014/main" id="{5CF04CF2-B9D0-428C-A4AB-8541D9E012AC}"/>
              </a:ext>
            </a:extLst>
          </p:cNvPr>
          <p:cNvSpPr>
            <a:spLocks xmlns:a="http://schemas.openxmlformats.org/drawingml/2006/main" noGrp="1"/>
          </p:cNvSpPr>
          <p:nvPr/>
        </p:nvSpPr>
        <p:spPr>
          <a:xfrm xmlns:a="http://schemas.openxmlformats.org/drawingml/2006/main">
            <a:off x="514350" y="51435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8B5CF6"/>
                </a:solidFill>
                <a:latin typeface="Aptos"/>
                <a:ea typeface="Aptos"/>
                <a:cs typeface="Aptos"/>
              </a:defRPr>
            </a:pPr>
            <a:r>
              <a:rPr sz="1575" b="1">
                <a:solidFill>
                  <a:srgbClr val="8B5CF6"/>
                </a:solidFill>
                <a:latin typeface="Aptos"/>
                <a:ea typeface="Aptos"/>
                <a:cs typeface="Aptos"/>
              </a:rPr>
              <a:t>Interpretation</a:t>
            </a:r>
          </a:p>
        </p:txBody>
      </p:sp>
      <p:sp>
        <p:nvSpPr>
          <p:cNvPr id="18" name="">
            <a:extLst xmlns:a="http://schemas.openxmlformats.org/drawingml/2006/main">
              <a:ext uri="{FF2B5EF4-FFF2-40B4-BE49-F238E27FC236}">
                <a16:creationId xmlns:a16="http://schemas.microsoft.com/office/drawing/2014/main" id="{A0FB8C3D-A4A6-4E4F-9DF2-8E7AD289645B}"/>
              </a:ext>
            </a:extLst>
          </p:cNvPr>
          <p:cNvSpPr>
            <a:spLocks xmlns:a="http://schemas.openxmlformats.org/drawingml/2006/main" noGrp="1"/>
          </p:cNvSpPr>
          <p:nvPr/>
        </p:nvSpPr>
        <p:spPr>
          <a:xfrm xmlns:a="http://schemas.openxmlformats.org/drawingml/2006/main">
            <a:off x="3200400" y="51435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The evidence describes selected observed regimes. It does not estimate every pool's future yield.</a:t>
            </a:r>
          </a:p>
        </p:txBody>
      </p:sp>
      <p:sp>
        <p:nvSpPr>
          <p:cNvPr id="19" name="">
            <a:extLst xmlns:a="http://schemas.openxmlformats.org/drawingml/2006/main">
              <a:ext uri="{FF2B5EF4-FFF2-40B4-BE49-F238E27FC236}">
                <a16:creationId xmlns:a16="http://schemas.microsoft.com/office/drawing/2014/main" id="{F8692AB3-E05D-4A9F-B4D2-AC77D899EEF3}"/>
              </a:ext>
            </a:extLst>
          </p:cNvPr>
          <p:cNvSpPr>
            <a:spLocks xmlns:a="http://schemas.openxmlformats.org/drawingml/2006/main" noGrp="1"/>
          </p:cNvSpPr>
          <p:nvPr/>
        </p:nvSpPr>
        <p:spPr>
          <a:xfrm xmlns:a="http://schemas.openxmlformats.org/drawingml/2006/main">
            <a:off x="5143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667085"/>
                </a:solidFill>
                <a:latin typeface="Aptos"/>
                <a:ea typeface="Aptos"/>
                <a:cs typeface="Aptos"/>
              </a:defRPr>
            </a:pPr>
            <a:r>
              <a:rPr sz="1050" b="0">
                <a:solidFill>
                  <a:srgbClr val="667085"/>
                </a:solidFill>
                <a:latin typeface="Aptos"/>
                <a:ea typeface="Aptos"/>
                <a:cs typeface="Aptos"/>
              </a:rPr>
              <a:t>Source: episode_survival.csv. lifelines Kaplan–Meier interval. Interactive companion shows the risk set and full tail.</a:t>
            </a:r>
          </a:p>
        </p:txBody>
      </p:sp>
    </p:spTree>
    <p:extLst>
      <p:ext uri="{BB962C8B-B14F-4D97-AF65-F5344CB8AC3E}">
        <p14:creationId xmlns:p14="http://schemas.microsoft.com/office/powerpoint/2010/main" val="2045511710"/>
      </p:ext>
    </p:extLst>
  </p:cSld>
</p:sld>
</file>

<file path=ppt/slides/slide15.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978D31-EB7A-4709-9F73-DFC1B0C9C083}"/>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6ED75A2F-957F-4831-B559-B52245A30C7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4F7CFF"/>
                </a:solidFill>
                <a:latin typeface="Aptos"/>
                <a:ea typeface="Aptos"/>
                <a:cs typeface="Aptos"/>
              </a:defRPr>
            </a:pPr>
            <a:r>
              <a:rPr sz="975" b="1">
                <a:solidFill>
                  <a:srgbClr val="4F7CFF"/>
                </a:solidFill>
                <a:latin typeface="Aptos"/>
                <a:ea typeface="Aptos"/>
                <a:cs typeface="Aptos"/>
              </a:rPr>
              <a:t>TOOLS / VISUAL DESIGN</a:t>
            </a:r>
          </a:p>
        </p:txBody>
      </p:sp>
      <p:sp>
        <p:nvSpPr>
          <p:cNvPr id="3" name="">
            <a:extLst xmlns:a="http://schemas.openxmlformats.org/drawingml/2006/main">
              <a:ext uri="{FF2B5EF4-FFF2-40B4-BE49-F238E27FC236}">
                <a16:creationId xmlns:a16="http://schemas.microsoft.com/office/drawing/2014/main" id="{6D7B774D-52D5-4D6E-B993-0C2E6AAD36CB}"/>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07884B9F-725A-4077-999B-5912EC0EB3D7}"/>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38ED0A30-9B8D-4D43-A1E1-B1AD91736EE9}"/>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E51AE3C7-9D09-4F59-BB87-514218469902}"/>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3A9F0BDF-316F-47AF-8F93-617E93CACACF}"/>
              </a:ext>
            </a:extLst>
          </p:cNvPr>
          <p:cNvSpPr>
            <a:spLocks xmlns:a="http://schemas.openxmlformats.org/drawingml/2006/main" noGrp="1"/>
          </p:cNvSpPr>
          <p:nvPr/>
        </p:nvSpPr>
        <p:spPr>
          <a:xfrm xmlns:a="http://schemas.openxmlformats.org/drawingml/2006/main">
            <a:off x="8420100" y="6486525"/>
            <a:ext cx="2941544"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B9A219F7-F9A9-4BDB-A231-5684DC90CBF0}"/>
              </a:ext>
            </a:extLst>
          </p:cNvPr>
          <p:cNvSpPr>
            <a:spLocks xmlns:a="http://schemas.openxmlformats.org/drawingml/2006/main" noGrp="1"/>
          </p:cNvSpPr>
          <p:nvPr/>
        </p:nvSpPr>
        <p:spPr>
          <a:xfrm xmlns:a="http://schemas.openxmlformats.org/drawingml/2006/main">
            <a:off x="419100" y="8382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14213D"/>
                </a:solidFill>
                <a:latin typeface="Aptos"/>
                <a:ea typeface="Aptos"/>
                <a:cs typeface="Aptos"/>
              </a:defRPr>
            </a:pPr>
            <a:r>
              <a:rPr sz="2925" b="1">
                <a:solidFill>
                  <a:srgbClr val="14213D"/>
                </a:solidFill>
                <a:latin typeface="Aptos"/>
                <a:ea typeface="Aptos"/>
                <a:cs typeface="Aptos"/>
              </a:rPr>
              <a:t>Two visualization tools, complementary uses</a:t>
            </a:r>
          </a:p>
        </p:txBody>
      </p:sp>
      <p:sp>
        <p:nvSpPr>
          <p:cNvPr id="9" name="">
            <a:extLst xmlns:a="http://schemas.openxmlformats.org/drawingml/2006/main">
              <a:ext uri="{FF2B5EF4-FFF2-40B4-BE49-F238E27FC236}">
                <a16:creationId xmlns:a16="http://schemas.microsoft.com/office/drawing/2014/main" id="{108187A2-0068-4DC8-9327-048A1971EF31}"/>
              </a:ext>
            </a:extLst>
          </p:cNvPr>
          <p:cNvSpPr>
            <a:spLocks xmlns:a="http://schemas.openxmlformats.org/drawingml/2006/main" noGrp="1"/>
          </p:cNvSpPr>
          <p:nvPr/>
        </p:nvSpPr>
        <p:spPr>
          <a:xfrm xmlns:a="http://schemas.openxmlformats.org/drawingml/2006/main">
            <a:off x="514350" y="17716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4F7CFF"/>
                </a:solidFill>
                <a:latin typeface="Aptos"/>
                <a:ea typeface="Aptos"/>
                <a:cs typeface="Aptos"/>
              </a:defRPr>
            </a:pPr>
            <a:r>
              <a:rPr sz="2175" b="1">
                <a:solidFill>
                  <a:srgbClr val="4F7CFF"/>
                </a:solidFill>
                <a:latin typeface="Aptos"/>
                <a:ea typeface="Aptos"/>
                <a:cs typeface="Aptos"/>
              </a:rPr>
              <a:t>MATPLOTLIB</a:t>
            </a:r>
          </a:p>
        </p:txBody>
      </p:sp>
      <p:sp>
        <p:nvSpPr>
          <p:cNvPr id="10" name="">
            <a:extLst xmlns:a="http://schemas.openxmlformats.org/drawingml/2006/main">
              <a:ext uri="{FF2B5EF4-FFF2-40B4-BE49-F238E27FC236}">
                <a16:creationId xmlns:a16="http://schemas.microsoft.com/office/drawing/2014/main" id="{29633AEE-9477-4D2D-A4B1-DA7278E1D077}"/>
              </a:ext>
            </a:extLst>
          </p:cNvPr>
          <p:cNvSpPr>
            <a:spLocks xmlns:a="http://schemas.openxmlformats.org/drawingml/2006/main" noGrp="1"/>
          </p:cNvSpPr>
          <p:nvPr/>
        </p:nvSpPr>
        <p:spPr>
          <a:xfrm xmlns:a="http://schemas.openxmlformats.org/drawingml/2006/main">
            <a:off x="514350" y="22574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Static analytical figures</a:t>
            </a:r>
          </a:p>
        </p:txBody>
      </p:sp>
      <p:sp>
        <p:nvSpPr>
          <p:cNvPr id="11" name="">
            <a:extLst xmlns:a="http://schemas.openxmlformats.org/drawingml/2006/main">
              <a:ext uri="{FF2B5EF4-FFF2-40B4-BE49-F238E27FC236}">
                <a16:creationId xmlns:a16="http://schemas.microsoft.com/office/drawing/2014/main" id="{DCEC1D26-23C3-4547-9B0D-A1E8A16FD46C}"/>
              </a:ext>
            </a:extLst>
          </p:cNvPr>
          <p:cNvSpPr>
            <a:spLocks xmlns:a="http://schemas.openxmlformats.org/drawingml/2006/main" noGrp="1"/>
          </p:cNvSpPr>
          <p:nvPr/>
        </p:nvSpPr>
        <p:spPr>
          <a:xfrm xmlns:a="http://schemas.openxmlformats.org/drawingml/2006/main">
            <a:off x="514350" y="2809875"/>
            <a:ext cx="5048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This PDF uses Matplotlib for the survival curve (page 6) and daily event charts (pages 9–10).</a:t>
            </a:r>
          </a:p>
          <a:p xmlns:a="http://schemas.openxmlformats.org/drawingml/2006/main">
            <a:r>
              <a:t/>
            </a:r>
          </a:p>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The survival band shows uncertainty. Numerical time axes preserve the actual spacing of days.</a:t>
            </a:r>
          </a:p>
        </p:txBody>
      </p:sp>
      <p:sp>
        <p:nvSpPr>
          <p:cNvPr id="12" name="">
            <a:extLst xmlns:a="http://schemas.openxmlformats.org/drawingml/2006/main">
              <a:ext uri="{FF2B5EF4-FFF2-40B4-BE49-F238E27FC236}">
                <a16:creationId xmlns:a16="http://schemas.microsoft.com/office/drawing/2014/main" id="{84A964C7-E1CC-4372-8003-F7C7DBFCD79A}"/>
              </a:ext>
            </a:extLst>
          </p:cNvPr>
          <p:cNvSpPr>
            <a:spLocks xmlns:a="http://schemas.openxmlformats.org/drawingml/2006/main" noGrp="1"/>
          </p:cNvSpPr>
          <p:nvPr/>
        </p:nvSpPr>
        <p:spPr>
          <a:xfrm xmlns:a="http://schemas.openxmlformats.org/drawingml/2006/main">
            <a:off x="6457950" y="17716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8B5CF6"/>
                </a:solidFill>
                <a:latin typeface="Aptos"/>
                <a:ea typeface="Aptos"/>
                <a:cs typeface="Aptos"/>
              </a:defRPr>
            </a:pPr>
            <a:r>
              <a:rPr sz="2175" b="1">
                <a:solidFill>
                  <a:srgbClr val="8B5CF6"/>
                </a:solidFill>
                <a:latin typeface="Aptos"/>
                <a:ea typeface="Aptos"/>
                <a:cs typeface="Aptos"/>
              </a:rPr>
              <a:t>PLOTLY</a:t>
            </a:r>
          </a:p>
        </p:txBody>
      </p:sp>
      <p:sp>
        <p:nvSpPr>
          <p:cNvPr id="13" name="">
            <a:extLst xmlns:a="http://schemas.openxmlformats.org/drawingml/2006/main">
              <a:ext uri="{FF2B5EF4-FFF2-40B4-BE49-F238E27FC236}">
                <a16:creationId xmlns:a16="http://schemas.microsoft.com/office/drawing/2014/main" id="{2EA60202-6698-4107-987F-35DA46A08B08}"/>
              </a:ext>
            </a:extLst>
          </p:cNvPr>
          <p:cNvSpPr>
            <a:spLocks xmlns:a="http://schemas.openxmlformats.org/drawingml/2006/main" noGrp="1"/>
          </p:cNvSpPr>
          <p:nvPr/>
        </p:nvSpPr>
        <p:spPr>
          <a:xfrm xmlns:a="http://schemas.openxmlformats.org/drawingml/2006/main">
            <a:off x="6457950" y="22574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Ranking heatmap in this PDF</a:t>
            </a:r>
          </a:p>
        </p:txBody>
      </p:sp>
      <p:sp>
        <p:nvSpPr>
          <p:cNvPr id="14" name="">
            <a:extLst xmlns:a="http://schemas.openxmlformats.org/drawingml/2006/main">
              <a:ext uri="{FF2B5EF4-FFF2-40B4-BE49-F238E27FC236}">
                <a16:creationId xmlns:a16="http://schemas.microsoft.com/office/drawing/2014/main" id="{31649A00-7B49-4A68-99F5-EC0A02613AF5}"/>
              </a:ext>
            </a:extLst>
          </p:cNvPr>
          <p:cNvSpPr>
            <a:spLocks xmlns:a="http://schemas.openxmlformats.org/drawingml/2006/main" noGrp="1"/>
          </p:cNvSpPr>
          <p:nvPr/>
        </p:nvSpPr>
        <p:spPr>
          <a:xfrm xmlns:a="http://schemas.openxmlformats.org/drawingml/2006/main">
            <a:off x="6457950" y="2809875"/>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Page 7 contains a static export of the Plotly ranking heatmap, using the same published aggregate data.</a:t>
            </a:r>
          </a:p>
          <a:p xmlns:a="http://schemas.openxmlformats.org/drawingml/2006/main">
            <a:r>
              <a:t/>
            </a:r>
          </a:p>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Every cell includes its value. Reading the result requires no hover, live demo or additional file.</a:t>
            </a:r>
          </a:p>
        </p:txBody>
      </p:sp>
      <p:sp>
        <p:nvSpPr>
          <p:cNvPr id="15" name="">
            <a:extLst xmlns:a="http://schemas.openxmlformats.org/drawingml/2006/main">
              <a:ext uri="{FF2B5EF4-FFF2-40B4-BE49-F238E27FC236}">
                <a16:creationId xmlns:a16="http://schemas.microsoft.com/office/drawing/2014/main" id="{660ACD87-762A-4804-810F-595D7ADAFBBF}"/>
              </a:ext>
            </a:extLst>
          </p:cNvPr>
          <p:cNvSpPr>
            <a:spLocks xmlns:a="http://schemas.openxmlformats.org/drawingml/2006/main" noGrp="1"/>
          </p:cNvSpPr>
          <p:nvPr/>
        </p:nvSpPr>
        <p:spPr>
          <a:xfrm xmlns:a="http://schemas.openxmlformats.org/drawingml/2006/main">
            <a:off x="514350" y="5095875"/>
            <a:ext cx="1085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4213D"/>
                </a:solidFill>
                <a:latin typeface="Aptos"/>
                <a:ea typeface="Aptos"/>
                <a:cs typeface="Aptos"/>
              </a:defRPr>
            </a:pPr>
            <a:r>
              <a:rPr sz="1650" b="1">
                <a:solidFill>
                  <a:srgbClr val="14213D"/>
                </a:solidFill>
                <a:latin typeface="Aptos"/>
                <a:ea typeface="Aptos"/>
                <a:cs typeface="Aptos"/>
              </a:rPr>
              <a:t>Analysis: Python, pandas, NumPy, lifelines, SciPy and scikit-learn</a:t>
            </a:r>
          </a:p>
        </p:txBody>
      </p:sp>
      <p:sp>
        <p:nvSpPr>
          <p:cNvPr id="16" name="">
            <a:extLst xmlns:a="http://schemas.openxmlformats.org/drawingml/2006/main">
              <a:ext uri="{FF2B5EF4-FFF2-40B4-BE49-F238E27FC236}">
                <a16:creationId xmlns:a16="http://schemas.microsoft.com/office/drawing/2014/main" id="{B92141CE-FE5C-4F30-8FC4-0006B95AECB3}"/>
              </a:ext>
            </a:extLst>
          </p:cNvPr>
          <p:cNvSpPr>
            <a:spLocks xmlns:a="http://schemas.openxmlformats.org/drawingml/2006/main" noGrp="1"/>
          </p:cNvSpPr>
          <p:nvPr/>
        </p:nvSpPr>
        <p:spPr>
          <a:xfrm xmlns:a="http://schemas.openxmlformats.org/drawingml/2006/main">
            <a:off x="514350" y="55340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Seaborn supports static figures. ReportLab builds the report. Artifact Tool assembles the PowerPoint.</a:t>
            </a:r>
          </a:p>
        </p:txBody>
      </p:sp>
      <p:sp>
        <p:nvSpPr>
          <p:cNvPr id="17" name="">
            <a:extLst xmlns:a="http://schemas.openxmlformats.org/drawingml/2006/main">
              <a:ext uri="{FF2B5EF4-FFF2-40B4-BE49-F238E27FC236}">
                <a16:creationId xmlns:a16="http://schemas.microsoft.com/office/drawing/2014/main" id="{06677826-17C4-4FA1-A1BE-E2A0BCB698C3}"/>
              </a:ext>
            </a:extLst>
          </p:cNvPr>
          <p:cNvSpPr>
            <a:spLocks xmlns:a="http://schemas.openxmlformats.org/drawingml/2006/main" noGrp="1"/>
          </p:cNvSpPr>
          <p:nvPr/>
        </p:nvSpPr>
        <p:spPr>
          <a:xfrm xmlns:a="http://schemas.openxmlformats.org/drawingml/2006/main">
            <a:off x="514350" y="603885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All findings are readable in this PDF. Interactive HTML and editable sources are optional supporting materials.</a:t>
            </a:r>
          </a:p>
        </p:txBody>
      </p:sp>
    </p:spTree>
    <p:extLst>
      <p:ext uri="{BB962C8B-B14F-4D97-AF65-F5344CB8AC3E}">
        <p14:creationId xmlns:p14="http://schemas.microsoft.com/office/powerpoint/2010/main" val="638735898"/>
      </p:ext>
    </p:extLst>
  </p:cSld>
</p:sld>
</file>

<file path=ppt/slides/slide16.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348B280-4BF9-46C6-84EC-5167C6FC1F44}"/>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BBBAD">
              <a:alpha val="13000"/>
            </a:srgbClr>
          </a:solidFill>
          <a:ln xmlns:a="http://schemas.openxmlformats.org/drawingml/2006/main" w="9525">
            <a:solidFill>
              <a:srgbClr val="2BBBAD">
                <a:alpha val="22000"/>
              </a:srgbClr>
            </a:solidFill>
            <a:prstDash val="solid"/>
          </a:ln>
        </p:spPr>
      </p:sp>
      <p:sp>
        <p:nvSpPr>
          <p:cNvPr id="2" name="">
            <a:extLst xmlns:a="http://schemas.openxmlformats.org/drawingml/2006/main">
              <a:ext uri="{FF2B5EF4-FFF2-40B4-BE49-F238E27FC236}">
                <a16:creationId xmlns:a16="http://schemas.microsoft.com/office/drawing/2014/main" id="{37D4DB8B-D2CF-4576-8379-0BAC71579254}"/>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2BBBAD"/>
                </a:solidFill>
                <a:latin typeface="Aptos"/>
                <a:ea typeface="Aptos"/>
                <a:cs typeface="Aptos"/>
              </a:defRPr>
            </a:pPr>
            <a:r>
              <a:rPr sz="975" b="1">
                <a:solidFill>
                  <a:srgbClr val="2BBBAD"/>
                </a:solidFill>
                <a:latin typeface="Aptos"/>
                <a:ea typeface="Aptos"/>
                <a:cs typeface="Aptos"/>
              </a:rPr>
              <a:t>REPRODUCIBILITY / RIGHTS</a:t>
            </a:r>
          </a:p>
        </p:txBody>
      </p:sp>
      <p:sp>
        <p:nvSpPr>
          <p:cNvPr id="3" name="">
            <a:extLst xmlns:a="http://schemas.openxmlformats.org/drawingml/2006/main">
              <a:ext uri="{FF2B5EF4-FFF2-40B4-BE49-F238E27FC236}">
                <a16:creationId xmlns:a16="http://schemas.microsoft.com/office/drawing/2014/main" id="{AA9BD467-ACD5-45C4-BAB6-559B5D4BB0DB}"/>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9525">
            <a:solidFill>
              <a:srgbClr val="2BBBAD">
                <a:alpha val="22000"/>
              </a:srgbClr>
            </a:solidFill>
            <a:prstDash val="solid"/>
          </a:ln>
        </p:spPr>
      </p:sp>
      <p:sp>
        <p:nvSpPr>
          <p:cNvPr id="4" name="">
            <a:extLst xmlns:a="http://schemas.openxmlformats.org/drawingml/2006/main">
              <a:ext uri="{FF2B5EF4-FFF2-40B4-BE49-F238E27FC236}">
                <a16:creationId xmlns:a16="http://schemas.microsoft.com/office/drawing/2014/main" id="{678F0AB4-E07F-4E94-8D2D-02A194532D3E}"/>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A829DCB4-5E48-494F-95E4-7481311F8288}"/>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67085"/>
                </a:solidFill>
                <a:latin typeface="Aptos"/>
                <a:ea typeface="Aptos"/>
                <a:cs typeface="Aptos"/>
              </a:defRPr>
            </a:pPr>
            <a:r>
              <a:rPr sz="825" b="1">
                <a:solidFill>
                  <a:srgbClr val="667085"/>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2CBC0042-C928-4F59-949D-20E1C95D62F8}"/>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86372CEC-FA47-4B44-9439-047113F3B775}"/>
              </a:ext>
            </a:extLst>
          </p:cNvPr>
          <p:cNvSpPr>
            <a:spLocks xmlns:a="http://schemas.openxmlformats.org/drawingml/2006/main" noGrp="1"/>
          </p:cNvSpPr>
          <p:nvPr/>
        </p:nvSpPr>
        <p:spPr>
          <a:xfrm xmlns:a="http://schemas.openxmlformats.org/drawingml/2006/main">
            <a:off x="8420100" y="6486525"/>
            <a:ext cx="3137647" cy="381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8" name="">
            <a:extLst xmlns:a="http://schemas.openxmlformats.org/drawingml/2006/main">
              <a:ext uri="{FF2B5EF4-FFF2-40B4-BE49-F238E27FC236}">
                <a16:creationId xmlns:a16="http://schemas.microsoft.com/office/drawing/2014/main" id="{1FE58EC5-085C-4EC6-AC6A-6CF86023665E}"/>
              </a:ext>
            </a:extLst>
          </p:cNvPr>
          <p:cNvSpPr>
            <a:spLocks xmlns:a="http://schemas.openxmlformats.org/drawingml/2006/main" noGrp="1"/>
          </p:cNvSpPr>
          <p:nvPr/>
        </p:nvSpPr>
        <p:spPr>
          <a:xfrm xmlns:a="http://schemas.openxmlformats.org/drawingml/2006/main">
            <a:off x="419100" y="8382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Code, evidence and reuse terms</a:t>
            </a:r>
          </a:p>
        </p:txBody>
      </p:sp>
      <p:sp>
        <p:nvSpPr>
          <p:cNvPr id="9" name="">
            <a:extLst xmlns:a="http://schemas.openxmlformats.org/drawingml/2006/main">
              <a:ext uri="{FF2B5EF4-FFF2-40B4-BE49-F238E27FC236}">
                <a16:creationId xmlns:a16="http://schemas.microsoft.com/office/drawing/2014/main" id="{3DCCB9BF-1CBB-49E1-AA36-766356192A73}"/>
              </a:ext>
            </a:extLst>
          </p:cNvPr>
          <p:cNvSpPr>
            <a:spLocks xmlns:a="http://schemas.openxmlformats.org/drawingml/2006/main" noGrp="1"/>
          </p:cNvSpPr>
          <p:nvPr/>
        </p:nvSpPr>
        <p:spPr>
          <a:xfrm xmlns:a="http://schemas.openxmlformats.org/drawingml/2006/main">
            <a:off x="514350" y="16097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6B87"/>
                </a:solidFill>
                <a:latin typeface="Aptos"/>
                <a:ea typeface="Aptos"/>
                <a:cs typeface="Aptos"/>
              </a:defRPr>
            </a:pPr>
            <a:r>
              <a:rPr>
                <a:hlinkClick xmlns:r="http://schemas.openxmlformats.org/officeDocument/2006/relationships" r:id="Rec66640c778747a2"/>
              </a:rPr>
              <a:t>github.com/Laimon99/stablecoin-yield-visualization</a:t>
            </a:r>
          </a:p>
        </p:txBody>
      </p:sp>
      <p:sp>
        <p:nvSpPr>
          <p:cNvPr id="10" name="">
            <a:extLst xmlns:a="http://schemas.openxmlformats.org/drawingml/2006/main">
              <a:ext uri="{FF2B5EF4-FFF2-40B4-BE49-F238E27FC236}">
                <a16:creationId xmlns:a16="http://schemas.microsoft.com/office/drawing/2014/main" id="{2485F5BA-FFE1-4212-9AF0-84B0D3E42284}"/>
              </a:ext>
            </a:extLst>
          </p:cNvPr>
          <p:cNvSpPr>
            <a:spLocks xmlns:a="http://schemas.openxmlformats.org/drawingml/2006/main" noGrp="1"/>
          </p:cNvSpPr>
          <p:nvPr/>
        </p:nvSpPr>
        <p:spPr>
          <a:xfrm xmlns:a="http://schemas.openxmlformats.org/drawingml/2006/main">
            <a:off x="514350" y="2286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1. Rebuild the published evidence</a:t>
            </a:r>
          </a:p>
        </p:txBody>
      </p:sp>
      <p:sp>
        <p:nvSpPr>
          <p:cNvPr id="11" name="">
            <a:extLst xmlns:a="http://schemas.openxmlformats.org/drawingml/2006/main">
              <a:ext uri="{FF2B5EF4-FFF2-40B4-BE49-F238E27FC236}">
                <a16:creationId xmlns:a16="http://schemas.microsoft.com/office/drawing/2014/main" id="{8ADBC297-6A0B-4052-ACA0-5252D1BE1397}"/>
              </a:ext>
            </a:extLst>
          </p:cNvPr>
          <p:cNvSpPr>
            <a:spLocks xmlns:a="http://schemas.openxmlformats.org/drawingml/2006/main" noGrp="1"/>
          </p:cNvSpPr>
          <p:nvPr/>
        </p:nvSpPr>
        <p:spPr>
          <a:xfrm xmlns:a="http://schemas.openxmlformats.org/drawingml/2006/main">
            <a:off x="762000" y="27717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sync --frozen --extra dev</a:t>
            </a:r>
          </a:p>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run python scripts/reproduce_published.py</a:t>
            </a:r>
          </a:p>
        </p:txBody>
      </p:sp>
      <p:sp>
        <p:nvSpPr>
          <p:cNvPr id="12" name="">
            <a:extLst xmlns:a="http://schemas.openxmlformats.org/drawingml/2006/main">
              <a:ext uri="{FF2B5EF4-FFF2-40B4-BE49-F238E27FC236}">
                <a16:creationId xmlns:a16="http://schemas.microsoft.com/office/drawing/2014/main" id="{A00BDB63-85DC-493B-B33F-4595520B823C}"/>
              </a:ext>
            </a:extLst>
          </p:cNvPr>
          <p:cNvSpPr>
            <a:spLocks xmlns:a="http://schemas.openxmlformats.org/drawingml/2006/main" noGrp="1"/>
          </p:cNvSpPr>
          <p:nvPr/>
        </p:nvSpPr>
        <p:spPr>
          <a:xfrm xmlns:a="http://schemas.openxmlformats.org/drawingml/2006/main">
            <a:off x="762000" y="3476625"/>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Published aggregate tables reproduce the interactive charts and check the headline values without API calls.</a:t>
            </a:r>
          </a:p>
        </p:txBody>
      </p:sp>
      <p:sp>
        <p:nvSpPr>
          <p:cNvPr id="13" name="">
            <a:extLst xmlns:a="http://schemas.openxmlformats.org/drawingml/2006/main">
              <a:ext uri="{FF2B5EF4-FFF2-40B4-BE49-F238E27FC236}">
                <a16:creationId xmlns:a16="http://schemas.microsoft.com/office/drawing/2014/main" id="{33CB9DA6-4AF2-4485-904B-CDF9342F31D8}"/>
              </a:ext>
            </a:extLst>
          </p:cNvPr>
          <p:cNvSpPr>
            <a:spLocks xmlns:a="http://schemas.openxmlformats.org/drawingml/2006/main" noGrp="1"/>
          </p:cNvSpPr>
          <p:nvPr/>
        </p:nvSpPr>
        <p:spPr>
          <a:xfrm xmlns:a="http://schemas.openxmlformats.org/drawingml/2006/main">
            <a:off x="514350" y="417195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2. Recollect and rerun the method</a:t>
            </a:r>
          </a:p>
        </p:txBody>
      </p:sp>
      <p:sp>
        <p:nvSpPr>
          <p:cNvPr id="14" name="">
            <a:extLst xmlns:a="http://schemas.openxmlformats.org/drawingml/2006/main">
              <a:ext uri="{FF2B5EF4-FFF2-40B4-BE49-F238E27FC236}">
                <a16:creationId xmlns:a16="http://schemas.microsoft.com/office/drawing/2014/main" id="{F2183928-46EF-4754-84BD-4FD497B4A98C}"/>
              </a:ext>
            </a:extLst>
          </p:cNvPr>
          <p:cNvSpPr>
            <a:spLocks xmlns:a="http://schemas.openxmlformats.org/drawingml/2006/main" noGrp="1"/>
          </p:cNvSpPr>
          <p:nvPr/>
        </p:nvSpPr>
        <p:spPr>
          <a:xfrm xmlns:a="http://schemas.openxmlformats.org/drawingml/2006/main">
            <a:off x="762000" y="463867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run python scripts/reproduce_all.py --mode full</a:t>
            </a:r>
          </a:p>
        </p:txBody>
      </p:sp>
      <p:sp>
        <p:nvSpPr>
          <p:cNvPr id="15" name="">
            <a:extLst xmlns:a="http://schemas.openxmlformats.org/drawingml/2006/main">
              <a:ext uri="{FF2B5EF4-FFF2-40B4-BE49-F238E27FC236}">
                <a16:creationId xmlns:a16="http://schemas.microsoft.com/office/drawing/2014/main" id="{0C0679E1-614F-473F-B32F-1FF8286286FD}"/>
              </a:ext>
            </a:extLst>
          </p:cNvPr>
          <p:cNvSpPr>
            <a:spLocks xmlns:a="http://schemas.openxmlformats.org/drawingml/2006/main" noGrp="1"/>
          </p:cNvSpPr>
          <p:nvPr/>
        </p:nvSpPr>
        <p:spPr>
          <a:xfrm xmlns:a="http://schemas.openxmlformats.org/drawingml/2006/main">
            <a:off x="762000" y="5095875"/>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Live data can change. The private raw snapshot is not redistributed. PowerPoint rebuilding needs Artifact Tool.</a:t>
            </a:r>
          </a:p>
        </p:txBody>
      </p:sp>
      <p:sp>
        <p:nvSpPr>
          <p:cNvPr id="16" name="">
            <a:extLst xmlns:a="http://schemas.openxmlformats.org/drawingml/2006/main">
              <a:ext uri="{FF2B5EF4-FFF2-40B4-BE49-F238E27FC236}">
                <a16:creationId xmlns:a16="http://schemas.microsoft.com/office/drawing/2014/main" id="{4D8F6979-6EFB-45FE-886C-7D0C3A934144}"/>
              </a:ext>
            </a:extLst>
          </p:cNvPr>
          <p:cNvSpPr>
            <a:spLocks xmlns:a="http://schemas.openxmlformats.org/drawingml/2006/main" noGrp="1"/>
          </p:cNvSpPr>
          <p:nvPr/>
        </p:nvSpPr>
        <p:spPr>
          <a:xfrm xmlns:a="http://schemas.openxmlformats.org/drawingml/2006/main">
            <a:off x="514350" y="57435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4213D"/>
                </a:solidFill>
                <a:latin typeface="Aptos"/>
                <a:ea typeface="Aptos"/>
                <a:cs typeface="Aptos"/>
              </a:defRPr>
            </a:pPr>
            <a:r>
              <a:rPr sz="1425" b="1">
                <a:solidFill>
                  <a:srgbClr val="14213D"/>
                </a:solidFill>
                <a:latin typeface="Aptos"/>
                <a:ea typeface="Aptos"/>
                <a:cs typeface="Aptos"/>
              </a:rPr>
              <a:t>© 2026 Simone Ragusini. Code: MIT. Original presentation and text: CC BY 4.0.</a:t>
            </a:r>
          </a:p>
        </p:txBody>
      </p:sp>
      <p:sp>
        <p:nvSpPr>
          <p:cNvPr id="17" name="">
            <a:extLst xmlns:a="http://schemas.openxmlformats.org/drawingml/2006/main">
              <a:ext uri="{FF2B5EF4-FFF2-40B4-BE49-F238E27FC236}">
                <a16:creationId xmlns:a16="http://schemas.microsoft.com/office/drawing/2014/main" id="{7FFEDAA1-FC2D-4D13-8DBA-74621303A479}"/>
              </a:ext>
            </a:extLst>
          </p:cNvPr>
          <p:cNvSpPr>
            <a:spLocks xmlns:a="http://schemas.openxmlformats.org/drawingml/2006/main" noGrp="1"/>
          </p:cNvSpPr>
          <p:nvPr/>
        </p:nvSpPr>
        <p:spPr>
          <a:xfrm xmlns:a="http://schemas.openxmlformats.org/drawingml/2006/main">
            <a:off x="514350" y="60864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667085"/>
                </a:solidFill>
                <a:latin typeface="Aptos"/>
                <a:ea typeface="Aptos"/>
                <a:cs typeface="Aptos"/>
              </a:defRPr>
            </a:pPr>
            <a:r>
              <a:rPr sz="1125" b="0">
                <a:solidFill>
                  <a:srgbClr val="667085"/>
                </a:solidFill>
                <a:latin typeface="Aptos"/>
                <a:ea typeface="Aptos"/>
                <a:cs typeface="Aptos"/>
              </a:rPr>
              <a:t>DeFiLlama and CoinGecko data retain their own terms. Sources, exclusions and attribution: NOTICE.md.</a:t>
            </a:r>
          </a:p>
        </p:txBody>
      </p:sp>
    </p:spTree>
    <p:extLst>
      <p:ext uri="{BB962C8B-B14F-4D97-AF65-F5344CB8AC3E}">
        <p14:creationId xmlns:p14="http://schemas.microsoft.com/office/powerpoint/2010/main" val="1017859782"/>
      </p:ext>
    </p:extLst>
  </p:cSld>
</p:sld>
</file>

<file path=ppt/slides/slide17.xml><?xml version="1.0" encoding="utf-8"?>
<p:sld xmlns:p="http://schemas.openxmlformats.org/presentationml/2006/main">
  <p:cSld>
    <p:bg>
      <p:bgPr>
        <a:gradFill xmlns:a="http://schemas.openxmlformats.org/drawingml/2006/main">
          <a:gsLst>
            <a:gs pos="0">
              <a:srgbClr val="091127"/>
            </a:gs>
            <a:gs pos="58000">
              <a:srgbClr val="14275A"/>
            </a:gs>
            <a:gs pos="100000">
              <a:srgbClr val="3A2A78"/>
            </a:gs>
          </a:gsLst>
          <a:lin ang="81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7A5271A-3205-4DB5-B877-670E46E83C49}"/>
              </a:ext>
            </a:extLst>
          </p:cNvPr>
          <p:cNvSpPr>
            <a:spLocks xmlns:a="http://schemas.openxmlformats.org/drawingml/2006/main" noGrp="1"/>
          </p:cNvSpPr>
          <p:nvPr/>
        </p:nvSpPr>
        <p:spPr>
          <a:xfrm xmlns:a="http://schemas.openxmlformats.org/drawingml/2006/main">
            <a:off x="514350" y="400050"/>
            <a:ext cx="1866900" cy="342900"/>
          </a:xfrm>
          <a:prstGeom xmlns:a="http://schemas.openxmlformats.org/drawingml/2006/main" prst="roundRect">
            <a:avLst>
              <a:gd name="adj" fmla="val 50000"/>
            </a:avLst>
          </a:prstGeom>
          <a:solidFill xmlns:a="http://schemas.openxmlformats.org/drawingml/2006/main">
            <a:srgbClr val="FFFFFF">
              <a:alpha val="12000"/>
            </a:srgbClr>
          </a:solidFill>
          <a:ln xmlns:a="http://schemas.openxmlformats.org/drawingml/2006/main" w="9525">
            <a:solidFill>
              <a:srgbClr val="23C9D8">
                <a:alpha val="22000"/>
              </a:srgbClr>
            </a:solidFill>
            <a:prstDash val="solid"/>
          </a:ln>
        </p:spPr>
      </p:sp>
      <p:sp>
        <p:nvSpPr>
          <p:cNvPr id="2" name="">
            <a:extLst xmlns:a="http://schemas.openxmlformats.org/drawingml/2006/main">
              <a:ext uri="{FF2B5EF4-FFF2-40B4-BE49-F238E27FC236}">
                <a16:creationId xmlns:a16="http://schemas.microsoft.com/office/drawing/2014/main" id="{4F49BBAD-05ED-4012-881D-D4662AF1707C}"/>
              </a:ext>
            </a:extLst>
          </p:cNvPr>
          <p:cNvSpPr>
            <a:spLocks xmlns:a="http://schemas.openxmlformats.org/drawingml/2006/main" noGrp="1"/>
          </p:cNvSpPr>
          <p:nvPr/>
        </p:nvSpPr>
        <p:spPr>
          <a:xfrm xmlns:a="http://schemas.openxmlformats.org/drawingml/2006/main">
            <a:off x="628650" y="409575"/>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FINAL SYNTHESIS</a:t>
            </a:r>
          </a:p>
        </p:txBody>
      </p:sp>
      <p:sp>
        <p:nvSpPr>
          <p:cNvPr id="3" name="">
            <a:extLst xmlns:a="http://schemas.openxmlformats.org/drawingml/2006/main">
              <a:ext uri="{FF2B5EF4-FFF2-40B4-BE49-F238E27FC236}">
                <a16:creationId xmlns:a16="http://schemas.microsoft.com/office/drawing/2014/main" id="{9B02B6D5-F95A-42C9-B419-46873D61E20D}"/>
              </a:ext>
            </a:extLst>
          </p:cNvPr>
          <p:cNvSpPr>
            <a:spLocks xmlns:a="http://schemas.openxmlformats.org/drawingml/2006/main" noGrp="1"/>
          </p:cNvSpPr>
          <p:nvPr/>
        </p:nvSpPr>
        <p:spPr>
          <a:xfrm xmlns:a="http://schemas.openxmlformats.org/drawingml/2006/main">
            <a:off x="514350" y="952500"/>
            <a:ext cx="1000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Stablecoin yield is best shown as trade-offs</a:t>
            </a:r>
          </a:p>
        </p:txBody>
      </p:sp>
      <p:sp>
        <p:nvSpPr>
          <p:cNvPr id="4" name="">
            <a:extLst xmlns:a="http://schemas.openxmlformats.org/drawingml/2006/main">
              <a:ext uri="{FF2B5EF4-FFF2-40B4-BE49-F238E27FC236}">
                <a16:creationId xmlns:a16="http://schemas.microsoft.com/office/drawing/2014/main" id="{E60EB1A5-7B18-4F07-B4C4-85D561AF9AAB}"/>
              </a:ext>
            </a:extLst>
          </p:cNvPr>
          <p:cNvSpPr>
            <a:spLocks xmlns:a="http://schemas.openxmlformats.org/drawingml/2006/main" noGrp="1"/>
          </p:cNvSpPr>
          <p:nvPr/>
        </p:nvSpPr>
        <p:spPr>
          <a:xfrm xmlns:a="http://schemas.openxmlformats.org/drawingml/2006/main">
            <a:off x="533400" y="16383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DDE6FF"/>
                </a:solidFill>
                <a:latin typeface="Aptos"/>
                <a:ea typeface="Aptos"/>
                <a:cs typeface="Aptos"/>
              </a:defRPr>
            </a:pPr>
            <a:r>
              <a:rPr sz="1575" b="0">
                <a:solidFill>
                  <a:srgbClr val="DDE6FF"/>
                </a:solidFill>
                <a:latin typeface="Aptos"/>
                <a:ea typeface="Aptos"/>
                <a:cs typeface="Aptos"/>
              </a:rPr>
              <a:t>The project closes on three lenses that keep a volatile number interpretable.</a:t>
            </a:r>
          </a:p>
        </p:txBody>
      </p:sp>
      <p:sp>
        <p:nvSpPr>
          <p:cNvPr id="5" name="">
            <a:extLst xmlns:a="http://schemas.openxmlformats.org/drawingml/2006/main">
              <a:ext uri="{FF2B5EF4-FFF2-40B4-BE49-F238E27FC236}">
                <a16:creationId xmlns:a16="http://schemas.microsoft.com/office/drawing/2014/main" id="{7BC20881-F6A3-429B-B7C4-1210F796F049}"/>
              </a:ext>
            </a:extLst>
          </p:cNvPr>
          <p:cNvSpPr>
            <a:spLocks xmlns:a="http://schemas.openxmlformats.org/drawingml/2006/main" noGrp="1"/>
          </p:cNvSpPr>
          <p:nvPr/>
        </p:nvSpPr>
        <p:spPr>
          <a:xfrm xmlns:a="http://schemas.openxmlformats.org/drawingml/2006/main">
            <a:off x="514350" y="2266950"/>
            <a:ext cx="4095750" cy="2647950"/>
          </a:xfrm>
          <a:prstGeom xmlns:a="http://schemas.openxmlformats.org/drawingml/2006/main" prst="roundRect">
            <a:avLst>
              <a:gd name="adj" fmla="val 10791"/>
            </a:avLst>
          </a:prstGeom>
          <a:gradFill xmlns:a="http://schemas.openxmlformats.org/drawingml/2006/main">
            <a:gsLst>
              <a:gs pos="0">
                <a:srgbClr val="4F7CFF">
                  <a:alpha val="25000"/>
                </a:srgbClr>
              </a:gs>
              <a:gs pos="100000">
                <a:srgbClr val="8B5CF6">
                  <a:alpha val="18000"/>
                </a:srgbClr>
              </a:gs>
            </a:gsLst>
            <a:lin ang="8700000"/>
          </a:gradFill>
          <a:ln xmlns:a="http://schemas.openxmlformats.org/drawingml/2006/main" w="9525">
            <a:solidFill>
              <a:srgbClr val="FFFFFF">
                <a:alpha val="18000"/>
              </a:srgbClr>
            </a:solidFill>
            <a:prstDash val="solid"/>
          </a:ln>
        </p:spPr>
      </p:sp>
      <p:sp>
        <p:nvSpPr>
          <p:cNvPr id="6" name="">
            <a:extLst xmlns:a="http://schemas.openxmlformats.org/drawingml/2006/main">
              <a:ext uri="{FF2B5EF4-FFF2-40B4-BE49-F238E27FC236}">
                <a16:creationId xmlns:a16="http://schemas.microsoft.com/office/drawing/2014/main" id="{10BF7C2E-E348-49C8-BB45-EB3167D1A2D0}"/>
              </a:ext>
            </a:extLst>
          </p:cNvPr>
          <p:cNvSpPr>
            <a:spLocks xmlns:a="http://schemas.openxmlformats.org/drawingml/2006/main" noGrp="1"/>
          </p:cNvSpPr>
          <p:nvPr/>
        </p:nvSpPr>
        <p:spPr>
          <a:xfrm xmlns:a="http://schemas.openxmlformats.org/drawingml/2006/main">
            <a:off x="800100" y="2571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3C9D8"/>
                </a:solidFill>
                <a:latin typeface="Aptos"/>
                <a:ea typeface="Aptos"/>
                <a:cs typeface="Aptos"/>
              </a:defRPr>
            </a:pPr>
            <a:r>
              <a:rPr sz="1050" b="1">
                <a:solidFill>
                  <a:srgbClr val="23C9D8"/>
                </a:solidFill>
                <a:latin typeface="Aptos"/>
                <a:ea typeface="Aptos"/>
                <a:cs typeface="Aptos"/>
              </a:rPr>
              <a:t>ONE SENTENCE DEFENSE</a:t>
            </a:r>
          </a:p>
        </p:txBody>
      </p:sp>
      <p:sp>
        <p:nvSpPr>
          <p:cNvPr id="7" name="">
            <a:extLst xmlns:a="http://schemas.openxmlformats.org/drawingml/2006/main">
              <a:ext uri="{FF2B5EF4-FFF2-40B4-BE49-F238E27FC236}">
                <a16:creationId xmlns:a16="http://schemas.microsoft.com/office/drawing/2014/main" id="{A97F4594-7024-48E1-9C3A-C1E1D9B459C0}"/>
              </a:ext>
            </a:extLst>
          </p:cNvPr>
          <p:cNvSpPr>
            <a:spLocks xmlns:a="http://schemas.openxmlformats.org/drawingml/2006/main" noGrp="1"/>
          </p:cNvSpPr>
          <p:nvPr/>
        </p:nvSpPr>
        <p:spPr>
          <a:xfrm xmlns:a="http://schemas.openxmlformats.org/drawingml/2006/main">
            <a:off x="800100" y="2990850"/>
            <a:ext cx="32575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462"/>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High stablecoin yield is common in snapshots. Persistent high yield with capacity and interpretable risk context is rarer.</a:t>
            </a:r>
          </a:p>
        </p:txBody>
      </p:sp>
      <p:sp>
        <p:nvSpPr>
          <p:cNvPr id="8" name="">
            <a:extLst xmlns:a="http://schemas.openxmlformats.org/drawingml/2006/main">
              <a:ext uri="{FF2B5EF4-FFF2-40B4-BE49-F238E27FC236}">
                <a16:creationId xmlns:a16="http://schemas.microsoft.com/office/drawing/2014/main" id="{3375CB64-E14B-4E08-8E95-1F7C2DB26D55}"/>
              </a:ext>
            </a:extLst>
          </p:cNvPr>
          <p:cNvSpPr>
            <a:spLocks xmlns:a="http://schemas.openxmlformats.org/drawingml/2006/main" noGrp="1"/>
          </p:cNvSpPr>
          <p:nvPr/>
        </p:nvSpPr>
        <p:spPr>
          <a:xfrm xmlns:a="http://schemas.openxmlformats.org/drawingml/2006/main">
            <a:off x="4953000" y="2266950"/>
            <a:ext cx="6705600" cy="2647950"/>
          </a:xfrm>
          <a:prstGeom xmlns:a="http://schemas.openxmlformats.org/drawingml/2006/main" prst="roundRect">
            <a:avLst>
              <a:gd name="adj" fmla="val 10791"/>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sp>
      <p:sp>
        <p:nvSpPr>
          <p:cNvPr id="9" name="">
            <a:extLst xmlns:a="http://schemas.openxmlformats.org/drawingml/2006/main">
              <a:ext uri="{FF2B5EF4-FFF2-40B4-BE49-F238E27FC236}">
                <a16:creationId xmlns:a16="http://schemas.microsoft.com/office/drawing/2014/main" id="{A1F89C80-1A62-4831-BBD4-FFA27DB980C5}"/>
              </a:ext>
            </a:extLst>
          </p:cNvPr>
          <p:cNvSpPr>
            <a:spLocks xmlns:a="http://schemas.openxmlformats.org/drawingml/2006/main" noGrp="1"/>
          </p:cNvSpPr>
          <p:nvPr/>
        </p:nvSpPr>
        <p:spPr>
          <a:xfrm xmlns:a="http://schemas.openxmlformats.org/drawingml/2006/main">
            <a:off x="5219700" y="2476500"/>
            <a:ext cx="1695450" cy="285750"/>
          </a:xfrm>
          <a:prstGeom xmlns:a="http://schemas.openxmlformats.org/drawingml/2006/main" prst="roundRect">
            <a:avLst>
              <a:gd name="adj" fmla="val 50000"/>
            </a:avLst>
          </a:prstGeom>
          <a:solidFill xmlns:a="http://schemas.openxmlformats.org/drawingml/2006/main">
            <a:srgbClr val="23C9D8">
              <a:alpha val="16000"/>
            </a:srgbClr>
          </a:solidFill>
          <a:ln xmlns:a="http://schemas.openxmlformats.org/drawingml/2006/main" w="9525">
            <a:solidFill>
              <a:srgbClr val="23C9D8">
                <a:alpha val="22000"/>
              </a:srgbClr>
            </a:solidFill>
            <a:prstDash val="solid"/>
          </a:ln>
        </p:spPr>
      </p:sp>
      <p:sp>
        <p:nvSpPr>
          <p:cNvPr id="10" name="">
            <a:extLst xmlns:a="http://schemas.openxmlformats.org/drawingml/2006/main">
              <a:ext uri="{FF2B5EF4-FFF2-40B4-BE49-F238E27FC236}">
                <a16:creationId xmlns:a16="http://schemas.microsoft.com/office/drawing/2014/main" id="{A7069C7D-A008-4951-9BE2-6F2B4FE6646B}"/>
              </a:ext>
            </a:extLst>
          </p:cNvPr>
          <p:cNvSpPr>
            <a:spLocks xmlns:a="http://schemas.openxmlformats.org/drawingml/2006/main" noGrp="1"/>
          </p:cNvSpPr>
          <p:nvPr/>
        </p:nvSpPr>
        <p:spPr>
          <a:xfrm xmlns:a="http://schemas.openxmlformats.org/drawingml/2006/main">
            <a:off x="5334000" y="248602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23C9D8"/>
                </a:solidFill>
                <a:latin typeface="Aptos"/>
                <a:ea typeface="Aptos"/>
                <a:cs typeface="Aptos"/>
              </a:defRPr>
            </a:pPr>
            <a:r>
              <a:rPr sz="900" b="1">
                <a:solidFill>
                  <a:srgbClr val="23C9D8"/>
                </a:solidFill>
                <a:latin typeface="Aptos"/>
                <a:ea typeface="Aptos"/>
                <a:cs typeface="Aptos"/>
              </a:rPr>
              <a:t>PERSISTENCE</a:t>
            </a:r>
          </a:p>
        </p:txBody>
      </p:sp>
      <p:sp>
        <p:nvSpPr>
          <p:cNvPr id="11" name="">
            <a:extLst xmlns:a="http://schemas.openxmlformats.org/drawingml/2006/main">
              <a:ext uri="{FF2B5EF4-FFF2-40B4-BE49-F238E27FC236}">
                <a16:creationId xmlns:a16="http://schemas.microsoft.com/office/drawing/2014/main" id="{FCB52C48-8E69-4B46-AE20-AF37FE9179DC}"/>
              </a:ext>
            </a:extLst>
          </p:cNvPr>
          <p:cNvSpPr>
            <a:spLocks xmlns:a="http://schemas.openxmlformats.org/drawingml/2006/main" noGrp="1"/>
          </p:cNvSpPr>
          <p:nvPr/>
        </p:nvSpPr>
        <p:spPr>
          <a:xfrm xmlns:a="http://schemas.openxmlformats.org/drawingml/2006/main">
            <a:off x="7105650" y="245745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Under the main 10% definition, the median episode lasts 2 days, so duration matters as much as level.</a:t>
            </a:r>
          </a:p>
        </p:txBody>
      </p:sp>
      <p:sp>
        <p:nvSpPr>
          <p:cNvPr id="12" name="">
            <a:extLst xmlns:a="http://schemas.openxmlformats.org/drawingml/2006/main">
              <a:ext uri="{FF2B5EF4-FFF2-40B4-BE49-F238E27FC236}">
                <a16:creationId xmlns:a16="http://schemas.microsoft.com/office/drawing/2014/main" id="{7BFB48DF-C540-487F-8831-51C95E6762E2}"/>
              </a:ext>
            </a:extLst>
          </p:cNvPr>
          <p:cNvSpPr>
            <a:spLocks xmlns:a="http://schemas.openxmlformats.org/drawingml/2006/main" noGrp="1"/>
          </p:cNvSpPr>
          <p:nvPr/>
        </p:nvSpPr>
        <p:spPr>
          <a:xfrm xmlns:a="http://schemas.openxmlformats.org/drawingml/2006/main">
            <a:off x="5219700" y="3086100"/>
            <a:ext cx="600075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3" name="">
            <a:extLst xmlns:a="http://schemas.openxmlformats.org/drawingml/2006/main">
              <a:ext uri="{FF2B5EF4-FFF2-40B4-BE49-F238E27FC236}">
                <a16:creationId xmlns:a16="http://schemas.microsoft.com/office/drawing/2014/main" id="{1A65096F-6C9E-4D05-B9CE-1C473A1660CB}"/>
              </a:ext>
            </a:extLst>
          </p:cNvPr>
          <p:cNvSpPr>
            <a:spLocks xmlns:a="http://schemas.openxmlformats.org/drawingml/2006/main" noGrp="1"/>
          </p:cNvSpPr>
          <p:nvPr/>
        </p:nvSpPr>
        <p:spPr>
          <a:xfrm xmlns:a="http://schemas.openxmlformats.org/drawingml/2006/main">
            <a:off x="5219700" y="3257550"/>
            <a:ext cx="1695450" cy="285750"/>
          </a:xfrm>
          <a:prstGeom xmlns:a="http://schemas.openxmlformats.org/drawingml/2006/main" prst="roundRect">
            <a:avLst>
              <a:gd name="adj" fmla="val 50000"/>
            </a:avLst>
          </a:prstGeom>
          <a:solidFill xmlns:a="http://schemas.openxmlformats.org/drawingml/2006/main">
            <a:srgbClr val="FF6B9D">
              <a:alpha val="16000"/>
            </a:srgbClr>
          </a:solidFill>
          <a:ln xmlns:a="http://schemas.openxmlformats.org/drawingml/2006/main" w="9525">
            <a:solidFill>
              <a:srgbClr val="FF6B9D">
                <a:alpha val="22000"/>
              </a:srgbClr>
            </a:solidFill>
            <a:prstDash val="solid"/>
          </a:ln>
        </p:spPr>
      </p:sp>
      <p:sp>
        <p:nvSpPr>
          <p:cNvPr id="14" name="">
            <a:extLst xmlns:a="http://schemas.openxmlformats.org/drawingml/2006/main">
              <a:ext uri="{FF2B5EF4-FFF2-40B4-BE49-F238E27FC236}">
                <a16:creationId xmlns:a16="http://schemas.microsoft.com/office/drawing/2014/main" id="{4F58E068-3D71-4043-9915-C65A3CD849D9}"/>
              </a:ext>
            </a:extLst>
          </p:cNvPr>
          <p:cNvSpPr>
            <a:spLocks xmlns:a="http://schemas.openxmlformats.org/drawingml/2006/main" noGrp="1"/>
          </p:cNvSpPr>
          <p:nvPr/>
        </p:nvSpPr>
        <p:spPr>
          <a:xfrm xmlns:a="http://schemas.openxmlformats.org/drawingml/2006/main">
            <a:off x="5334000" y="326707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6B9D"/>
                </a:solidFill>
                <a:latin typeface="Aptos"/>
                <a:ea typeface="Aptos"/>
                <a:cs typeface="Aptos"/>
              </a:defRPr>
            </a:pPr>
            <a:r>
              <a:rPr sz="900" b="1">
                <a:solidFill>
                  <a:srgbClr val="FF6B9D"/>
                </a:solidFill>
                <a:latin typeface="Aptos"/>
                <a:ea typeface="Aptos"/>
                <a:cs typeface="Aptos"/>
              </a:rPr>
              <a:t>CONTEXT</a:t>
            </a:r>
          </a:p>
        </p:txBody>
      </p:sp>
      <p:sp>
        <p:nvSpPr>
          <p:cNvPr id="15" name="">
            <a:extLst xmlns:a="http://schemas.openxmlformats.org/drawingml/2006/main">
              <a:ext uri="{FF2B5EF4-FFF2-40B4-BE49-F238E27FC236}">
                <a16:creationId xmlns:a16="http://schemas.microsoft.com/office/drawing/2014/main" id="{1CEF566C-AE82-4ABE-B327-A5742D338109}"/>
              </a:ext>
            </a:extLst>
          </p:cNvPr>
          <p:cNvSpPr>
            <a:spLocks xmlns:a="http://schemas.openxmlformats.org/drawingml/2006/main" noGrp="1"/>
          </p:cNvSpPr>
          <p:nvPr/>
        </p:nvSpPr>
        <p:spPr>
          <a:xfrm xmlns:a="http://schemas.openxmlformats.org/drawingml/2006/main">
            <a:off x="7105650" y="323850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Mechanism, reward dependence and peg stress change what a nominal APY number means.</a:t>
            </a:r>
          </a:p>
        </p:txBody>
      </p:sp>
      <p:sp>
        <p:nvSpPr>
          <p:cNvPr id="16" name="">
            <a:extLst xmlns:a="http://schemas.openxmlformats.org/drawingml/2006/main">
              <a:ext uri="{FF2B5EF4-FFF2-40B4-BE49-F238E27FC236}">
                <a16:creationId xmlns:a16="http://schemas.microsoft.com/office/drawing/2014/main" id="{7B3EB4BE-1011-4162-B844-5A3D349F4C12}"/>
              </a:ext>
            </a:extLst>
          </p:cNvPr>
          <p:cNvSpPr>
            <a:spLocks xmlns:a="http://schemas.openxmlformats.org/drawingml/2006/main" noGrp="1"/>
          </p:cNvSpPr>
          <p:nvPr/>
        </p:nvSpPr>
        <p:spPr>
          <a:xfrm xmlns:a="http://schemas.openxmlformats.org/drawingml/2006/main">
            <a:off x="5219700" y="3867150"/>
            <a:ext cx="600075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7" name="">
            <a:extLst xmlns:a="http://schemas.openxmlformats.org/drawingml/2006/main">
              <a:ext uri="{FF2B5EF4-FFF2-40B4-BE49-F238E27FC236}">
                <a16:creationId xmlns:a16="http://schemas.microsoft.com/office/drawing/2014/main" id="{95AF2554-5FFD-485C-B3A1-0208468EFCF9}"/>
              </a:ext>
            </a:extLst>
          </p:cNvPr>
          <p:cNvSpPr>
            <a:spLocks xmlns:a="http://schemas.openxmlformats.org/drawingml/2006/main" noGrp="1"/>
          </p:cNvSpPr>
          <p:nvPr/>
        </p:nvSpPr>
        <p:spPr>
          <a:xfrm xmlns:a="http://schemas.openxmlformats.org/drawingml/2006/main">
            <a:off x="5219700" y="4038600"/>
            <a:ext cx="1695450" cy="285750"/>
          </a:xfrm>
          <a:prstGeom xmlns:a="http://schemas.openxmlformats.org/drawingml/2006/main" prst="roundRect">
            <a:avLst>
              <a:gd name="adj" fmla="val 50000"/>
            </a:avLst>
          </a:prstGeom>
          <a:solidFill xmlns:a="http://schemas.openxmlformats.org/drawingml/2006/main">
            <a:srgbClr val="F6B84B">
              <a:alpha val="16000"/>
            </a:srgbClr>
          </a:solidFill>
          <a:ln xmlns:a="http://schemas.openxmlformats.org/drawingml/2006/main" w="9525">
            <a:solidFill>
              <a:srgbClr val="F6B84B">
                <a:alpha val="22000"/>
              </a:srgbClr>
            </a:solidFill>
            <a:prstDash val="solid"/>
          </a:ln>
        </p:spPr>
      </p:sp>
      <p:sp>
        <p:nvSpPr>
          <p:cNvPr id="18" name="">
            <a:extLst xmlns:a="http://schemas.openxmlformats.org/drawingml/2006/main">
              <a:ext uri="{FF2B5EF4-FFF2-40B4-BE49-F238E27FC236}">
                <a16:creationId xmlns:a16="http://schemas.microsoft.com/office/drawing/2014/main" id="{60A05F85-044E-400E-B661-DE39F8143866}"/>
              </a:ext>
            </a:extLst>
          </p:cNvPr>
          <p:cNvSpPr>
            <a:spLocks xmlns:a="http://schemas.openxmlformats.org/drawingml/2006/main" noGrp="1"/>
          </p:cNvSpPr>
          <p:nvPr/>
        </p:nvSpPr>
        <p:spPr>
          <a:xfrm xmlns:a="http://schemas.openxmlformats.org/drawingml/2006/main">
            <a:off x="5334000" y="404812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6B84B"/>
                </a:solidFill>
                <a:latin typeface="Aptos"/>
                <a:ea typeface="Aptos"/>
                <a:cs typeface="Aptos"/>
              </a:defRPr>
            </a:pPr>
            <a:r>
              <a:rPr sz="900" b="1">
                <a:solidFill>
                  <a:srgbClr val="F6B84B"/>
                </a:solidFill>
                <a:latin typeface="Aptos"/>
                <a:ea typeface="Aptos"/>
                <a:cs typeface="Aptos"/>
              </a:rPr>
              <a:t>RESPONSIBLE DESIGN</a:t>
            </a:r>
          </a:p>
        </p:txBody>
      </p:sp>
      <p:sp>
        <p:nvSpPr>
          <p:cNvPr id="19" name="">
            <a:extLst xmlns:a="http://schemas.openxmlformats.org/drawingml/2006/main">
              <a:ext uri="{FF2B5EF4-FFF2-40B4-BE49-F238E27FC236}">
                <a16:creationId xmlns:a16="http://schemas.microsoft.com/office/drawing/2014/main" id="{4B6D3747-3FA0-49E9-ABA2-4A766D28B6CD}"/>
              </a:ext>
            </a:extLst>
          </p:cNvPr>
          <p:cNvSpPr>
            <a:spLocks xmlns:a="http://schemas.openxmlformats.org/drawingml/2006/main" noGrp="1"/>
          </p:cNvSpPr>
          <p:nvPr/>
        </p:nvSpPr>
        <p:spPr>
          <a:xfrm xmlns:a="http://schemas.openxmlformats.org/drawingml/2006/main">
            <a:off x="7105650" y="401955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The joint screen keeps APY, persistence and capacity visible without encoding a recommendation.</a:t>
            </a:r>
          </a:p>
        </p:txBody>
      </p:sp>
      <p:sp>
        <p:nvSpPr>
          <p:cNvPr id="20" name="">
            <a:extLst xmlns:a="http://schemas.openxmlformats.org/drawingml/2006/main">
              <a:ext uri="{FF2B5EF4-FFF2-40B4-BE49-F238E27FC236}">
                <a16:creationId xmlns:a16="http://schemas.microsoft.com/office/drawing/2014/main" id="{260A7315-D8FC-4763-BC53-97E227060CCF}"/>
              </a:ext>
            </a:extLst>
          </p:cNvPr>
          <p:cNvSpPr>
            <a:spLocks xmlns:a="http://schemas.openxmlformats.org/drawingml/2006/main" noGrp="1"/>
          </p:cNvSpPr>
          <p:nvPr/>
        </p:nvSpPr>
        <p:spPr>
          <a:xfrm xmlns:a="http://schemas.openxmlformats.org/drawingml/2006/main">
            <a:off x="514350" y="5257800"/>
            <a:ext cx="11144250" cy="781050"/>
          </a:xfrm>
          <a:prstGeom xmlns:a="http://schemas.openxmlformats.org/drawingml/2006/main" prst="roundRect">
            <a:avLst>
              <a:gd name="adj" fmla="val 29268"/>
            </a:avLst>
          </a:prstGeom>
          <a:gradFill xmlns:a="http://schemas.openxmlformats.org/drawingml/2006/main">
            <a:gsLst>
              <a:gs pos="0">
                <a:srgbClr val="23C9D8">
                  <a:alpha val="22000"/>
                </a:srgbClr>
              </a:gs>
              <a:gs pos="48000">
                <a:srgbClr val="4F7CFF">
                  <a:alpha val="22000"/>
                </a:srgbClr>
              </a:gs>
              <a:gs pos="100000">
                <a:srgbClr val="FF6B9D">
                  <a:alpha val="22000"/>
                </a:srgbClr>
              </a:gs>
            </a:gsLst>
            <a:lin ang="0"/>
          </a:gradFill>
          <a:ln xmlns:a="http://schemas.openxmlformats.org/drawingml/2006/main" w="9525">
            <a:solidFill>
              <a:srgbClr val="FFFFFF">
                <a:alpha val="16000"/>
              </a:srgbClr>
            </a:solidFill>
            <a:prstDash val="solid"/>
          </a:ln>
        </p:spPr>
      </p:sp>
      <p:sp>
        <p:nvSpPr>
          <p:cNvPr id="21" name="">
            <a:extLst xmlns:a="http://schemas.openxmlformats.org/drawingml/2006/main">
              <a:ext uri="{FF2B5EF4-FFF2-40B4-BE49-F238E27FC236}">
                <a16:creationId xmlns:a16="http://schemas.microsoft.com/office/drawing/2014/main" id="{7AB9861A-0B89-428D-A0FB-74A7483A8976}"/>
              </a:ext>
            </a:extLst>
          </p:cNvPr>
          <p:cNvSpPr>
            <a:spLocks xmlns:a="http://schemas.openxmlformats.org/drawingml/2006/main" noGrp="1"/>
          </p:cNvSpPr>
          <p:nvPr/>
        </p:nvSpPr>
        <p:spPr>
          <a:xfrm xmlns:a="http://schemas.openxmlformats.org/drawingml/2006/main">
            <a:off x="781050" y="536257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Code: github.com/Laimon99/stablecoin-yield-visualization</a:t>
            </a:r>
          </a:p>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Matplotlib + Plotly. Code: MIT. Original presentation: CC BY 4.0.</a:t>
            </a:r>
          </a:p>
        </p:txBody>
      </p:sp>
      <p:sp>
        <p:nvSpPr>
          <p:cNvPr id="22" name="">
            <a:extLst xmlns:a="http://schemas.openxmlformats.org/drawingml/2006/main">
              <a:ext uri="{FF2B5EF4-FFF2-40B4-BE49-F238E27FC236}">
                <a16:creationId xmlns:a16="http://schemas.microsoft.com/office/drawing/2014/main" id="{4E93D9E2-E5D6-477B-B019-7358301E1679}"/>
              </a:ext>
            </a:extLst>
          </p:cNvPr>
          <p:cNvSpPr>
            <a:spLocks xmlns:a="http://schemas.openxmlformats.org/drawingml/2006/main" noGrp="1"/>
          </p:cNvSpPr>
          <p:nvPr/>
        </p:nvSpPr>
        <p:spPr>
          <a:xfrm xmlns:a="http://schemas.openxmlformats.org/drawingml/2006/main">
            <a:off x="533400" y="63055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C7D2FE"/>
                </a:solidFill>
                <a:latin typeface="Aptos"/>
                <a:ea typeface="Aptos"/>
                <a:cs typeface="Aptos"/>
              </a:defRPr>
            </a:pPr>
            <a:r>
              <a:rPr sz="1050" b="0">
                <a:solidFill>
                  <a:srgbClr val="C7D2FE"/>
                </a:solidFill>
                <a:latin typeface="Aptos"/>
                <a:ea typeface="Aptos"/>
                <a:cs typeface="Aptos"/>
              </a:rPr>
              <a:t>Educational analysis only. No financial advice.</a:t>
            </a:r>
          </a:p>
        </p:txBody>
      </p:sp>
      <p:sp>
        <p:nvSpPr>
          <p:cNvPr id="23" name="">
            <a:extLst xmlns:a="http://schemas.openxmlformats.org/drawingml/2006/main">
              <a:ext uri="{FF2B5EF4-FFF2-40B4-BE49-F238E27FC236}">
                <a16:creationId xmlns:a16="http://schemas.microsoft.com/office/drawing/2014/main" id="{9E42B0CA-560F-4415-8AB0-1DAB598AB4C7}"/>
              </a:ext>
            </a:extLst>
          </p:cNvPr>
          <p:cNvSpPr>
            <a:spLocks xmlns:a="http://schemas.openxmlformats.org/drawingml/2006/main" noGrp="1"/>
          </p:cNvSpPr>
          <p:nvPr/>
        </p:nvSpPr>
        <p:spPr>
          <a:xfrm xmlns:a="http://schemas.openxmlformats.org/drawingml/2006/main">
            <a:off x="10572750" y="62674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17 / 17</a:t>
            </a:r>
          </a:p>
        </p:txBody>
      </p:sp>
    </p:spTree>
    <p:extLst>
      <p:ext uri="{BB962C8B-B14F-4D97-AF65-F5344CB8AC3E}">
        <p14:creationId xmlns:p14="http://schemas.microsoft.com/office/powerpoint/2010/main" val="5788401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2026-09-23T17:27:04.3330000Z</dcterms:created>
  <dcterms:modified xsi:type="dcterms:W3CDTF">2026-09-23T17:27:04.3330000Z</dcterms:modified>
</coreProperties>
</file>